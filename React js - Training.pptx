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60" r:id="rId5"/>
    <p:sldId id="261" r:id="rId6"/>
    <p:sldId id="265" r:id="rId7"/>
    <p:sldId id="262" r:id="rId8"/>
    <p:sldId id="266" r:id="rId9"/>
    <p:sldId id="267" r:id="rId10"/>
    <p:sldId id="268" r:id="rId11"/>
    <p:sldId id="269" r:id="rId12"/>
    <p:sldId id="270" r:id="rId13"/>
    <p:sldId id="271" r:id="rId14"/>
    <p:sldId id="273" r:id="rId15"/>
    <p:sldId id="274" r:id="rId16"/>
    <p:sldId id="275" r:id="rId17"/>
    <p:sldId id="276" r:id="rId18"/>
    <p:sldId id="277" r:id="rId19"/>
    <p:sldId id="278" r:id="rId20"/>
    <p:sldId id="279" r:id="rId21"/>
    <p:sldId id="285" r:id="rId22"/>
    <p:sldId id="281" r:id="rId23"/>
    <p:sldId id="282" r:id="rId24"/>
    <p:sldId id="283" r:id="rId25"/>
    <p:sldId id="284"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8ABE3C-C70F-A237-1F89-27D16DFB0C71}" v="2353" dt="2023-09-05T17:10:19.779"/>
    <p1510:client id="{4594F49A-95C1-EC8A-8CFF-E2CF66B84D99}" v="23" dt="2023-09-02T14:41:58.198"/>
    <p1510:client id="{DA02A9D1-9C10-4D7A-BA13-A5AD8A009ADD}" v="3545" dt="2023-09-01T17:30:49.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legacy.reactjs.org/docs/hooks-reference.html#usedebugvalue" TargetMode="External"/><Relationship Id="rId13" Type="http://schemas.openxmlformats.org/officeDocument/2006/relationships/hyperlink" Target="https://legacy.reactjs.org/docs/hooks-reference.html#usesyncexternalstore" TargetMode="External"/><Relationship Id="rId3" Type="http://schemas.openxmlformats.org/officeDocument/2006/relationships/hyperlink" Target="https://legacy.reactjs.org/docs/hooks-reference.html#usecallback" TargetMode="External"/><Relationship Id="rId7" Type="http://schemas.openxmlformats.org/officeDocument/2006/relationships/hyperlink" Target="https://legacy.reactjs.org/docs/hooks-reference.html#uselayouteffect" TargetMode="External"/><Relationship Id="rId12" Type="http://schemas.openxmlformats.org/officeDocument/2006/relationships/hyperlink" Target="https://legacy.reactjs.org/docs/hooks-reference.html#library-hooks" TargetMode="External"/><Relationship Id="rId2" Type="http://schemas.openxmlformats.org/officeDocument/2006/relationships/hyperlink" Target="https://legacy.reactjs.org/docs/hooks-reference.html#usereducer" TargetMode="External"/><Relationship Id="rId1" Type="http://schemas.openxmlformats.org/officeDocument/2006/relationships/slideLayout" Target="../slideLayouts/slideLayout7.xml"/><Relationship Id="rId6" Type="http://schemas.openxmlformats.org/officeDocument/2006/relationships/hyperlink" Target="https://legacy.reactjs.org/docs/hooks-reference.html#useimperativehandle" TargetMode="External"/><Relationship Id="rId11" Type="http://schemas.openxmlformats.org/officeDocument/2006/relationships/hyperlink" Target="https://legacy.reactjs.org/docs/hooks-reference.html#useid" TargetMode="External"/><Relationship Id="rId5" Type="http://schemas.openxmlformats.org/officeDocument/2006/relationships/hyperlink" Target="https://legacy.reactjs.org/docs/hooks-reference.html#useref" TargetMode="External"/><Relationship Id="rId10" Type="http://schemas.openxmlformats.org/officeDocument/2006/relationships/hyperlink" Target="https://legacy.reactjs.org/docs/hooks-reference.html#usetransition" TargetMode="External"/><Relationship Id="rId4" Type="http://schemas.openxmlformats.org/officeDocument/2006/relationships/hyperlink" Target="https://legacy.reactjs.org/docs/hooks-reference.html#usememo" TargetMode="External"/><Relationship Id="rId9" Type="http://schemas.openxmlformats.org/officeDocument/2006/relationships/hyperlink" Target="https://legacy.reactjs.org/docs/hooks-reference.html#usedeferredvalue" TargetMode="External"/><Relationship Id="rId14" Type="http://schemas.openxmlformats.org/officeDocument/2006/relationships/hyperlink" Target="https://legacy.reactjs.org/docs/hooks-reference.html#useinsertioneffec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293338"/>
            <a:ext cx="9144000" cy="3274592"/>
          </a:xfrm>
        </p:spPr>
        <p:txBody>
          <a:bodyPr anchor="ctr">
            <a:normAutofit/>
          </a:bodyPr>
          <a:lstStyle/>
          <a:p>
            <a:r>
              <a:rPr lang="en-US" sz="3600" dirty="0">
                <a:latin typeface="Calibri"/>
                <a:ea typeface="+mj-lt"/>
                <a:cs typeface="+mj-lt"/>
              </a:rPr>
              <a:t>Introduction to React</a:t>
            </a:r>
          </a:p>
        </p:txBody>
      </p:sp>
      <p:sp>
        <p:nvSpPr>
          <p:cNvPr id="3" name="Subtitle 2"/>
          <p:cNvSpPr>
            <a:spLocks noGrp="1"/>
          </p:cNvSpPr>
          <p:nvPr>
            <p:ph type="subTitle" idx="1"/>
          </p:nvPr>
        </p:nvSpPr>
        <p:spPr>
          <a:xfrm>
            <a:off x="1524000" y="5514052"/>
            <a:ext cx="9144000" cy="651910"/>
          </a:xfrm>
        </p:spPr>
        <p:txBody>
          <a:bodyPr vert="horz" lIns="91440" tIns="45720" rIns="91440" bIns="45720" rtlCol="0" anchor="ctr">
            <a:normAutofit/>
          </a:bodyPr>
          <a:lstStyle/>
          <a:p>
            <a:r>
              <a:rPr lang="en-US" dirty="0">
                <a:ea typeface="+mn-lt"/>
                <a:cs typeface="+mn-lt"/>
              </a:rPr>
              <a:t>Friday, Jan. XX, XXXX</a:t>
            </a:r>
            <a:endParaRPr lang="en-US" dirty="0"/>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pPr>
              <a:spcBef>
                <a:spcPts val="1000"/>
              </a:spcBef>
            </a:pPr>
            <a:br>
              <a:rPr lang="en-US" sz="3600" dirty="0">
                <a:latin typeface="Calibri"/>
                <a:cs typeface="Arial"/>
              </a:rPr>
            </a:br>
            <a:r>
              <a:rPr lang="en-US" sz="3600" dirty="0">
                <a:latin typeface="Calibri"/>
                <a:cs typeface="Arial"/>
              </a:rPr>
              <a:t>Some More Pts. On React</a:t>
            </a:r>
          </a:p>
          <a:p>
            <a:endParaRPr lang="en-US" sz="3600" dirty="0">
              <a:latin typeface="Calibri"/>
              <a:cs typeface="Arial"/>
            </a:endParaRPr>
          </a:p>
        </p:txBody>
      </p:sp>
      <p:sp>
        <p:nvSpPr>
          <p:cNvPr id="2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5D9D69-A6F3-1242-4A02-A87254BCE93A}"/>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2200">
                <a:latin typeface="Calibri"/>
                <a:cs typeface="Arial"/>
              </a:rPr>
              <a:t>How does React Work?</a:t>
            </a:r>
            <a:endParaRPr lang="en-US" sz="2200">
              <a:latin typeface="Calibri"/>
              <a:cs typeface="Calibri"/>
            </a:endParaRPr>
          </a:p>
          <a:p>
            <a:pPr lvl="1"/>
            <a:r>
              <a:rPr lang="en-US" sz="2200">
                <a:latin typeface="Calibri"/>
                <a:ea typeface="+mn-lt"/>
                <a:cs typeface="Arial"/>
              </a:rPr>
              <a:t>creates a VIRTUAL DOM </a:t>
            </a:r>
          </a:p>
          <a:p>
            <a:pPr lvl="1"/>
            <a:r>
              <a:rPr lang="en-US" sz="2200">
                <a:latin typeface="Calibri"/>
                <a:ea typeface="+mn-lt"/>
                <a:cs typeface="Arial"/>
              </a:rPr>
              <a:t>changes what needs to be changed!</a:t>
            </a:r>
          </a:p>
          <a:p>
            <a:r>
              <a:rPr lang="en-US" sz="2200">
                <a:latin typeface="Calibri"/>
                <a:cs typeface="Arial"/>
              </a:rPr>
              <a:t>React.JS History</a:t>
            </a:r>
          </a:p>
          <a:p>
            <a:pPr lvl="1"/>
            <a:r>
              <a:rPr lang="en-US" sz="2200">
                <a:latin typeface="Calibri"/>
                <a:ea typeface="+mn-lt"/>
                <a:cs typeface="Arial"/>
              </a:rPr>
              <a:t>Current version of React.JS is V18.0.0 (April 2022).</a:t>
            </a:r>
          </a:p>
          <a:p>
            <a:pPr lvl="1"/>
            <a:r>
              <a:rPr lang="en-US" sz="2200">
                <a:latin typeface="Calibri"/>
                <a:ea typeface="+mn-lt"/>
                <a:cs typeface="Arial"/>
              </a:rPr>
              <a:t>Initial Release in July 2013.</a:t>
            </a:r>
          </a:p>
          <a:p>
            <a:pPr lvl="1"/>
            <a:r>
              <a:rPr lang="en-US" sz="2200">
                <a:latin typeface="Calibri"/>
                <a:ea typeface="+mn-lt"/>
                <a:cs typeface="Arial"/>
              </a:rPr>
              <a:t>It was first used in 2011 for Facebook's.</a:t>
            </a:r>
          </a:p>
          <a:p>
            <a:pPr lvl="1"/>
            <a:r>
              <a:rPr lang="en-US" sz="2200">
                <a:latin typeface="Calibri"/>
                <a:ea typeface="+mn-lt"/>
                <a:cs typeface="Arial"/>
              </a:rPr>
              <a:t>Created  by Facebook Software Engineer, Jordan Walke.</a:t>
            </a:r>
          </a:p>
          <a:p>
            <a:pPr lvl="1"/>
            <a:r>
              <a:rPr lang="en-US" sz="2200">
                <a:latin typeface="Calibri"/>
                <a:ea typeface="+mn-lt"/>
                <a:cs typeface="Arial"/>
              </a:rPr>
              <a:t>Create-react-app includes built tools such as webpack, Babel, and ESLint.</a:t>
            </a:r>
          </a:p>
          <a:p>
            <a:pPr marL="457200" lvl="1" indent="0">
              <a:buNone/>
            </a:pPr>
            <a:endParaRPr lang="en-US" sz="2200">
              <a:latin typeface="Calibri"/>
              <a:ea typeface="+mn-lt"/>
              <a:cs typeface="Calibri"/>
            </a:endParaRPr>
          </a:p>
          <a:p>
            <a:pPr marL="0" indent="0">
              <a:buNone/>
            </a:pPr>
            <a:endParaRPr lang="en-US" sz="2200">
              <a:latin typeface="Arial"/>
              <a:ea typeface="+mn-lt"/>
              <a:cs typeface="Arial"/>
            </a:endParaRPr>
          </a:p>
        </p:txBody>
      </p:sp>
    </p:spTree>
    <p:extLst>
      <p:ext uri="{BB962C8B-B14F-4D97-AF65-F5344CB8AC3E}">
        <p14:creationId xmlns:p14="http://schemas.microsoft.com/office/powerpoint/2010/main" val="364157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6BC2D1-D48B-3F6B-F570-0B54C192EC99}"/>
              </a:ext>
            </a:extLst>
          </p:cNvPr>
          <p:cNvSpPr>
            <a:spLocks noGrp="1"/>
          </p:cNvSpPr>
          <p:nvPr>
            <p:ph type="title"/>
          </p:nvPr>
        </p:nvSpPr>
        <p:spPr>
          <a:xfrm>
            <a:off x="838200" y="1412488"/>
            <a:ext cx="2899189" cy="4363844"/>
          </a:xfrm>
        </p:spPr>
        <p:txBody>
          <a:bodyPr anchor="t">
            <a:normAutofit/>
          </a:bodyPr>
          <a:lstStyle/>
          <a:p>
            <a:r>
              <a:rPr lang="en-US" sz="3600" dirty="0">
                <a:solidFill>
                  <a:srgbClr val="FFFFFF"/>
                </a:solidFill>
                <a:latin typeface="Calibri"/>
                <a:cs typeface="Calibri Light"/>
              </a:rPr>
              <a:t>Content</a:t>
            </a:r>
            <a:endParaRPr lang="en-US" sz="3600">
              <a:solidFill>
                <a:srgbClr val="FFFFFF"/>
              </a:solidFill>
              <a:latin typeface="Calibri"/>
              <a:cs typeface="Calibri"/>
            </a:endParaRPr>
          </a:p>
        </p:txBody>
      </p:sp>
      <p:sp>
        <p:nvSpPr>
          <p:cNvPr id="3" name="Content Placeholder 2">
            <a:extLst>
              <a:ext uri="{FF2B5EF4-FFF2-40B4-BE49-F238E27FC236}">
                <a16:creationId xmlns:a16="http://schemas.microsoft.com/office/drawing/2014/main" id="{42DA05F4-94EC-E43E-AE3E-34A07E965AB8}"/>
              </a:ext>
            </a:extLst>
          </p:cNvPr>
          <p:cNvSpPr>
            <a:spLocks noGrp="1"/>
          </p:cNvSpPr>
          <p:nvPr>
            <p:ph sz="half" idx="1"/>
          </p:nvPr>
        </p:nvSpPr>
        <p:spPr>
          <a:xfrm>
            <a:off x="4380855" y="1412489"/>
            <a:ext cx="3427283" cy="4363844"/>
          </a:xfrm>
        </p:spPr>
        <p:txBody>
          <a:bodyPr vert="horz" lIns="91440" tIns="45720" rIns="91440" bIns="45720" rtlCol="0" anchor="t">
            <a:normAutofit/>
          </a:bodyPr>
          <a:lstStyle/>
          <a:p>
            <a:r>
              <a:rPr lang="en-US" sz="1600" dirty="0">
                <a:cs typeface="Calibri"/>
              </a:rPr>
              <a:t>React Introduction</a:t>
            </a:r>
          </a:p>
          <a:p>
            <a:r>
              <a:rPr lang="en-US" sz="1600" dirty="0">
                <a:cs typeface="Calibri"/>
              </a:rPr>
              <a:t>Compare with Angular</a:t>
            </a:r>
          </a:p>
          <a:p>
            <a:r>
              <a:rPr lang="en-US" sz="1600" dirty="0">
                <a:cs typeface="Calibri"/>
              </a:rPr>
              <a:t>React Getting Started</a:t>
            </a:r>
          </a:p>
          <a:p>
            <a:r>
              <a:rPr lang="en-US" sz="1600" dirty="0"/>
              <a:t>Upgrade to React 18.</a:t>
            </a:r>
            <a:endParaRPr lang="en-US" sz="1600" dirty="0">
              <a:cs typeface="Calibri"/>
            </a:endParaRPr>
          </a:p>
          <a:p>
            <a:r>
              <a:rPr lang="en-US" sz="1600" dirty="0"/>
              <a:t>React ES6</a:t>
            </a:r>
            <a:endParaRPr lang="en-US" sz="1600" dirty="0">
              <a:cs typeface="Calibri"/>
            </a:endParaRPr>
          </a:p>
          <a:p>
            <a:r>
              <a:rPr lang="en-US" sz="1600" dirty="0"/>
              <a:t>React Render HTML</a:t>
            </a:r>
            <a:endParaRPr lang="en-US" sz="1600" dirty="0">
              <a:cs typeface="Calibri"/>
            </a:endParaRPr>
          </a:p>
          <a:p>
            <a:r>
              <a:rPr lang="en-US" sz="1600" dirty="0"/>
              <a:t>React JSX</a:t>
            </a:r>
            <a:endParaRPr lang="en-US" sz="1600" dirty="0">
              <a:cs typeface="Calibri"/>
            </a:endParaRPr>
          </a:p>
          <a:p>
            <a:r>
              <a:rPr lang="en-US" sz="1600" dirty="0"/>
              <a:t>React Components</a:t>
            </a:r>
            <a:endParaRPr lang="en-US" sz="1600" dirty="0">
              <a:cs typeface="Calibri"/>
            </a:endParaRPr>
          </a:p>
          <a:p>
            <a:r>
              <a:rPr lang="en-US" sz="1600" dirty="0">
                <a:ea typeface="+mn-lt"/>
                <a:cs typeface="+mn-lt"/>
              </a:rPr>
              <a:t>React Function Components</a:t>
            </a:r>
            <a:endParaRPr lang="en-US" sz="1600" dirty="0">
              <a:cs typeface="Calibri"/>
            </a:endParaRPr>
          </a:p>
          <a:p>
            <a:r>
              <a:rPr lang="en-US" sz="1600" dirty="0">
                <a:ea typeface="+mn-lt"/>
                <a:cs typeface="+mn-lt"/>
              </a:rPr>
              <a:t>React Props</a:t>
            </a:r>
            <a:endParaRPr lang="en-US" sz="1600" dirty="0">
              <a:cs typeface="Calibri"/>
            </a:endParaRPr>
          </a:p>
          <a:p>
            <a:endParaRPr lang="en-US" sz="2000">
              <a:cs typeface="Calibri"/>
            </a:endParaRPr>
          </a:p>
          <a:p>
            <a:endParaRPr lang="en-US" sz="2000">
              <a:cs typeface="Calibri"/>
            </a:endParaRPr>
          </a:p>
          <a:p>
            <a:endParaRPr lang="en-US" sz="2000">
              <a:cs typeface="Calibri"/>
            </a:endParaRP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FAE6DFE-C5FD-DB22-A88F-BEA869C023B5}"/>
              </a:ext>
            </a:extLst>
          </p:cNvPr>
          <p:cNvSpPr>
            <a:spLocks noGrp="1"/>
          </p:cNvSpPr>
          <p:nvPr>
            <p:ph sz="half" idx="2"/>
          </p:nvPr>
        </p:nvSpPr>
        <p:spPr>
          <a:xfrm>
            <a:off x="8451604" y="1412489"/>
            <a:ext cx="3197701" cy="4363844"/>
          </a:xfrm>
        </p:spPr>
        <p:txBody>
          <a:bodyPr vert="horz" lIns="91440" tIns="45720" rIns="91440" bIns="45720" rtlCol="0" anchor="t">
            <a:normAutofit/>
          </a:bodyPr>
          <a:lstStyle/>
          <a:p>
            <a:r>
              <a:rPr lang="en-US" sz="1600" dirty="0"/>
              <a:t>React Events</a:t>
            </a:r>
            <a:endParaRPr lang="en-US" sz="1600" dirty="0">
              <a:cs typeface="Calibri"/>
            </a:endParaRPr>
          </a:p>
          <a:p>
            <a:r>
              <a:rPr lang="en-US" sz="1600" dirty="0"/>
              <a:t>React Condition</a:t>
            </a:r>
            <a:endParaRPr lang="en-US" sz="1600">
              <a:cs typeface="Calibri" panose="020F0502020204030204"/>
            </a:endParaRPr>
          </a:p>
          <a:p>
            <a:r>
              <a:rPr lang="en-US" sz="1600" dirty="0"/>
              <a:t>React Lists</a:t>
            </a:r>
            <a:endParaRPr lang="en-US" sz="1600" dirty="0">
              <a:cs typeface="Calibri"/>
            </a:endParaRPr>
          </a:p>
          <a:p>
            <a:r>
              <a:rPr lang="en-US" sz="1600" dirty="0"/>
              <a:t>React Forms</a:t>
            </a:r>
            <a:endParaRPr lang="en-US" sz="1600" dirty="0">
              <a:cs typeface="Calibri"/>
            </a:endParaRPr>
          </a:p>
          <a:p>
            <a:r>
              <a:rPr lang="en-US" sz="1600" dirty="0"/>
              <a:t>React Router</a:t>
            </a:r>
            <a:endParaRPr lang="en-US" sz="1600" dirty="0">
              <a:cs typeface="Calibri"/>
            </a:endParaRPr>
          </a:p>
          <a:p>
            <a:r>
              <a:rPr lang="en-US" sz="1600" dirty="0"/>
              <a:t>React Memo</a:t>
            </a:r>
            <a:endParaRPr lang="en-US" sz="1600" dirty="0">
              <a:cs typeface="Calibri"/>
            </a:endParaRPr>
          </a:p>
          <a:p>
            <a:r>
              <a:rPr lang="en-US" sz="1600" dirty="0">
                <a:cs typeface="Calibri"/>
              </a:rPr>
              <a:t>React </a:t>
            </a:r>
            <a:r>
              <a:rPr lang="en-US" sz="1600" err="1">
                <a:cs typeface="Calibri"/>
              </a:rPr>
              <a:t>css</a:t>
            </a:r>
            <a:r>
              <a:rPr lang="en-US" sz="1600" dirty="0">
                <a:cs typeface="Calibri"/>
              </a:rPr>
              <a:t> Styling</a:t>
            </a:r>
          </a:p>
          <a:p>
            <a:r>
              <a:rPr lang="en-US" sz="1600" dirty="0">
                <a:cs typeface="Calibri"/>
              </a:rPr>
              <a:t>React Sass Styling</a:t>
            </a:r>
          </a:p>
          <a:p>
            <a:r>
              <a:rPr lang="en-US" sz="1600" dirty="0">
                <a:cs typeface="Calibri"/>
              </a:rPr>
              <a:t>React Hooks</a:t>
            </a:r>
          </a:p>
          <a:p>
            <a:endParaRPr lang="en-US" sz="2100" dirty="0">
              <a:cs typeface="Calibri"/>
            </a:endParaRPr>
          </a:p>
          <a:p>
            <a:endParaRPr lang="en-US" dirty="0">
              <a:cs typeface="Calibri" panose="020F0502020204030204"/>
            </a:endParaRPr>
          </a:p>
        </p:txBody>
      </p:sp>
    </p:spTree>
    <p:extLst>
      <p:ext uri="{BB962C8B-B14F-4D97-AF65-F5344CB8AC3E}">
        <p14:creationId xmlns:p14="http://schemas.microsoft.com/office/powerpoint/2010/main" val="1051439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1043631" y="809898"/>
            <a:ext cx="9942716" cy="1554480"/>
          </a:xfrm>
        </p:spPr>
        <p:txBody>
          <a:bodyPr anchor="ctr">
            <a:normAutofit/>
          </a:bodyPr>
          <a:lstStyle/>
          <a:p>
            <a:pPr>
              <a:spcBef>
                <a:spcPts val="1000"/>
              </a:spcBef>
            </a:pPr>
            <a:br>
              <a:rPr lang="en-US" sz="3600" dirty="0">
                <a:latin typeface="Calibri"/>
                <a:cs typeface="Arial"/>
              </a:rPr>
            </a:br>
            <a:r>
              <a:rPr lang="en-US" sz="3600" dirty="0">
                <a:latin typeface="Calibri"/>
                <a:cs typeface="Arial"/>
              </a:rPr>
              <a:t>React Getting Started</a:t>
            </a:r>
            <a:endParaRPr lang="en-US" sz="3600" dirty="0">
              <a:latin typeface="Calibri"/>
              <a:cs typeface="Calibri"/>
            </a:endParaRPr>
          </a:p>
          <a:p>
            <a:endParaRPr lang="en-US" sz="3600" dirty="0">
              <a:latin typeface="Calibri"/>
              <a:cs typeface="Arial"/>
            </a:endParaRPr>
          </a:p>
        </p:txBody>
      </p:sp>
      <p:sp>
        <p:nvSpPr>
          <p:cNvPr id="3" name="Content Placeholder 2">
            <a:extLst>
              <a:ext uri="{FF2B5EF4-FFF2-40B4-BE49-F238E27FC236}">
                <a16:creationId xmlns:a16="http://schemas.microsoft.com/office/drawing/2014/main" id="{465D9D69-A6F3-1242-4A02-A87254BCE93A}"/>
              </a:ext>
            </a:extLst>
          </p:cNvPr>
          <p:cNvSpPr>
            <a:spLocks noGrp="1"/>
          </p:cNvSpPr>
          <p:nvPr>
            <p:ph idx="1"/>
          </p:nvPr>
        </p:nvSpPr>
        <p:spPr>
          <a:xfrm>
            <a:off x="1045028" y="3017522"/>
            <a:ext cx="9941319" cy="3124658"/>
          </a:xfrm>
        </p:spPr>
        <p:txBody>
          <a:bodyPr vert="horz" lIns="91440" tIns="45720" rIns="91440" bIns="45720" rtlCol="0" anchor="ctr">
            <a:normAutofit/>
          </a:bodyPr>
          <a:lstStyle/>
          <a:p>
            <a:r>
              <a:rPr lang="en-US" sz="1600" dirty="0">
                <a:latin typeface="Calibri"/>
                <a:cs typeface="Arial"/>
              </a:rPr>
              <a:t>Setting up an Environment and Creating React App.</a:t>
            </a:r>
            <a:endParaRPr lang="en-US" sz="1600">
              <a:latin typeface="Calibri"/>
              <a:ea typeface="+mn-lt"/>
              <a:cs typeface="Arial"/>
            </a:endParaRPr>
          </a:p>
          <a:p>
            <a:pPr lvl="1"/>
            <a:r>
              <a:rPr lang="en-US" sz="1600" dirty="0">
                <a:latin typeface="Calibri"/>
                <a:ea typeface="+mn-lt"/>
                <a:cs typeface="+mn-lt"/>
              </a:rPr>
              <a:t>Install Node.js (https://nodejs.org/en/download)</a:t>
            </a:r>
            <a:endParaRPr lang="en-US" sz="1600">
              <a:latin typeface="Calibri"/>
              <a:ea typeface="+mn-lt"/>
              <a:cs typeface="Arial"/>
            </a:endParaRPr>
          </a:p>
          <a:p>
            <a:pPr lvl="1"/>
            <a:r>
              <a:rPr lang="en-US" sz="1600" err="1">
                <a:latin typeface="Calibri"/>
                <a:ea typeface="+mn-lt"/>
                <a:cs typeface="+mn-lt"/>
              </a:rPr>
              <a:t>npx</a:t>
            </a:r>
            <a:r>
              <a:rPr lang="en-US" sz="1600" dirty="0">
                <a:latin typeface="Calibri"/>
                <a:ea typeface="+mn-lt"/>
                <a:cs typeface="+mn-lt"/>
              </a:rPr>
              <a:t> create-react-app training-app</a:t>
            </a:r>
            <a:endParaRPr lang="en-US" sz="1600">
              <a:latin typeface="Calibri"/>
              <a:ea typeface="+mn-lt"/>
              <a:cs typeface="Arial"/>
            </a:endParaRPr>
          </a:p>
          <a:p>
            <a:pPr lvl="1"/>
            <a:r>
              <a:rPr lang="en-US" sz="1600" dirty="0">
                <a:latin typeface="Calibri"/>
                <a:ea typeface="+mn-lt"/>
                <a:cs typeface="+mn-lt"/>
              </a:rPr>
              <a:t>cd training-app</a:t>
            </a:r>
          </a:p>
          <a:p>
            <a:pPr lvl="1"/>
            <a:r>
              <a:rPr lang="en-US" sz="1600" err="1">
                <a:solidFill>
                  <a:srgbClr val="000000"/>
                </a:solidFill>
                <a:latin typeface="Calibri"/>
                <a:ea typeface="+mn-lt"/>
                <a:cs typeface="+mn-lt"/>
              </a:rPr>
              <a:t>npm</a:t>
            </a:r>
            <a:r>
              <a:rPr lang="en-US" sz="1600" dirty="0">
                <a:solidFill>
                  <a:srgbClr val="000000"/>
                </a:solidFill>
                <a:latin typeface="Calibri"/>
                <a:ea typeface="+mn-lt"/>
                <a:cs typeface="+mn-lt"/>
              </a:rPr>
              <a:t> start</a:t>
            </a:r>
          </a:p>
          <a:p>
            <a:pPr lvl="1"/>
            <a:endParaRPr lang="en-US" sz="1300" dirty="0">
              <a:solidFill>
                <a:srgbClr val="000000"/>
              </a:solidFill>
              <a:latin typeface="Arial"/>
              <a:ea typeface="+mn-lt"/>
              <a:cs typeface="+mn-lt"/>
            </a:endParaRPr>
          </a:p>
          <a:p>
            <a:pPr lvl="1"/>
            <a:endParaRPr lang="en-US" sz="1300" dirty="0">
              <a:solidFill>
                <a:srgbClr val="000000"/>
              </a:solidFill>
              <a:latin typeface="Arial"/>
              <a:ea typeface="+mn-lt"/>
              <a:cs typeface="+mn-lt"/>
            </a:endParaRPr>
          </a:p>
          <a:p>
            <a:pPr lvl="1"/>
            <a:r>
              <a:rPr lang="en-US" sz="1100" dirty="0">
                <a:solidFill>
                  <a:srgbClr val="FFFFFF"/>
                </a:solidFill>
                <a:latin typeface="Calibri"/>
                <a:ea typeface="+mn-lt"/>
                <a:cs typeface="+mn-lt"/>
              </a:rPr>
              <a:t>cd</a:t>
            </a:r>
            <a:r>
              <a:rPr lang="en-US" sz="1100" dirty="0">
                <a:solidFill>
                  <a:srgbClr val="FFFFFF"/>
                </a:solidFill>
                <a:ea typeface="+mn-lt"/>
                <a:cs typeface="+mn-lt"/>
              </a:rPr>
              <a:t> my-react-app</a:t>
            </a:r>
          </a:p>
          <a:p>
            <a:pPr marL="457200" lvl="1" indent="0">
              <a:buNone/>
            </a:pPr>
            <a:endParaRPr lang="en-US" sz="1300">
              <a:latin typeface="Calibri"/>
              <a:ea typeface="+mn-lt"/>
              <a:cs typeface="Calibri"/>
            </a:endParaRPr>
          </a:p>
          <a:p>
            <a:pPr marL="0" indent="0">
              <a:buNone/>
            </a:pPr>
            <a:endParaRPr lang="en-US" sz="1300">
              <a:latin typeface="Arial"/>
              <a:ea typeface="+mn-lt"/>
              <a:cs typeface="Arial"/>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descr="A screen shot of a computer&#10;&#10;Description automatically generated">
            <a:extLst>
              <a:ext uri="{FF2B5EF4-FFF2-40B4-BE49-F238E27FC236}">
                <a16:creationId xmlns:a16="http://schemas.microsoft.com/office/drawing/2014/main" id="{829008C2-D559-4644-8A83-8F0BAB7C0EFF}"/>
              </a:ext>
            </a:extLst>
          </p:cNvPr>
          <p:cNvPicPr>
            <a:picLocks noChangeAspect="1"/>
          </p:cNvPicPr>
          <p:nvPr/>
        </p:nvPicPr>
        <p:blipFill>
          <a:blip r:embed="rId2"/>
          <a:stretch>
            <a:fillRect/>
          </a:stretch>
        </p:blipFill>
        <p:spPr>
          <a:xfrm>
            <a:off x="7238012" y="2721240"/>
            <a:ext cx="3821874" cy="3424429"/>
          </a:xfrm>
          <a:prstGeom prst="rect">
            <a:avLst/>
          </a:prstGeom>
        </p:spPr>
      </p:pic>
    </p:spTree>
    <p:extLst>
      <p:ext uri="{BB962C8B-B14F-4D97-AF65-F5344CB8AC3E}">
        <p14:creationId xmlns:p14="http://schemas.microsoft.com/office/powerpoint/2010/main" val="1141337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pPr>
              <a:spcBef>
                <a:spcPts val="1000"/>
              </a:spcBef>
            </a:pPr>
            <a:r>
              <a:rPr lang="en-US" sz="3600" dirty="0">
                <a:latin typeface="Calibri"/>
                <a:ea typeface="+mj-lt"/>
                <a:cs typeface="+mj-lt"/>
              </a:rPr>
              <a:t>Upgrade to React 18</a:t>
            </a:r>
            <a:endParaRPr lang="en-US" sz="3600">
              <a:latin typeface="Calibri"/>
              <a:cs typeface="Arial"/>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5D9D69-A6F3-1242-4A02-A87254BCE93A}"/>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1900">
                <a:latin typeface="Calibri"/>
                <a:cs typeface="Arial"/>
              </a:rPr>
              <a:t>Two steps to upgrade to React 18</a:t>
            </a:r>
          </a:p>
          <a:p>
            <a:pPr lvl="1"/>
            <a:r>
              <a:rPr lang="en-US" sz="1900">
                <a:latin typeface="Calibri"/>
                <a:ea typeface="+mn-lt"/>
                <a:cs typeface="+mn-lt"/>
              </a:rPr>
              <a:t>Step 1: Install React 18</a:t>
            </a:r>
          </a:p>
          <a:p>
            <a:pPr marL="914400" lvl="2" indent="0">
              <a:buNone/>
            </a:pPr>
            <a:r>
              <a:rPr lang="en-US" sz="1900" b="1" dirty="0" err="1">
                <a:latin typeface="Calibri"/>
                <a:ea typeface="+mn-lt"/>
                <a:cs typeface="+mn-lt"/>
              </a:rPr>
              <a:t>npm</a:t>
            </a:r>
            <a:r>
              <a:rPr lang="en-US" sz="1900" b="1" dirty="0">
                <a:latin typeface="Calibri"/>
                <a:ea typeface="+mn-lt"/>
                <a:cs typeface="+mn-lt"/>
              </a:rPr>
              <a:t> </a:t>
            </a:r>
            <a:r>
              <a:rPr lang="en-US" sz="1900" b="1" dirty="0" err="1">
                <a:latin typeface="Calibri"/>
                <a:ea typeface="+mn-lt"/>
                <a:cs typeface="+mn-lt"/>
              </a:rPr>
              <a:t>i</a:t>
            </a:r>
            <a:r>
              <a:rPr lang="en-US" sz="1900" b="1" dirty="0">
                <a:latin typeface="Calibri"/>
                <a:ea typeface="+mn-lt"/>
                <a:cs typeface="+mn-lt"/>
              </a:rPr>
              <a:t> </a:t>
            </a:r>
            <a:r>
              <a:rPr lang="en-US" sz="1900" b="1" dirty="0" err="1">
                <a:latin typeface="Calibri"/>
                <a:ea typeface="+mn-lt"/>
                <a:cs typeface="+mn-lt"/>
              </a:rPr>
              <a:t>react@latest</a:t>
            </a:r>
            <a:r>
              <a:rPr lang="en-US" sz="1900" b="1" dirty="0">
                <a:latin typeface="Calibri"/>
                <a:ea typeface="+mn-lt"/>
                <a:cs typeface="+mn-lt"/>
              </a:rPr>
              <a:t> </a:t>
            </a:r>
            <a:r>
              <a:rPr lang="en-US" sz="1900" b="1" dirty="0" err="1">
                <a:latin typeface="Calibri"/>
                <a:ea typeface="+mn-lt"/>
                <a:cs typeface="+mn-lt"/>
              </a:rPr>
              <a:t>react-dom@latest</a:t>
            </a:r>
          </a:p>
          <a:p>
            <a:pPr marL="914400" lvl="2" indent="0">
              <a:buNone/>
            </a:pPr>
            <a:endParaRPr lang="en-US" sz="1900" b="1">
              <a:latin typeface="Calibri"/>
              <a:ea typeface="+mn-lt"/>
              <a:cs typeface="+mn-lt"/>
            </a:endParaRPr>
          </a:p>
          <a:p>
            <a:pPr lvl="1"/>
            <a:r>
              <a:rPr lang="en-US" sz="1900">
                <a:latin typeface="Calibri"/>
                <a:ea typeface="+mn-lt"/>
                <a:cs typeface="+mn-lt"/>
              </a:rPr>
              <a:t>Step 2: Use the new root API</a:t>
            </a:r>
          </a:p>
          <a:p>
            <a:pPr marL="914400" lvl="2" indent="0">
              <a:buNone/>
            </a:pPr>
            <a:r>
              <a:rPr lang="en-US" sz="1900" b="1" dirty="0">
                <a:latin typeface="Calibri"/>
                <a:ea typeface="+mn-lt"/>
                <a:cs typeface="+mn-lt"/>
              </a:rPr>
              <a:t>// Earlier
</a:t>
            </a:r>
            <a:r>
              <a:rPr lang="en-US" sz="1900" dirty="0">
                <a:latin typeface="Calibri"/>
                <a:ea typeface="+mn-lt"/>
                <a:cs typeface="+mn-lt"/>
              </a:rPr>
              <a:t>import </a:t>
            </a:r>
            <a:r>
              <a:rPr lang="en-US" sz="1900" dirty="0" err="1">
                <a:latin typeface="Calibri"/>
                <a:ea typeface="+mn-lt"/>
                <a:cs typeface="+mn-lt"/>
              </a:rPr>
              <a:t>ReactDOM</a:t>
            </a:r>
            <a:r>
              <a:rPr lang="en-US" sz="1900" dirty="0">
                <a:latin typeface="Calibri"/>
                <a:ea typeface="+mn-lt"/>
                <a:cs typeface="+mn-lt"/>
              </a:rPr>
              <a:t> from 'react-</a:t>
            </a:r>
            <a:r>
              <a:rPr lang="en-US" sz="1900" dirty="0" err="1">
                <a:latin typeface="Calibri"/>
                <a:ea typeface="+mn-lt"/>
                <a:cs typeface="+mn-lt"/>
              </a:rPr>
              <a:t>dom</a:t>
            </a:r>
            <a:r>
              <a:rPr lang="en-US" sz="1900" dirty="0">
                <a:latin typeface="Calibri"/>
                <a:ea typeface="+mn-lt"/>
                <a:cs typeface="+mn-lt"/>
              </a:rPr>
              <a:t>';
</a:t>
            </a:r>
            <a:r>
              <a:rPr lang="en-US" sz="1900" dirty="0" err="1">
                <a:latin typeface="Calibri"/>
                <a:ea typeface="+mn-lt"/>
                <a:cs typeface="+mn-lt"/>
              </a:rPr>
              <a:t>ReactDOM.render</a:t>
            </a:r>
            <a:r>
              <a:rPr lang="en-US" sz="1900" dirty="0">
                <a:latin typeface="Calibri"/>
                <a:ea typeface="+mn-lt"/>
                <a:cs typeface="+mn-lt"/>
              </a:rPr>
              <a:t>(&lt;App /&gt;, </a:t>
            </a:r>
            <a:r>
              <a:rPr lang="en-US" sz="1900" dirty="0" err="1">
                <a:latin typeface="Calibri"/>
                <a:ea typeface="+mn-lt"/>
                <a:cs typeface="+mn-lt"/>
              </a:rPr>
              <a:t>document.getElementById</a:t>
            </a:r>
            <a:r>
              <a:rPr lang="en-US" sz="1900" dirty="0">
                <a:latin typeface="Calibri"/>
                <a:ea typeface="+mn-lt"/>
                <a:cs typeface="+mn-lt"/>
              </a:rPr>
              <a:t>('root'));
</a:t>
            </a:r>
            <a:r>
              <a:rPr lang="en-US" sz="1900" b="1" dirty="0">
                <a:latin typeface="Calibri"/>
                <a:ea typeface="+mn-lt"/>
                <a:cs typeface="+mn-lt"/>
              </a:rPr>
              <a:t>// Updated version
</a:t>
            </a:r>
            <a:r>
              <a:rPr lang="en-US" sz="1900" dirty="0">
                <a:latin typeface="Calibri"/>
                <a:ea typeface="+mn-lt"/>
                <a:cs typeface="+mn-lt"/>
              </a:rPr>
              <a:t>import </a:t>
            </a:r>
            <a:r>
              <a:rPr lang="en-US" sz="1900" dirty="0" err="1">
                <a:latin typeface="Calibri"/>
                <a:ea typeface="+mn-lt"/>
                <a:cs typeface="+mn-lt"/>
              </a:rPr>
              <a:t>ReactDOM</a:t>
            </a:r>
            <a:r>
              <a:rPr lang="en-US" sz="1900" dirty="0">
                <a:latin typeface="Calibri"/>
                <a:ea typeface="+mn-lt"/>
                <a:cs typeface="+mn-lt"/>
              </a:rPr>
              <a:t> from 'react-</a:t>
            </a:r>
            <a:r>
              <a:rPr lang="en-US" sz="1900" dirty="0" err="1">
                <a:latin typeface="Calibri"/>
                <a:ea typeface="+mn-lt"/>
                <a:cs typeface="+mn-lt"/>
              </a:rPr>
              <a:t>dom</a:t>
            </a:r>
            <a:r>
              <a:rPr lang="en-US" sz="1900" dirty="0">
                <a:latin typeface="Calibri"/>
                <a:ea typeface="+mn-lt"/>
                <a:cs typeface="+mn-lt"/>
              </a:rPr>
              <a:t>/client';
const root = </a:t>
            </a:r>
            <a:r>
              <a:rPr lang="en-US" sz="1900" dirty="0" err="1">
                <a:latin typeface="Calibri"/>
                <a:ea typeface="+mn-lt"/>
                <a:cs typeface="+mn-lt"/>
              </a:rPr>
              <a:t>ReactDOM.createRoot</a:t>
            </a:r>
            <a:r>
              <a:rPr lang="en-US" sz="1900" dirty="0">
                <a:latin typeface="Calibri"/>
                <a:ea typeface="+mn-lt"/>
                <a:cs typeface="+mn-lt"/>
              </a:rPr>
              <a:t>(</a:t>
            </a:r>
            <a:r>
              <a:rPr lang="en-US" sz="1900" dirty="0" err="1">
                <a:latin typeface="Calibri"/>
                <a:ea typeface="+mn-lt"/>
                <a:cs typeface="+mn-lt"/>
              </a:rPr>
              <a:t>document.getElementById</a:t>
            </a:r>
            <a:r>
              <a:rPr lang="en-US" sz="1900" dirty="0">
                <a:latin typeface="Calibri"/>
                <a:ea typeface="+mn-lt"/>
                <a:cs typeface="+mn-lt"/>
              </a:rPr>
              <a:t>('root'));
</a:t>
            </a:r>
            <a:r>
              <a:rPr lang="en-US" sz="1900" dirty="0" err="1">
                <a:latin typeface="Calibri"/>
                <a:ea typeface="+mn-lt"/>
                <a:cs typeface="+mn-lt"/>
              </a:rPr>
              <a:t>root.render</a:t>
            </a:r>
            <a:r>
              <a:rPr lang="en-US" sz="1900" dirty="0">
                <a:latin typeface="Calibri"/>
                <a:ea typeface="+mn-lt"/>
                <a:cs typeface="+mn-lt"/>
              </a:rPr>
              <a:t>(&lt;App /&gt;);</a:t>
            </a:r>
            <a:endParaRPr lang="en-US" sz="1900" dirty="0">
              <a:latin typeface="Calibri"/>
              <a:cs typeface="Calibri"/>
            </a:endParaRPr>
          </a:p>
          <a:p>
            <a:pPr lvl="1"/>
            <a:endParaRPr lang="en-US" sz="1900">
              <a:latin typeface="Arial"/>
              <a:ea typeface="+mn-lt"/>
              <a:cs typeface="Arial"/>
            </a:endParaRPr>
          </a:p>
        </p:txBody>
      </p:sp>
    </p:spTree>
    <p:extLst>
      <p:ext uri="{BB962C8B-B14F-4D97-AF65-F5344CB8AC3E}">
        <p14:creationId xmlns:p14="http://schemas.microsoft.com/office/powerpoint/2010/main" val="734409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pPr>
              <a:spcBef>
                <a:spcPts val="1000"/>
              </a:spcBef>
            </a:pPr>
            <a:r>
              <a:rPr lang="en-US" sz="3600" dirty="0">
                <a:latin typeface="Calibri"/>
                <a:ea typeface="+mj-lt"/>
                <a:cs typeface="Calibri"/>
              </a:rPr>
              <a:t>React Render HTML</a:t>
            </a:r>
            <a:endParaRPr lang="en-US" sz="3600">
              <a:latin typeface="Calibri"/>
              <a:cs typeface="Calibri"/>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5D9D69-A6F3-1242-4A02-A87254BCE93A}"/>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1600" dirty="0" err="1">
                <a:latin typeface="Calibri"/>
                <a:ea typeface="+mn-lt"/>
                <a:cs typeface="+mn-lt"/>
              </a:rPr>
              <a:t>React's</a:t>
            </a:r>
            <a:r>
              <a:rPr lang="en-US" sz="1600" dirty="0">
                <a:latin typeface="Calibri"/>
                <a:ea typeface="+mn-lt"/>
                <a:cs typeface="+mn-lt"/>
              </a:rPr>
              <a:t> goal is in many ways to render HTML in a web page.</a:t>
            </a:r>
            <a:endParaRPr lang="en-US" sz="1600">
              <a:latin typeface="Calibri"/>
              <a:cs typeface="Arial"/>
            </a:endParaRPr>
          </a:p>
          <a:p>
            <a:pPr lvl="1"/>
            <a:r>
              <a:rPr lang="en-US" sz="1600" b="1" dirty="0">
                <a:latin typeface="Calibri"/>
                <a:ea typeface="+mn-lt"/>
                <a:cs typeface="+mn-lt"/>
              </a:rPr>
              <a:t>Function </a:t>
            </a:r>
            <a:r>
              <a:rPr lang="en-US" sz="1600" b="1" err="1">
                <a:solidFill>
                  <a:srgbClr val="C00000"/>
                </a:solidFill>
                <a:latin typeface="Calibri"/>
                <a:ea typeface="+mn-lt"/>
                <a:cs typeface="+mn-lt"/>
              </a:rPr>
              <a:t>createRoot</a:t>
            </a:r>
            <a:r>
              <a:rPr lang="en-US" sz="1600" b="1" dirty="0">
                <a:solidFill>
                  <a:srgbClr val="C00000"/>
                </a:solidFill>
                <a:latin typeface="Calibri"/>
                <a:ea typeface="+mn-lt"/>
                <a:cs typeface="+mn-lt"/>
              </a:rPr>
              <a:t>()</a:t>
            </a:r>
            <a:r>
              <a:rPr lang="en-US" sz="1600" dirty="0">
                <a:latin typeface="Calibri"/>
                <a:ea typeface="+mn-lt"/>
                <a:cs typeface="+mn-lt"/>
              </a:rPr>
              <a:t> </a:t>
            </a:r>
          </a:p>
          <a:p>
            <a:pPr lvl="1"/>
            <a:r>
              <a:rPr lang="en-US" sz="1600" b="1" dirty="0">
                <a:latin typeface="Calibri"/>
                <a:ea typeface="+mn-lt"/>
                <a:cs typeface="+mn-lt"/>
              </a:rPr>
              <a:t>Method </a:t>
            </a:r>
            <a:r>
              <a:rPr lang="en-US" sz="1600" b="1" dirty="0">
                <a:solidFill>
                  <a:srgbClr val="C00000"/>
                </a:solidFill>
                <a:latin typeface="Calibri"/>
                <a:ea typeface="+mn-lt"/>
                <a:cs typeface="+mn-lt"/>
              </a:rPr>
              <a:t>render() </a:t>
            </a:r>
            <a:endParaRPr lang="en-US" sz="1600">
              <a:solidFill>
                <a:srgbClr val="C00000"/>
              </a:solidFill>
              <a:latin typeface="Calibri"/>
              <a:ea typeface="+mn-lt"/>
              <a:cs typeface="+mn-lt"/>
            </a:endParaRPr>
          </a:p>
          <a:p>
            <a:pPr marL="914400" lvl="2" indent="0">
              <a:buNone/>
            </a:pPr>
            <a:r>
              <a:rPr lang="en-US" sz="1600" b="1" dirty="0">
                <a:latin typeface="Calibri"/>
                <a:ea typeface="+mn-lt"/>
                <a:cs typeface="+mn-lt"/>
              </a:rPr>
              <a:t>Example</a:t>
            </a:r>
            <a:r>
              <a:rPr lang="en-US" sz="1600" dirty="0">
                <a:latin typeface="Calibri"/>
                <a:ea typeface="+mn-lt"/>
                <a:cs typeface="+mn-lt"/>
              </a:rPr>
              <a:t>: Display a paragraph inside an element with the id of "root":</a:t>
            </a:r>
          </a:p>
          <a:p>
            <a:pPr marL="914400" lvl="3" indent="0">
              <a:buNone/>
            </a:pPr>
            <a:r>
              <a:rPr lang="en-US" sz="1600" dirty="0">
                <a:latin typeface="Calibri"/>
                <a:ea typeface="+mn-lt"/>
                <a:cs typeface="+mn-lt"/>
              </a:rPr>
              <a:t>Root directory &gt; public &gt; index.html</a:t>
            </a:r>
          </a:p>
          <a:p>
            <a:pPr marL="914400" lvl="3" indent="0">
              <a:buNone/>
            </a:pPr>
            <a:r>
              <a:rPr lang="en-US" sz="1600" dirty="0">
                <a:latin typeface="Calibri"/>
                <a:ea typeface="+mn-lt"/>
                <a:cs typeface="+mn-lt"/>
              </a:rPr>
              <a:t>&lt;body&gt;</a:t>
            </a:r>
            <a:br>
              <a:rPr lang="en-US" sz="1600" dirty="0">
                <a:latin typeface="Calibri"/>
                <a:ea typeface="+mn-lt"/>
                <a:cs typeface="+mn-lt"/>
              </a:rPr>
            </a:br>
            <a:r>
              <a:rPr lang="en-US" sz="1600" dirty="0">
                <a:latin typeface="Calibri"/>
                <a:ea typeface="+mn-lt"/>
                <a:cs typeface="+mn-lt"/>
              </a:rPr>
              <a:t>  &lt;div id="root"&gt;&lt;/div&gt; // root node</a:t>
            </a:r>
            <a:br>
              <a:rPr lang="en-US" sz="1600" dirty="0">
                <a:latin typeface="Calibri"/>
                <a:ea typeface="+mn-lt"/>
                <a:cs typeface="+mn-lt"/>
              </a:rPr>
            </a:br>
            <a:r>
              <a:rPr lang="en-US" sz="1600" dirty="0">
                <a:latin typeface="Calibri"/>
                <a:ea typeface="+mn-lt"/>
                <a:cs typeface="+mn-lt"/>
              </a:rPr>
              <a:t>&lt;/body&gt;</a:t>
            </a:r>
          </a:p>
          <a:p>
            <a:pPr marL="914400" lvl="2" indent="0">
              <a:buNone/>
            </a:pPr>
            <a:endParaRPr lang="en-US" sz="1600" dirty="0">
              <a:latin typeface="Calibri"/>
              <a:ea typeface="+mn-lt"/>
              <a:cs typeface="+mn-lt"/>
            </a:endParaRPr>
          </a:p>
          <a:p>
            <a:pPr marL="914400" lvl="2" indent="0">
              <a:buNone/>
            </a:pPr>
            <a:r>
              <a:rPr lang="en-US" sz="1600" dirty="0">
                <a:latin typeface="Calibri"/>
                <a:ea typeface="+mn-lt"/>
                <a:cs typeface="+mn-lt"/>
              </a:rPr>
              <a:t>const container = </a:t>
            </a:r>
            <a:r>
              <a:rPr lang="en-US" sz="1600" dirty="0" err="1">
                <a:latin typeface="Calibri"/>
                <a:ea typeface="+mn-lt"/>
                <a:cs typeface="+mn-lt"/>
              </a:rPr>
              <a:t>document.getElementById</a:t>
            </a:r>
            <a:r>
              <a:rPr lang="en-US" sz="1600" dirty="0">
                <a:latin typeface="Calibri"/>
                <a:ea typeface="+mn-lt"/>
                <a:cs typeface="+mn-lt"/>
              </a:rPr>
              <a:t>('root');
const root = </a:t>
            </a:r>
            <a:r>
              <a:rPr lang="en-US" sz="1600" dirty="0" err="1">
                <a:latin typeface="Calibri"/>
                <a:ea typeface="+mn-lt"/>
                <a:cs typeface="+mn-lt"/>
              </a:rPr>
              <a:t>ReactDOM.createRoot</a:t>
            </a:r>
            <a:r>
              <a:rPr lang="en-US" sz="1600" dirty="0">
                <a:latin typeface="Calibri"/>
                <a:ea typeface="+mn-lt"/>
                <a:cs typeface="+mn-lt"/>
              </a:rPr>
              <a:t>(container);
</a:t>
            </a:r>
            <a:r>
              <a:rPr lang="en-US" sz="1600" dirty="0" err="1">
                <a:latin typeface="Calibri"/>
                <a:ea typeface="+mn-lt"/>
                <a:cs typeface="+mn-lt"/>
              </a:rPr>
              <a:t>root.render</a:t>
            </a:r>
            <a:r>
              <a:rPr lang="en-US" sz="1600" dirty="0">
                <a:latin typeface="Calibri"/>
                <a:ea typeface="+mn-lt"/>
                <a:cs typeface="+mn-lt"/>
              </a:rPr>
              <a:t>(&lt;p&gt;Hello&lt;/p&gt;);</a:t>
            </a:r>
            <a:endParaRPr lang="en-US" sz="1600" dirty="0">
              <a:latin typeface="Calibri"/>
              <a:cs typeface="Calibri"/>
            </a:endParaRPr>
          </a:p>
          <a:p>
            <a:pPr marL="914400" lvl="2" indent="0">
              <a:buNone/>
            </a:pPr>
            <a:endParaRPr lang="en-US" sz="1400" dirty="0">
              <a:latin typeface="Arial"/>
              <a:ea typeface="+mn-lt"/>
              <a:cs typeface="+mn-lt"/>
            </a:endParaRPr>
          </a:p>
          <a:p>
            <a:pPr marL="457200" lvl="1" indent="0">
              <a:buNone/>
            </a:pPr>
            <a:endParaRPr lang="en-US" sz="1400">
              <a:latin typeface="Arial"/>
              <a:ea typeface="+mn-lt"/>
              <a:cs typeface="+mn-lt"/>
            </a:endParaRPr>
          </a:p>
          <a:p>
            <a:pPr marL="457200" lvl="1" indent="0">
              <a:buNone/>
            </a:pPr>
            <a:endParaRPr lang="en-US" sz="1400">
              <a:latin typeface="Arial"/>
              <a:cs typeface="Arial"/>
            </a:endParaRPr>
          </a:p>
        </p:txBody>
      </p:sp>
    </p:spTree>
    <p:extLst>
      <p:ext uri="{BB962C8B-B14F-4D97-AF65-F5344CB8AC3E}">
        <p14:creationId xmlns:p14="http://schemas.microsoft.com/office/powerpoint/2010/main" val="115027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3600" dirty="0">
                <a:latin typeface="Calibri"/>
                <a:cs typeface="Arial"/>
              </a:rPr>
            </a:br>
            <a:r>
              <a:rPr lang="en-US" sz="3600" dirty="0">
                <a:latin typeface="Calibri"/>
                <a:cs typeface="Arial"/>
              </a:rPr>
              <a:t>React JSX</a:t>
            </a:r>
            <a:endParaRPr lang="en-US" sz="3600" dirty="0">
              <a:latin typeface="Calibri"/>
              <a:cs typeface="Calibri Light"/>
            </a:endParaRPr>
          </a:p>
          <a:p>
            <a:pPr>
              <a:spcBef>
                <a:spcPts val="1000"/>
              </a:spcBef>
            </a:pPr>
            <a:endParaRPr lang="en-US" sz="3600" dirty="0">
              <a:latin typeface="Calibri"/>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1900">
                <a:latin typeface="Calibri"/>
                <a:cs typeface="Arial"/>
              </a:rPr>
              <a:t>What is JSX?</a:t>
            </a:r>
          </a:p>
          <a:p>
            <a:pPr lvl="1"/>
            <a:r>
              <a:rPr lang="en-US" sz="1900" dirty="0">
                <a:latin typeface="Calibri"/>
                <a:cs typeface="Arial"/>
              </a:rPr>
              <a:t>JSX stands for JavaScript XML. It allows us to write HTML in React and makes it easier to write and add HTML in React. JSX allows us to write HTML elements in JavaScript and place them in the DOM without any </a:t>
            </a:r>
            <a:r>
              <a:rPr lang="en-US" sz="1900" dirty="0" err="1">
                <a:latin typeface="Calibri"/>
                <a:cs typeface="Arial"/>
              </a:rPr>
              <a:t>createElement</a:t>
            </a:r>
            <a:r>
              <a:rPr lang="en-US" sz="1900" dirty="0">
                <a:latin typeface="Calibri"/>
                <a:cs typeface="Arial"/>
              </a:rPr>
              <a:t>()  and/or </a:t>
            </a:r>
            <a:r>
              <a:rPr lang="en-US" sz="1900" dirty="0" err="1">
                <a:latin typeface="Calibri"/>
                <a:cs typeface="Arial"/>
              </a:rPr>
              <a:t>appendChild</a:t>
            </a:r>
            <a:r>
              <a:rPr lang="en-US" sz="1900" dirty="0">
                <a:latin typeface="Calibri"/>
                <a:cs typeface="Arial"/>
              </a:rPr>
              <a:t>() methods. JSX converts HTML tags into react elements.</a:t>
            </a:r>
          </a:p>
          <a:p>
            <a:pPr marL="457200" lvl="1" indent="0">
              <a:buNone/>
            </a:pPr>
            <a:r>
              <a:rPr lang="en-US" sz="1900">
                <a:latin typeface="Calibri"/>
                <a:cs typeface="Arial"/>
              </a:rPr>
              <a:t>Examples: </a:t>
            </a:r>
          </a:p>
          <a:p>
            <a:pPr marL="914400" lvl="2" indent="0">
              <a:buNone/>
            </a:pPr>
            <a:r>
              <a:rPr lang="en-US" sz="1900" u="sng">
                <a:latin typeface="Calibri"/>
                <a:cs typeface="Arial"/>
              </a:rPr>
              <a:t>With JSX:</a:t>
            </a:r>
          </a:p>
          <a:p>
            <a:pPr marL="914400" lvl="2" indent="0">
              <a:buNone/>
            </a:pPr>
            <a:r>
              <a:rPr lang="en-US" sz="1900" dirty="0">
                <a:latin typeface="Calibri"/>
                <a:cs typeface="Arial"/>
              </a:rPr>
              <a:t>const </a:t>
            </a:r>
            <a:r>
              <a:rPr lang="en-US" sz="1900" dirty="0" err="1">
                <a:latin typeface="Calibri"/>
                <a:cs typeface="Arial"/>
              </a:rPr>
              <a:t>myElement</a:t>
            </a:r>
            <a:r>
              <a:rPr lang="en-US" sz="1900" dirty="0">
                <a:latin typeface="Calibri"/>
                <a:cs typeface="Arial"/>
              </a:rPr>
              <a:t> = &lt;h1&gt;Hello!&lt;/h1&gt;;</a:t>
            </a:r>
            <a:br>
              <a:rPr lang="en-US" sz="1900">
                <a:latin typeface="Calibri"/>
                <a:cs typeface="Arial"/>
              </a:rPr>
            </a:br>
            <a:r>
              <a:rPr lang="en-US" sz="1900" dirty="0">
                <a:latin typeface="Calibri"/>
                <a:cs typeface="Arial"/>
              </a:rPr>
              <a:t>const root = </a:t>
            </a:r>
            <a:r>
              <a:rPr lang="en-US" sz="1900" dirty="0" err="1">
                <a:latin typeface="Calibri"/>
                <a:cs typeface="Arial"/>
              </a:rPr>
              <a:t>ReactDOM.createRoot</a:t>
            </a:r>
            <a:r>
              <a:rPr lang="en-US" sz="1900" dirty="0">
                <a:latin typeface="Calibri"/>
                <a:cs typeface="Arial"/>
              </a:rPr>
              <a:t>(</a:t>
            </a:r>
            <a:r>
              <a:rPr lang="en-US" sz="1900" dirty="0" err="1">
                <a:latin typeface="Calibri"/>
                <a:cs typeface="Arial"/>
              </a:rPr>
              <a:t>document.getElementById</a:t>
            </a:r>
            <a:r>
              <a:rPr lang="en-US" sz="1900" dirty="0">
                <a:latin typeface="Calibri"/>
                <a:cs typeface="Arial"/>
              </a:rPr>
              <a:t>('root'));</a:t>
            </a:r>
            <a:br>
              <a:rPr lang="en-US" sz="1900">
                <a:latin typeface="Calibri"/>
                <a:cs typeface="Arial"/>
              </a:rPr>
            </a:br>
            <a:r>
              <a:rPr lang="en-US" sz="1900" dirty="0" err="1">
                <a:latin typeface="Calibri"/>
                <a:cs typeface="Arial"/>
              </a:rPr>
              <a:t>root.render</a:t>
            </a:r>
            <a:r>
              <a:rPr lang="en-US" sz="1900" dirty="0">
                <a:latin typeface="Calibri"/>
                <a:cs typeface="Arial"/>
              </a:rPr>
              <a:t>(</a:t>
            </a:r>
            <a:r>
              <a:rPr lang="en-US" sz="1900" dirty="0" err="1">
                <a:latin typeface="Calibri"/>
                <a:cs typeface="Arial"/>
              </a:rPr>
              <a:t>myElement</a:t>
            </a:r>
            <a:r>
              <a:rPr lang="en-US" sz="1900" dirty="0">
                <a:latin typeface="Calibri"/>
                <a:cs typeface="Arial"/>
              </a:rPr>
              <a:t>);</a:t>
            </a:r>
          </a:p>
          <a:p>
            <a:pPr marL="914400" lvl="2" indent="0">
              <a:buNone/>
            </a:pPr>
            <a:r>
              <a:rPr lang="en-US" sz="1900" u="sng">
                <a:latin typeface="Calibri"/>
                <a:cs typeface="Arial"/>
              </a:rPr>
              <a:t>Without JSX:</a:t>
            </a:r>
          </a:p>
          <a:p>
            <a:pPr marL="914400" lvl="2" indent="0">
              <a:buNone/>
            </a:pPr>
            <a:r>
              <a:rPr lang="en-US" sz="1900" dirty="0">
                <a:latin typeface="Calibri"/>
                <a:cs typeface="Arial"/>
              </a:rPr>
              <a:t>const </a:t>
            </a:r>
            <a:r>
              <a:rPr lang="en-US" sz="1900" dirty="0" err="1">
                <a:latin typeface="Calibri"/>
                <a:cs typeface="Arial"/>
              </a:rPr>
              <a:t>myElement</a:t>
            </a:r>
            <a:r>
              <a:rPr lang="en-US" sz="1900" dirty="0">
                <a:latin typeface="Calibri"/>
                <a:cs typeface="Arial"/>
              </a:rPr>
              <a:t> = </a:t>
            </a:r>
            <a:r>
              <a:rPr lang="en-US" sz="1900" dirty="0" err="1">
                <a:latin typeface="Calibri"/>
                <a:cs typeface="Arial"/>
              </a:rPr>
              <a:t>React.createElement</a:t>
            </a:r>
            <a:r>
              <a:rPr lang="en-US" sz="1900" dirty="0">
                <a:latin typeface="Calibri"/>
                <a:cs typeface="Arial"/>
              </a:rPr>
              <a:t>('h1', {}, 'Hello!');</a:t>
            </a:r>
          </a:p>
          <a:p>
            <a:pPr marL="914400" lvl="2" indent="0">
              <a:buNone/>
            </a:pPr>
            <a:r>
              <a:rPr lang="en-US" sz="1900" dirty="0">
                <a:latin typeface="Calibri"/>
                <a:cs typeface="Arial"/>
              </a:rPr>
              <a:t>const root = ReactDOM.createRoot(document.getElementById('root'));
</a:t>
            </a:r>
            <a:r>
              <a:rPr lang="en-US" sz="1900" dirty="0" err="1">
                <a:latin typeface="Calibri"/>
                <a:cs typeface="Arial"/>
              </a:rPr>
              <a:t>root.render</a:t>
            </a:r>
            <a:r>
              <a:rPr lang="en-US" sz="1900" dirty="0">
                <a:latin typeface="Calibri"/>
                <a:cs typeface="Arial"/>
              </a:rPr>
              <a:t>(</a:t>
            </a:r>
            <a:r>
              <a:rPr lang="en-US" sz="1900" dirty="0" err="1">
                <a:latin typeface="Calibri"/>
                <a:cs typeface="Arial"/>
              </a:rPr>
              <a:t>myElement</a:t>
            </a:r>
            <a:r>
              <a:rPr lang="en-US" sz="1900" dirty="0">
                <a:latin typeface="Calibri"/>
                <a:cs typeface="Arial"/>
              </a:rPr>
              <a:t>);</a:t>
            </a:r>
            <a:endParaRPr lang="en-US" sz="1900">
              <a:latin typeface="Calibri"/>
              <a:cs typeface="Calibri"/>
            </a:endParaRPr>
          </a:p>
          <a:p>
            <a:pPr lvl="1"/>
            <a:endParaRPr lang="en-US" sz="1900">
              <a:latin typeface="Arial"/>
              <a:cs typeface="Arial"/>
            </a:endParaRPr>
          </a:p>
          <a:p>
            <a:endParaRPr lang="en-US" sz="1900">
              <a:latin typeface="Arial"/>
              <a:cs typeface="Arial"/>
            </a:endParaRPr>
          </a:p>
          <a:p>
            <a:endParaRPr lang="en-US" sz="1900">
              <a:latin typeface="Arial"/>
              <a:cs typeface="Calibri"/>
            </a:endParaRPr>
          </a:p>
        </p:txBody>
      </p:sp>
    </p:spTree>
    <p:extLst>
      <p:ext uri="{BB962C8B-B14F-4D97-AF65-F5344CB8AC3E}">
        <p14:creationId xmlns:p14="http://schemas.microsoft.com/office/powerpoint/2010/main" val="12091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558140" y="550055"/>
            <a:ext cx="6711538" cy="69008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a:lnSpc>
                <a:spcPct val="90000"/>
              </a:lnSpc>
              <a:spcBef>
                <a:spcPts val="500"/>
              </a:spcBef>
            </a:pPr>
            <a:r>
              <a:rPr lang="en-US" sz="1600" b="1" u="sng" dirty="0">
                <a:latin typeface="Calibri"/>
                <a:ea typeface="+mn-lt"/>
                <a:cs typeface="+mn-lt"/>
              </a:rPr>
              <a:t>Expressions in JSX</a:t>
            </a:r>
          </a:p>
          <a:p>
            <a:pPr lvl="2"/>
            <a:r>
              <a:rPr lang="en-US" sz="1600" dirty="0">
                <a:latin typeface="Calibri"/>
                <a:ea typeface="+mn-lt"/>
                <a:cs typeface="+mn-lt"/>
              </a:rPr>
              <a:t>With JSX you can write expressions inside curly braces </a:t>
            </a:r>
            <a:r>
              <a:rPr lang="en-US" sz="1600" dirty="0">
                <a:solidFill>
                  <a:srgbClr val="DC143C"/>
                </a:solidFill>
                <a:latin typeface="Calibri"/>
                <a:ea typeface="+mn-lt"/>
                <a:cs typeface="+mn-lt"/>
              </a:rPr>
              <a:t>{ }</a:t>
            </a:r>
            <a:r>
              <a:rPr lang="en-US" sz="1600" dirty="0">
                <a:latin typeface="Calibri"/>
                <a:ea typeface="+mn-lt"/>
                <a:cs typeface="+mn-lt"/>
              </a:rPr>
              <a:t>.</a:t>
            </a:r>
            <a:endParaRPr lang="en-US" sz="1600" b="1" dirty="0">
              <a:latin typeface="Calibri"/>
              <a:ea typeface="+mn-lt"/>
              <a:cs typeface="Arial"/>
            </a:endParaRPr>
          </a:p>
          <a:p>
            <a:pPr lvl="2"/>
            <a:r>
              <a:rPr lang="en-US" sz="1600" dirty="0">
                <a:latin typeface="Calibri"/>
                <a:ea typeface="+mn-lt"/>
                <a:cs typeface="+mn-lt"/>
              </a:rPr>
              <a:t>The expression can be a React variable, or property, or any other valid JavaScript expression. JSX will execute the expression and return the result:</a:t>
            </a:r>
          </a:p>
          <a:p>
            <a:pPr marL="742950" lvl="2" indent="-285750">
              <a:lnSpc>
                <a:spcPct val="90000"/>
              </a:lnSpc>
              <a:spcBef>
                <a:spcPts val="500"/>
              </a:spcBef>
              <a:buFont typeface="Arial"/>
              <a:buChar char="•"/>
            </a:pPr>
            <a:r>
              <a:rPr lang="en-US" sz="1600" b="1" dirty="0">
                <a:latin typeface="Calibri"/>
                <a:ea typeface="+mn-lt"/>
                <a:cs typeface="Arial"/>
              </a:rPr>
              <a:t>Example 1: </a:t>
            </a:r>
          </a:p>
          <a:p>
            <a:pPr marL="914400" lvl="3">
              <a:lnSpc>
                <a:spcPct val="90000"/>
              </a:lnSpc>
              <a:spcBef>
                <a:spcPts val="500"/>
              </a:spcBef>
            </a:pPr>
            <a:r>
              <a:rPr lang="en-US" sz="1600" dirty="0">
                <a:latin typeface="Calibri"/>
                <a:ea typeface="+mn-lt"/>
                <a:cs typeface="Arial"/>
              </a:rPr>
              <a:t>Expression: {5 + 5}</a:t>
            </a:r>
            <a:endParaRPr lang="en-US" sz="1600">
              <a:latin typeface="Calibri"/>
              <a:cs typeface="Times New Roman"/>
            </a:endParaRPr>
          </a:p>
          <a:p>
            <a:pPr marL="914400" lvl="3">
              <a:lnSpc>
                <a:spcPct val="90000"/>
              </a:lnSpc>
              <a:spcBef>
                <a:spcPts val="500"/>
              </a:spcBef>
            </a:pPr>
            <a:r>
              <a:rPr lang="en-US" sz="1600" dirty="0">
                <a:latin typeface="Calibri"/>
                <a:ea typeface="+mn-lt"/>
                <a:cs typeface="Arial"/>
              </a:rPr>
              <a:t>const </a:t>
            </a:r>
            <a:r>
              <a:rPr lang="en-US" sz="1600" dirty="0" err="1">
                <a:latin typeface="Calibri"/>
                <a:ea typeface="+mn-lt"/>
                <a:cs typeface="Arial"/>
              </a:rPr>
              <a:t>myElement</a:t>
            </a:r>
            <a:r>
              <a:rPr lang="en-US" sz="1600" dirty="0">
                <a:latin typeface="Calibri"/>
                <a:ea typeface="+mn-lt"/>
                <a:cs typeface="Arial"/>
              </a:rPr>
              <a:t> = &lt;h1&gt;{5 + 5} is greater then 1.&lt;/h1&gt;;</a:t>
            </a:r>
            <a:endParaRPr lang="en-US" sz="1600">
              <a:latin typeface="Calibri"/>
              <a:cs typeface="Times New Roman"/>
            </a:endParaRPr>
          </a:p>
          <a:p>
            <a:pPr marL="914400" lvl="3">
              <a:lnSpc>
                <a:spcPct val="90000"/>
              </a:lnSpc>
              <a:spcBef>
                <a:spcPts val="500"/>
              </a:spcBef>
            </a:pPr>
            <a:r>
              <a:rPr lang="en-US" sz="1600" b="1" dirty="0">
                <a:solidFill>
                  <a:srgbClr val="C00000"/>
                </a:solidFill>
                <a:latin typeface="Calibri"/>
                <a:ea typeface="+mn-lt"/>
                <a:cs typeface="Arial"/>
              </a:rPr>
              <a:t>Output</a:t>
            </a:r>
            <a:r>
              <a:rPr lang="en-US" sz="1600" dirty="0">
                <a:latin typeface="Calibri"/>
                <a:ea typeface="+mn-lt"/>
                <a:cs typeface="Arial"/>
              </a:rPr>
              <a:t>: 10 is greater then 1.</a:t>
            </a:r>
            <a:endParaRPr lang="en-US" sz="1600" dirty="0">
              <a:latin typeface="Calibri"/>
              <a:cs typeface="Arial"/>
            </a:endParaRPr>
          </a:p>
          <a:p>
            <a:pPr marL="742950" lvl="2" indent="-285750">
              <a:lnSpc>
                <a:spcPct val="90000"/>
              </a:lnSpc>
              <a:spcBef>
                <a:spcPts val="500"/>
              </a:spcBef>
              <a:buFont typeface="Arial"/>
              <a:buChar char="•"/>
            </a:pPr>
            <a:r>
              <a:rPr lang="en-US" sz="1600" b="1" dirty="0">
                <a:solidFill>
                  <a:srgbClr val="000000"/>
                </a:solidFill>
                <a:latin typeface="Calibri"/>
                <a:cs typeface="Arial"/>
              </a:rPr>
              <a:t>Example 2:</a:t>
            </a:r>
            <a:r>
              <a:rPr lang="en-US" sz="1600" dirty="0">
                <a:solidFill>
                  <a:srgbClr val="000000"/>
                </a:solidFill>
                <a:latin typeface="Calibri"/>
                <a:cs typeface="Arial"/>
              </a:rPr>
              <a:t> </a:t>
            </a:r>
          </a:p>
          <a:p>
            <a:pPr marL="914400" lvl="3">
              <a:lnSpc>
                <a:spcPct val="90000"/>
              </a:lnSpc>
              <a:spcBef>
                <a:spcPts val="500"/>
              </a:spcBef>
            </a:pPr>
            <a:r>
              <a:rPr lang="en-US" sz="1600" dirty="0">
                <a:latin typeface="Calibri"/>
                <a:cs typeface="Arial"/>
              </a:rPr>
              <a:t>If Large block: </a:t>
            </a:r>
          </a:p>
          <a:p>
            <a:pPr lvl="3"/>
            <a:r>
              <a:rPr lang="en-US" sz="1600" dirty="0">
                <a:solidFill>
                  <a:schemeClr val="accent1"/>
                </a:solidFill>
                <a:ea typeface="+mn-lt"/>
                <a:cs typeface="+mn-lt"/>
              </a:rPr>
              <a:t>const </a:t>
            </a:r>
            <a:r>
              <a:rPr lang="en-US" sz="1600" err="1">
                <a:solidFill>
                  <a:schemeClr val="accent1"/>
                </a:solidFill>
                <a:ea typeface="+mn-lt"/>
                <a:cs typeface="+mn-lt"/>
              </a:rPr>
              <a:t>myElement</a:t>
            </a:r>
            <a:r>
              <a:rPr lang="en-US" sz="1600" dirty="0">
                <a:solidFill>
                  <a:schemeClr val="accent1"/>
                </a:solidFill>
                <a:ea typeface="+mn-lt"/>
                <a:cs typeface="+mn-lt"/>
              </a:rPr>
              <a:t> = (</a:t>
            </a:r>
          </a:p>
          <a:p>
            <a:pPr lvl="3"/>
            <a:r>
              <a:rPr lang="en-US" sz="1600" dirty="0">
                <a:solidFill>
                  <a:schemeClr val="accent1"/>
                </a:solidFill>
                <a:ea typeface="+mn-lt"/>
                <a:cs typeface="+mn-lt"/>
              </a:rPr>
              <a:t>&lt;</a:t>
            </a:r>
            <a:r>
              <a:rPr lang="en-US" sz="1600" err="1">
                <a:solidFill>
                  <a:schemeClr val="accent1"/>
                </a:solidFill>
                <a:ea typeface="+mn-lt"/>
                <a:cs typeface="+mn-lt"/>
              </a:rPr>
              <a:t>ul</a:t>
            </a:r>
            <a:r>
              <a:rPr lang="en-US" sz="1600" dirty="0">
                <a:solidFill>
                  <a:schemeClr val="accent1"/>
                </a:solidFill>
                <a:ea typeface="+mn-lt"/>
                <a:cs typeface="+mn-lt"/>
              </a:rPr>
              <a:t>&gt;</a:t>
            </a:r>
          </a:p>
          <a:p>
            <a:pPr lvl="3"/>
            <a:r>
              <a:rPr lang="en-US" sz="1600" dirty="0">
                <a:solidFill>
                  <a:schemeClr val="accent1"/>
                </a:solidFill>
                <a:ea typeface="+mn-lt"/>
                <a:cs typeface="+mn-lt"/>
              </a:rPr>
              <a:t>&lt;li&gt;Apples&lt;/li&gt;</a:t>
            </a:r>
          </a:p>
          <a:p>
            <a:pPr lvl="3"/>
            <a:r>
              <a:rPr lang="en-US" sz="1600" dirty="0">
                <a:solidFill>
                  <a:schemeClr val="accent1"/>
                </a:solidFill>
                <a:ea typeface="+mn-lt"/>
                <a:cs typeface="+mn-lt"/>
              </a:rPr>
              <a:t>&lt;li&gt;Bananas&lt;/li&gt;</a:t>
            </a:r>
          </a:p>
          <a:p>
            <a:pPr lvl="3"/>
            <a:r>
              <a:rPr lang="en-US" sz="1600" dirty="0">
                <a:solidFill>
                  <a:schemeClr val="accent1"/>
                </a:solidFill>
                <a:ea typeface="+mn-lt"/>
                <a:cs typeface="+mn-lt"/>
              </a:rPr>
              <a:t>&lt;li&gt;Cherries&lt;/li&gt;</a:t>
            </a:r>
          </a:p>
          <a:p>
            <a:pPr lvl="3"/>
            <a:r>
              <a:rPr lang="en-US" sz="1600" dirty="0">
                <a:solidFill>
                  <a:schemeClr val="accent1"/>
                </a:solidFill>
                <a:ea typeface="+mn-lt"/>
                <a:cs typeface="+mn-lt"/>
              </a:rPr>
              <a:t>&lt;/</a:t>
            </a:r>
            <a:r>
              <a:rPr lang="en-US" sz="1600" err="1">
                <a:solidFill>
                  <a:schemeClr val="accent1"/>
                </a:solidFill>
                <a:ea typeface="+mn-lt"/>
                <a:cs typeface="+mn-lt"/>
              </a:rPr>
              <a:t>ul</a:t>
            </a:r>
            <a:r>
              <a:rPr lang="en-US" sz="1600" dirty="0">
                <a:solidFill>
                  <a:schemeClr val="accent1"/>
                </a:solidFill>
                <a:ea typeface="+mn-lt"/>
                <a:cs typeface="+mn-lt"/>
              </a:rPr>
              <a:t>&gt;</a:t>
            </a:r>
          </a:p>
          <a:p>
            <a:pPr lvl="3"/>
            <a:r>
              <a:rPr lang="en-US" sz="1600" dirty="0">
                <a:solidFill>
                  <a:schemeClr val="accent1"/>
                </a:solidFill>
                <a:ea typeface="+mn-lt"/>
                <a:cs typeface="+mn-lt"/>
              </a:rPr>
              <a:t>);</a:t>
            </a:r>
          </a:p>
          <a:p>
            <a:pPr marL="914400" lvl="3">
              <a:lnSpc>
                <a:spcPct val="90000"/>
              </a:lnSpc>
              <a:spcBef>
                <a:spcPts val="500"/>
              </a:spcBef>
            </a:pPr>
            <a:endParaRPr lang="en-US" sz="1600" dirty="0">
              <a:latin typeface="Calibri"/>
              <a:cs typeface="Arial"/>
            </a:endParaRPr>
          </a:p>
          <a:p>
            <a:pPr lvl="2"/>
            <a:r>
              <a:rPr lang="en-US" sz="1600" b="1" dirty="0">
                <a:solidFill>
                  <a:srgbClr val="C00000"/>
                </a:solidFill>
                <a:ea typeface="+mn-lt"/>
                <a:cs typeface="+mn-lt"/>
              </a:rPr>
              <a:t>Output</a:t>
            </a:r>
            <a:r>
              <a:rPr lang="en-US" sz="1600" dirty="0">
                <a:solidFill>
                  <a:srgbClr val="000000"/>
                </a:solidFill>
                <a:ea typeface="+mn-lt"/>
                <a:cs typeface="+mn-lt"/>
              </a:rPr>
              <a:t>: </a:t>
            </a:r>
            <a:endParaRPr lang="en-US" sz="1600" dirty="0">
              <a:solidFill>
                <a:srgbClr val="000000"/>
              </a:solidFill>
              <a:latin typeface="Calibri"/>
              <a:ea typeface="+mn-lt"/>
              <a:cs typeface="Calibri"/>
            </a:endParaRPr>
          </a:p>
          <a:p>
            <a:pPr marL="1657350" lvl="3" indent="-285750">
              <a:buFont typeface="Arial"/>
              <a:buChar char="•"/>
            </a:pPr>
            <a:r>
              <a:rPr lang="en-US" sz="1600" dirty="0">
                <a:solidFill>
                  <a:srgbClr val="000000"/>
                </a:solidFill>
                <a:latin typeface="Times New Roman"/>
                <a:ea typeface="+mn-lt"/>
                <a:cs typeface="Times New Roman"/>
              </a:rPr>
              <a:t>Apples</a:t>
            </a:r>
            <a:endParaRPr lang="en-US" sz="1600" dirty="0">
              <a:solidFill>
                <a:srgbClr val="000000"/>
              </a:solidFill>
              <a:ea typeface="+mn-lt"/>
              <a:cs typeface="+mn-lt"/>
            </a:endParaRPr>
          </a:p>
          <a:p>
            <a:pPr marL="1657350" lvl="3" indent="-285750">
              <a:buFont typeface="Arial"/>
              <a:buChar char="•"/>
            </a:pPr>
            <a:r>
              <a:rPr lang="en-US" sz="1600" dirty="0">
                <a:solidFill>
                  <a:srgbClr val="000000"/>
                </a:solidFill>
                <a:latin typeface="Times New Roman"/>
                <a:ea typeface="+mn-lt"/>
                <a:cs typeface="Times New Roman"/>
              </a:rPr>
              <a:t>Bananas</a:t>
            </a:r>
            <a:endParaRPr lang="en-US" dirty="0">
              <a:cs typeface="Calibri" panose="020F0502020204030204"/>
            </a:endParaRPr>
          </a:p>
          <a:p>
            <a:pPr marL="1657350" lvl="3" indent="-285750">
              <a:buFont typeface="Arial"/>
              <a:buChar char="•"/>
            </a:pPr>
            <a:r>
              <a:rPr lang="en-US" sz="1600" dirty="0">
                <a:solidFill>
                  <a:srgbClr val="000000"/>
                </a:solidFill>
                <a:latin typeface="Times New Roman"/>
                <a:ea typeface="+mn-lt"/>
                <a:cs typeface="Times New Roman"/>
              </a:rPr>
              <a:t>Cherries</a:t>
            </a:r>
            <a:endParaRPr lang="en-US" dirty="0">
              <a:cs typeface="Calibri" panose="020F0502020204030204"/>
            </a:endParaRPr>
          </a:p>
          <a:p>
            <a:endParaRPr lang="en-US" sz="1600" dirty="0">
              <a:solidFill>
                <a:srgbClr val="000000"/>
              </a:solidFill>
              <a:latin typeface="Calibri"/>
              <a:cs typeface="Calibri"/>
            </a:endParaRPr>
          </a:p>
          <a:p>
            <a:pPr marL="914400" lvl="3">
              <a:lnSpc>
                <a:spcPct val="90000"/>
              </a:lnSpc>
              <a:spcBef>
                <a:spcPts val="500"/>
              </a:spcBef>
            </a:pPr>
            <a:endParaRPr lang="en-US" sz="1100" dirty="0">
              <a:solidFill>
                <a:srgbClr val="999999"/>
              </a:solidFill>
              <a:latin typeface="Calibri"/>
              <a:cs typeface="Calibri"/>
            </a:endParaRPr>
          </a:p>
          <a:p>
            <a:pPr lvl="1">
              <a:buChar char="•"/>
            </a:pPr>
            <a:endParaRPr lang="en-US" sz="1400" b="1" dirty="0">
              <a:latin typeface="Arial"/>
              <a:cs typeface="Arial"/>
            </a:endParaRPr>
          </a:p>
          <a:p>
            <a:pPr lvl="1">
              <a:buFont typeface="Arial"/>
              <a:buChar char="•"/>
            </a:pPr>
            <a:endParaRPr lang="en-US" sz="1400" dirty="0">
              <a:latin typeface="Arial"/>
              <a:cs typeface="Arial"/>
            </a:endParaRPr>
          </a:p>
        </p:txBody>
      </p:sp>
    </p:spTree>
    <p:extLst>
      <p:ext uri="{BB962C8B-B14F-4D97-AF65-F5344CB8AC3E}">
        <p14:creationId xmlns:p14="http://schemas.microsoft.com/office/powerpoint/2010/main" val="323151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7078766" cy="65843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a:lnSpc>
                <a:spcPct val="90000"/>
              </a:lnSpc>
              <a:spcBef>
                <a:spcPts val="500"/>
              </a:spcBef>
            </a:pPr>
            <a:r>
              <a:rPr lang="en-US" sz="1600" b="1" u="sng" dirty="0">
                <a:latin typeface="Calibri"/>
                <a:cs typeface="Arial"/>
              </a:rPr>
              <a:t>Some Rules to be followed while writing code in react.</a:t>
            </a:r>
          </a:p>
          <a:p>
            <a:pPr marL="742950" indent="-285750">
              <a:lnSpc>
                <a:spcPct val="90000"/>
              </a:lnSpc>
              <a:spcBef>
                <a:spcPts val="500"/>
              </a:spcBef>
              <a:buFont typeface="Arial"/>
              <a:buChar char="•"/>
            </a:pPr>
            <a:r>
              <a:rPr lang="en-US" sz="1600" dirty="0">
                <a:latin typeface="Calibri"/>
                <a:cs typeface="Arial"/>
              </a:rPr>
              <a:t>One Top Level Element</a:t>
            </a:r>
            <a:endParaRPr lang="en-US" dirty="0"/>
          </a:p>
          <a:p>
            <a:pPr marL="914400"/>
            <a:r>
              <a:rPr lang="en-US" sz="1600" dirty="0">
                <a:latin typeface="Calibri"/>
                <a:cs typeface="Arial"/>
              </a:rPr>
              <a:t>The HTML code must be wrapped in ONE top level element.</a:t>
            </a:r>
            <a:endParaRPr lang="en-US" sz="1600" dirty="0">
              <a:latin typeface="Calibri"/>
              <a:cs typeface="Calibri"/>
            </a:endParaRPr>
          </a:p>
          <a:p>
            <a:pPr lvl="2"/>
            <a:r>
              <a:rPr lang="en-US" sz="1600" dirty="0">
                <a:latin typeface="Calibri"/>
                <a:cs typeface="Arial"/>
              </a:rPr>
              <a:t>So if you like to write two paragraphs, you must put them inside a parent element, like a div element.</a:t>
            </a:r>
            <a:endParaRPr lang="en-US" sz="1600" dirty="0">
              <a:latin typeface="Calibri"/>
              <a:cs typeface="Calibri"/>
            </a:endParaRPr>
          </a:p>
          <a:p>
            <a:pPr marL="457200" lvl="2">
              <a:lnSpc>
                <a:spcPct val="90000"/>
              </a:lnSpc>
              <a:spcBef>
                <a:spcPts val="500"/>
              </a:spcBef>
            </a:pPr>
            <a:r>
              <a:rPr lang="en-US" sz="1600" b="1" dirty="0">
                <a:latin typeface="Calibri"/>
                <a:cs typeface="Arial"/>
              </a:rPr>
              <a:t>Rule 1: </a:t>
            </a:r>
            <a:endParaRPr lang="en-US" sz="1600" dirty="0">
              <a:latin typeface="Calibri"/>
              <a:cs typeface="Arial"/>
            </a:endParaRPr>
          </a:p>
          <a:p>
            <a:pPr marL="914400" lvl="3">
              <a:lnSpc>
                <a:spcPct val="90000"/>
              </a:lnSpc>
              <a:spcBef>
                <a:spcPts val="500"/>
              </a:spcBef>
            </a:pPr>
            <a:r>
              <a:rPr lang="en-US" sz="1600" dirty="0">
                <a:latin typeface="Calibri"/>
                <a:cs typeface="Calibri"/>
              </a:rPr>
              <a:t>Wrap two paragraphs inside one DIV element:</a:t>
            </a:r>
            <a:endParaRPr lang="en-US" sz="1600" b="1" dirty="0">
              <a:latin typeface="Calibri"/>
              <a:cs typeface="Arial"/>
            </a:endParaRPr>
          </a:p>
          <a:p>
            <a:pPr marL="914400" lvl="3">
              <a:lnSpc>
                <a:spcPct val="90000"/>
              </a:lnSpc>
              <a:spcBef>
                <a:spcPts val="500"/>
              </a:spcBef>
            </a:pPr>
            <a:r>
              <a:rPr lang="en-US" sz="1600" dirty="0">
                <a:latin typeface="Calibri"/>
                <a:cs typeface="Calibri"/>
              </a:rPr>
              <a:t>const myElement = (
  &lt;div&gt;
    &lt;p&gt;I am a paragraph.&lt;/p&gt;
    &lt;p&gt;I am a paragraph too.&lt;/p&gt;
  &lt;/div&gt;
);</a:t>
            </a:r>
            <a:endParaRPr lang="en-US" sz="1600" dirty="0">
              <a:solidFill>
                <a:srgbClr val="000000"/>
              </a:solidFill>
              <a:ea typeface="+mn-lt"/>
              <a:cs typeface="Calibri"/>
            </a:endParaRPr>
          </a:p>
          <a:p>
            <a:pPr marL="457200" lvl="2">
              <a:lnSpc>
                <a:spcPct val="90000"/>
              </a:lnSpc>
              <a:spcBef>
                <a:spcPts val="500"/>
              </a:spcBef>
            </a:pPr>
            <a:r>
              <a:rPr lang="en-US" sz="1600" b="1" dirty="0">
                <a:solidFill>
                  <a:srgbClr val="000000"/>
                </a:solidFill>
                <a:latin typeface="Calibri"/>
                <a:cs typeface="Calibri"/>
              </a:rPr>
              <a:t>Rule 2: </a:t>
            </a:r>
          </a:p>
          <a:p>
            <a:pPr marL="914400" lvl="3">
              <a:lnSpc>
                <a:spcPct val="90000"/>
              </a:lnSpc>
              <a:spcBef>
                <a:spcPts val="500"/>
              </a:spcBef>
            </a:pPr>
            <a:r>
              <a:rPr lang="en-US" sz="1600" dirty="0">
                <a:solidFill>
                  <a:srgbClr val="000000"/>
                </a:solidFill>
                <a:ea typeface="+mn-lt"/>
                <a:cs typeface="+mn-lt"/>
              </a:rPr>
              <a:t>Alternatively, you can use a "fragment" to wrap multiple lines.  This will prevent unnecessarily adding extra nodes to the DOM.</a:t>
            </a:r>
          </a:p>
          <a:p>
            <a:pPr marL="914400" lvl="3">
              <a:lnSpc>
                <a:spcPct val="90000"/>
              </a:lnSpc>
              <a:spcBef>
                <a:spcPts val="500"/>
              </a:spcBef>
            </a:pPr>
            <a:r>
              <a:rPr lang="en-US" sz="1600" dirty="0">
                <a:ea typeface="+mn-lt"/>
                <a:cs typeface="+mn-lt"/>
              </a:rPr>
              <a:t>A fragment looks like an empty HTML tag: </a:t>
            </a:r>
            <a:r>
              <a:rPr lang="en-US" sz="1600" dirty="0">
                <a:solidFill>
                  <a:srgbClr val="DC143C"/>
                </a:solidFill>
                <a:ea typeface="+mn-lt"/>
                <a:cs typeface="+mn-lt"/>
              </a:rPr>
              <a:t>&lt;&gt;&lt;/&gt;</a:t>
            </a:r>
            <a:r>
              <a:rPr lang="en-US" sz="1600" dirty="0">
                <a:ea typeface="+mn-lt"/>
                <a:cs typeface="+mn-lt"/>
              </a:rPr>
              <a:t>.</a:t>
            </a:r>
            <a:endParaRPr lang="en-US" sz="1600" dirty="0">
              <a:cs typeface="Calibri"/>
            </a:endParaRPr>
          </a:p>
          <a:p>
            <a:pPr marL="457200" lvl="2">
              <a:lnSpc>
                <a:spcPct val="90000"/>
              </a:lnSpc>
              <a:spcBef>
                <a:spcPts val="500"/>
              </a:spcBef>
            </a:pPr>
            <a:r>
              <a:rPr lang="en-US" sz="1600" b="1" dirty="0">
                <a:latin typeface="Calibri"/>
                <a:cs typeface="Arial"/>
              </a:rPr>
              <a:t>Rule 3: </a:t>
            </a:r>
            <a:endParaRPr lang="en-US" sz="1600" dirty="0">
              <a:latin typeface="Calibri"/>
              <a:cs typeface="Arial"/>
            </a:endParaRPr>
          </a:p>
          <a:p>
            <a:pPr lvl="2"/>
            <a:r>
              <a:rPr lang="en-US" sz="1600" dirty="0">
                <a:solidFill>
                  <a:srgbClr val="000000"/>
                </a:solidFill>
                <a:ea typeface="+mn-lt"/>
                <a:cs typeface="+mn-lt"/>
              </a:rPr>
              <a:t>Elements Must be Closed. JSX follows XML rules, and therefore HTML elements must be properly closed.</a:t>
            </a:r>
            <a:endParaRPr lang="en-US" sz="1600" dirty="0">
              <a:cs typeface="Calibri"/>
            </a:endParaRPr>
          </a:p>
          <a:p>
            <a:pPr marL="914400" lvl="3">
              <a:lnSpc>
                <a:spcPct val="90000"/>
              </a:lnSpc>
              <a:spcBef>
                <a:spcPts val="500"/>
              </a:spcBef>
            </a:pPr>
            <a:r>
              <a:rPr lang="en-US" sz="1600" dirty="0">
                <a:ea typeface="+mn-lt"/>
                <a:cs typeface="+mn-lt"/>
              </a:rPr>
              <a:t>A fragment looks like an empty HTML tag: </a:t>
            </a:r>
            <a:r>
              <a:rPr lang="en-US" sz="1600" dirty="0">
                <a:solidFill>
                  <a:srgbClr val="DC143C"/>
                </a:solidFill>
                <a:ea typeface="+mn-lt"/>
                <a:cs typeface="+mn-lt"/>
              </a:rPr>
              <a:t>&lt;&gt;&lt;/&gt;</a:t>
            </a:r>
            <a:r>
              <a:rPr lang="en-US" sz="1600" dirty="0">
                <a:ea typeface="+mn-lt"/>
                <a:cs typeface="+mn-lt"/>
              </a:rPr>
              <a:t>.</a:t>
            </a:r>
          </a:p>
          <a:p>
            <a:pPr marL="914400" lvl="3">
              <a:lnSpc>
                <a:spcPct val="90000"/>
              </a:lnSpc>
              <a:spcBef>
                <a:spcPts val="500"/>
              </a:spcBef>
            </a:pPr>
            <a:r>
              <a:rPr lang="en-US" sz="1600" dirty="0">
                <a:ea typeface="+mn-lt"/>
                <a:cs typeface="+mn-lt"/>
              </a:rPr>
              <a:t>Close empty elements with </a:t>
            </a:r>
            <a:r>
              <a:rPr lang="en-US" sz="1600" dirty="0">
                <a:solidFill>
                  <a:srgbClr val="DC143C"/>
                </a:solidFill>
                <a:ea typeface="+mn-lt"/>
                <a:cs typeface="+mn-lt"/>
              </a:rPr>
              <a:t>/&gt;</a:t>
            </a:r>
            <a:endParaRPr lang="en-US" sz="1600" dirty="0">
              <a:cs typeface="Calibri"/>
            </a:endParaRPr>
          </a:p>
          <a:p>
            <a:pPr marL="914400" lvl="3">
              <a:lnSpc>
                <a:spcPct val="90000"/>
              </a:lnSpc>
              <a:spcBef>
                <a:spcPts val="500"/>
              </a:spcBef>
            </a:pPr>
            <a:r>
              <a:rPr lang="en-US" sz="1600" dirty="0">
                <a:ea typeface="+mn-lt"/>
                <a:cs typeface="+mn-lt"/>
              </a:rPr>
              <a:t>const </a:t>
            </a:r>
            <a:r>
              <a:rPr lang="en-US" sz="1600" err="1">
                <a:ea typeface="+mn-lt"/>
                <a:cs typeface="+mn-lt"/>
              </a:rPr>
              <a:t>myElement</a:t>
            </a:r>
            <a:r>
              <a:rPr lang="en-US" sz="1600" dirty="0">
                <a:ea typeface="+mn-lt"/>
                <a:cs typeface="+mn-lt"/>
              </a:rPr>
              <a:t> = </a:t>
            </a:r>
            <a:r>
              <a:rPr lang="en-US" sz="1600" dirty="0">
                <a:solidFill>
                  <a:srgbClr val="DC143C"/>
                </a:solidFill>
                <a:ea typeface="+mn-lt"/>
                <a:cs typeface="+mn-lt"/>
              </a:rPr>
              <a:t>&lt;input type="text" /&gt;;</a:t>
            </a:r>
            <a:endParaRPr lang="en-US" sz="1600" dirty="0">
              <a:cs typeface="Calibri"/>
            </a:endParaRPr>
          </a:p>
          <a:p>
            <a:pPr lvl="1">
              <a:buFont typeface="Arial"/>
              <a:buChar char="•"/>
            </a:pPr>
            <a:endParaRPr lang="en-US" sz="1600" dirty="0">
              <a:latin typeface="Calibri"/>
              <a:cs typeface="Arial"/>
            </a:endParaRPr>
          </a:p>
        </p:txBody>
      </p:sp>
    </p:spTree>
    <p:extLst>
      <p:ext uri="{BB962C8B-B14F-4D97-AF65-F5344CB8AC3E}">
        <p14:creationId xmlns:p14="http://schemas.microsoft.com/office/powerpoint/2010/main" val="3399608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01847" y="639120"/>
            <a:ext cx="11769519" cy="7349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3" indent="-914400">
              <a:lnSpc>
                <a:spcPct val="90000"/>
              </a:lnSpc>
              <a:spcBef>
                <a:spcPts val="500"/>
              </a:spcBef>
            </a:pPr>
            <a:r>
              <a:rPr lang="en-US" sz="1600" b="1" dirty="0">
                <a:ea typeface="+mn-lt"/>
                <a:cs typeface="+mn-lt"/>
              </a:rPr>
              <a:t>Rule 4: </a:t>
            </a:r>
            <a:endParaRPr lang="en-US" sz="1600" dirty="0">
              <a:ea typeface="+mn-lt"/>
              <a:cs typeface="+mn-lt"/>
            </a:endParaRPr>
          </a:p>
          <a:p>
            <a:pPr marL="914400"/>
            <a:r>
              <a:rPr lang="en-US" sz="1600" dirty="0">
                <a:ea typeface="+mn-lt"/>
                <a:cs typeface="+mn-lt"/>
              </a:rPr>
              <a:t>Use attribute </a:t>
            </a:r>
            <a:r>
              <a:rPr lang="en-US" sz="1600" dirty="0" err="1">
                <a:solidFill>
                  <a:srgbClr val="DC143C"/>
                </a:solidFill>
                <a:ea typeface="+mn-lt"/>
                <a:cs typeface="+mn-lt"/>
              </a:rPr>
              <a:t>className</a:t>
            </a:r>
            <a:r>
              <a:rPr lang="en-US" sz="1600" dirty="0">
                <a:ea typeface="+mn-lt"/>
                <a:cs typeface="+mn-lt"/>
              </a:rPr>
              <a:t> instead of </a:t>
            </a:r>
            <a:r>
              <a:rPr lang="en-US" sz="1600" dirty="0">
                <a:solidFill>
                  <a:srgbClr val="DC143C"/>
                </a:solidFill>
                <a:ea typeface="+mn-lt"/>
                <a:cs typeface="+mn-lt"/>
              </a:rPr>
              <a:t>class</a:t>
            </a:r>
            <a:r>
              <a:rPr lang="en-US" sz="1600" dirty="0">
                <a:ea typeface="+mn-lt"/>
                <a:cs typeface="+mn-lt"/>
              </a:rPr>
              <a:t> in JSX:</a:t>
            </a:r>
            <a:endParaRPr lang="en-US" sz="1600" dirty="0">
              <a:cs typeface="Calibri"/>
            </a:endParaRPr>
          </a:p>
          <a:p>
            <a:pPr marL="914400" lvl="3">
              <a:lnSpc>
                <a:spcPct val="90000"/>
              </a:lnSpc>
              <a:spcBef>
                <a:spcPts val="500"/>
              </a:spcBef>
            </a:pPr>
            <a:r>
              <a:rPr lang="en-US" sz="1600" b="1" dirty="0">
                <a:latin typeface="Calibri"/>
                <a:cs typeface="Arial"/>
              </a:rPr>
              <a:t>Example: </a:t>
            </a:r>
            <a:endParaRPr lang="en-US" sz="1600" dirty="0">
              <a:latin typeface="Calibri"/>
              <a:cs typeface="Arial"/>
            </a:endParaRPr>
          </a:p>
          <a:p>
            <a:pPr marL="914400" lvl="3">
              <a:lnSpc>
                <a:spcPct val="90000"/>
              </a:lnSpc>
              <a:spcBef>
                <a:spcPts val="500"/>
              </a:spcBef>
            </a:pPr>
            <a:r>
              <a:rPr lang="en-US" sz="1600" dirty="0">
                <a:solidFill>
                  <a:srgbClr val="0077AA"/>
                </a:solidFill>
                <a:ea typeface="+mn-lt"/>
                <a:cs typeface="+mn-lt"/>
              </a:rPr>
              <a:t>const</a:t>
            </a:r>
            <a:r>
              <a:rPr lang="en-US" sz="1600" dirty="0">
                <a:ea typeface="+mn-lt"/>
                <a:cs typeface="+mn-lt"/>
              </a:rPr>
              <a:t> </a:t>
            </a:r>
            <a:r>
              <a:rPr lang="en-US" sz="1600" err="1">
                <a:ea typeface="+mn-lt"/>
                <a:cs typeface="+mn-lt"/>
              </a:rPr>
              <a:t>myElement</a:t>
            </a:r>
            <a:r>
              <a:rPr lang="en-US" sz="1600" dirty="0">
                <a:ea typeface="+mn-lt"/>
                <a:cs typeface="+mn-lt"/>
              </a:rPr>
              <a:t> </a:t>
            </a:r>
            <a:r>
              <a:rPr lang="en-US" sz="1600" dirty="0">
                <a:solidFill>
                  <a:srgbClr val="9A6E3A"/>
                </a:solidFill>
                <a:ea typeface="+mn-lt"/>
                <a:cs typeface="+mn-lt"/>
              </a:rPr>
              <a:t>=</a:t>
            </a:r>
            <a:r>
              <a:rPr lang="en-US" sz="1600" dirty="0">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 </a:t>
            </a:r>
            <a:r>
              <a:rPr lang="en-US" sz="1600" err="1">
                <a:solidFill>
                  <a:srgbClr val="669900"/>
                </a:solidFill>
                <a:ea typeface="+mn-lt"/>
                <a:cs typeface="+mn-lt"/>
              </a:rPr>
              <a:t>className</a:t>
            </a:r>
            <a:r>
              <a:rPr lang="en-US" sz="1600" dirty="0">
                <a:solidFill>
                  <a:srgbClr val="999999"/>
                </a:solidFill>
                <a:ea typeface="+mn-lt"/>
                <a:cs typeface="+mn-lt"/>
              </a:rPr>
              <a:t>="</a:t>
            </a:r>
            <a:r>
              <a:rPr lang="en-US" sz="1600" err="1">
                <a:solidFill>
                  <a:srgbClr val="0077AA"/>
                </a:solidFill>
                <a:ea typeface="+mn-lt"/>
                <a:cs typeface="+mn-lt"/>
              </a:rPr>
              <a:t>myclass</a:t>
            </a:r>
            <a:r>
              <a:rPr lang="en-US" sz="1600" dirty="0">
                <a:solidFill>
                  <a:srgbClr val="999999"/>
                </a:solidFill>
                <a:ea typeface="+mn-lt"/>
                <a:cs typeface="+mn-lt"/>
              </a:rPr>
              <a:t>"&gt;</a:t>
            </a:r>
            <a:r>
              <a:rPr lang="en-US" sz="1600" dirty="0">
                <a:ea typeface="+mn-lt"/>
                <a:cs typeface="+mn-lt"/>
              </a:rPr>
              <a:t>Hello World</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endParaRPr lang="en-US" sz="1600">
              <a:cs typeface="Calibri"/>
            </a:endParaRPr>
          </a:p>
          <a:p>
            <a:pPr marL="914400" lvl="3">
              <a:lnSpc>
                <a:spcPct val="90000"/>
              </a:lnSpc>
              <a:spcBef>
                <a:spcPts val="500"/>
              </a:spcBef>
            </a:pPr>
            <a:endParaRPr lang="en-US" sz="1600" dirty="0">
              <a:cs typeface="Calibri"/>
            </a:endParaRPr>
          </a:p>
          <a:p>
            <a:pPr marL="457200">
              <a:lnSpc>
                <a:spcPct val="90000"/>
              </a:lnSpc>
              <a:spcBef>
                <a:spcPts val="500"/>
              </a:spcBef>
            </a:pPr>
            <a:r>
              <a:rPr lang="en-US" sz="1600" b="1" dirty="0">
                <a:latin typeface="Calibri"/>
                <a:cs typeface="Arial"/>
              </a:rPr>
              <a:t>Conditions - if statements</a:t>
            </a:r>
            <a:endParaRPr lang="en-US" sz="1600" b="1">
              <a:latin typeface="Calibri"/>
              <a:cs typeface="Arial"/>
            </a:endParaRPr>
          </a:p>
          <a:p>
            <a:pPr lvl="2"/>
            <a:r>
              <a:rPr lang="en-US" sz="1600" dirty="0">
                <a:ea typeface="+mn-lt"/>
                <a:cs typeface="+mn-lt"/>
              </a:rPr>
              <a:t>React supports </a:t>
            </a:r>
            <a:r>
              <a:rPr lang="en-US" sz="1600" dirty="0">
                <a:solidFill>
                  <a:srgbClr val="DC143C"/>
                </a:solidFill>
                <a:ea typeface="+mn-lt"/>
                <a:cs typeface="+mn-lt"/>
              </a:rPr>
              <a:t>if</a:t>
            </a:r>
            <a:r>
              <a:rPr lang="en-US" sz="1600" dirty="0">
                <a:ea typeface="+mn-lt"/>
                <a:cs typeface="+mn-lt"/>
              </a:rPr>
              <a:t> statements, but not </a:t>
            </a:r>
            <a:r>
              <a:rPr lang="en-US" sz="1600" i="1" dirty="0">
                <a:ea typeface="+mn-lt"/>
                <a:cs typeface="+mn-lt"/>
              </a:rPr>
              <a:t>inside </a:t>
            </a:r>
            <a:r>
              <a:rPr lang="en-US" sz="1600" dirty="0">
                <a:ea typeface="+mn-lt"/>
                <a:cs typeface="+mn-lt"/>
              </a:rPr>
              <a:t>JSX.</a:t>
            </a:r>
            <a:endParaRPr lang="en-US" sz="1600">
              <a:cs typeface="Calibri" panose="020F0502020204030204"/>
            </a:endParaRPr>
          </a:p>
          <a:p>
            <a:pPr lvl="2"/>
            <a:r>
              <a:rPr lang="en-US" sz="1600" dirty="0">
                <a:ea typeface="+mn-lt"/>
                <a:cs typeface="+mn-lt"/>
              </a:rPr>
              <a:t>To be able to use conditional </a:t>
            </a:r>
            <a:r>
              <a:rPr lang="en-US" sz="1600" dirty="0">
                <a:solidFill>
                  <a:srgbClr val="000000"/>
                </a:solidFill>
                <a:ea typeface="+mn-lt"/>
                <a:cs typeface="+mn-lt"/>
              </a:rPr>
              <a:t>statements in JSX, you should put the </a:t>
            </a:r>
            <a:r>
              <a:rPr lang="en-US" sz="1600" dirty="0">
                <a:solidFill>
                  <a:srgbClr val="DC143C"/>
                </a:solidFill>
                <a:ea typeface="+mn-lt"/>
                <a:cs typeface="+mn-lt"/>
              </a:rPr>
              <a:t>if</a:t>
            </a:r>
            <a:r>
              <a:rPr lang="en-US" sz="1600" dirty="0">
                <a:solidFill>
                  <a:srgbClr val="000000"/>
                </a:solidFill>
                <a:ea typeface="+mn-lt"/>
                <a:cs typeface="+mn-lt"/>
              </a:rPr>
              <a:t> statements outside of the JSX, or you could use a ternary expression instead:</a:t>
            </a:r>
            <a:endParaRPr lang="en-US" sz="1600">
              <a:cs typeface="Calibri" panose="020F0502020204030204"/>
            </a:endParaRPr>
          </a:p>
          <a:p>
            <a:pPr lvl="2"/>
            <a:r>
              <a:rPr lang="en-US" sz="1600" b="1" dirty="0">
                <a:solidFill>
                  <a:srgbClr val="000000"/>
                </a:solidFill>
              </a:rPr>
              <a:t>Option 1:</a:t>
            </a:r>
            <a:endParaRPr lang="en-US" sz="1600" b="1">
              <a:cs typeface="Calibri" panose="020F0502020204030204"/>
            </a:endParaRPr>
          </a:p>
          <a:p>
            <a:pPr lvl="3"/>
            <a:r>
              <a:rPr lang="en-US" sz="1600" dirty="0">
                <a:ea typeface="+mn-lt"/>
                <a:cs typeface="+mn-lt"/>
              </a:rPr>
              <a:t>Write </a:t>
            </a:r>
            <a:r>
              <a:rPr lang="en-US" sz="1600" dirty="0">
                <a:solidFill>
                  <a:srgbClr val="DC143C"/>
                </a:solidFill>
                <a:ea typeface="+mn-lt"/>
                <a:cs typeface="+mn-lt"/>
              </a:rPr>
              <a:t>if</a:t>
            </a:r>
            <a:r>
              <a:rPr lang="en-US" sz="1600" dirty="0">
                <a:ea typeface="+mn-lt"/>
                <a:cs typeface="+mn-lt"/>
              </a:rPr>
              <a:t> statements outside of </a:t>
            </a:r>
            <a:r>
              <a:rPr lang="en-US" sz="1600" dirty="0">
                <a:solidFill>
                  <a:srgbClr val="000000"/>
                </a:solidFill>
                <a:ea typeface="+mn-lt"/>
                <a:cs typeface="+mn-lt"/>
              </a:rPr>
              <a:t>the </a:t>
            </a:r>
            <a:r>
              <a:rPr lang="en-US" sz="1600" dirty="0">
                <a:ea typeface="+mn-lt"/>
                <a:cs typeface="+mn-lt"/>
              </a:rPr>
              <a:t>JSX </a:t>
            </a:r>
            <a:r>
              <a:rPr lang="en-US" sz="1600" dirty="0">
                <a:solidFill>
                  <a:srgbClr val="000000"/>
                </a:solidFill>
                <a:ea typeface="+mn-lt"/>
                <a:cs typeface="+mn-lt"/>
              </a:rPr>
              <a:t>code:</a:t>
            </a:r>
            <a:endParaRPr lang="en-US" sz="1600">
              <a:cs typeface="Calibri" panose="020F0502020204030204"/>
            </a:endParaRPr>
          </a:p>
          <a:p>
            <a:pPr lvl="3"/>
            <a:r>
              <a:rPr lang="en-US" sz="1600" b="1" dirty="0">
                <a:solidFill>
                  <a:srgbClr val="000000"/>
                </a:solidFill>
              </a:rPr>
              <a:t>Example</a:t>
            </a:r>
            <a:r>
              <a:rPr lang="en-US" sz="1600" dirty="0">
                <a:solidFill>
                  <a:srgbClr val="000000"/>
                </a:solidFill>
              </a:rPr>
              <a:t>: </a:t>
            </a:r>
            <a:endParaRPr lang="en-US" sz="1600">
              <a:solidFill>
                <a:srgbClr val="000000"/>
              </a:solidFill>
              <a:cs typeface="Calibri" panose="020F0502020204030204"/>
            </a:endParaRPr>
          </a:p>
          <a:p>
            <a:pPr lvl="4"/>
            <a:r>
              <a:rPr lang="en-US" sz="1600" dirty="0">
                <a:ea typeface="+mn-lt"/>
                <a:cs typeface="+mn-lt"/>
              </a:rPr>
              <a:t>const x = 5;
let text = "Goodbye";
if (x &lt; 10) {
  text = "Hello";
}
const </a:t>
            </a:r>
            <a:r>
              <a:rPr lang="en-US" sz="1600" dirty="0" err="1">
                <a:ea typeface="+mn-lt"/>
                <a:cs typeface="+mn-lt"/>
              </a:rPr>
              <a:t>myElement</a:t>
            </a:r>
            <a:r>
              <a:rPr lang="en-US" sz="1600" dirty="0">
                <a:ea typeface="+mn-lt"/>
                <a:cs typeface="+mn-lt"/>
              </a:rPr>
              <a:t> = &lt;h1&gt;{text}&lt;/h1&gt;;</a:t>
            </a:r>
          </a:p>
          <a:p>
            <a:pPr marL="914400" lvl="2"/>
            <a:r>
              <a:rPr lang="en-US" sz="1600" b="1" dirty="0">
                <a:ea typeface="+mn-lt"/>
                <a:cs typeface="+mn-lt"/>
              </a:rPr>
              <a:t>Option 2:</a:t>
            </a:r>
          </a:p>
          <a:p>
            <a:pPr lvl="3"/>
            <a:r>
              <a:rPr lang="en-US" sz="1600" dirty="0">
                <a:ea typeface="+mn-lt"/>
                <a:cs typeface="+mn-lt"/>
              </a:rPr>
              <a:t>Use ternary expressions instead::</a:t>
            </a:r>
          </a:p>
          <a:p>
            <a:pPr lvl="3"/>
            <a:r>
              <a:rPr lang="en-US" sz="1600" b="1" dirty="0">
                <a:ea typeface="+mn-lt"/>
                <a:cs typeface="+mn-lt"/>
              </a:rPr>
              <a:t>Example</a:t>
            </a:r>
            <a:r>
              <a:rPr lang="en-US" sz="1600" dirty="0">
                <a:ea typeface="+mn-lt"/>
                <a:cs typeface="+mn-lt"/>
              </a:rPr>
              <a:t>: Write "Hello" if </a:t>
            </a:r>
            <a:r>
              <a:rPr lang="en-US" sz="1600" dirty="0">
                <a:solidFill>
                  <a:srgbClr val="DC143C"/>
                </a:solidFill>
                <a:ea typeface="+mn-lt"/>
                <a:cs typeface="+mn-lt"/>
              </a:rPr>
              <a:t>x</a:t>
            </a:r>
            <a:r>
              <a:rPr lang="en-US" sz="1600" dirty="0">
                <a:ea typeface="+mn-lt"/>
                <a:cs typeface="+mn-lt"/>
              </a:rPr>
              <a:t> is less than 10, otherwise "Goodbye":</a:t>
            </a:r>
          </a:p>
          <a:p>
            <a:pPr lvl="4"/>
            <a:r>
              <a:rPr lang="en-US" sz="1600" dirty="0">
                <a:ea typeface="+mn-lt"/>
                <a:cs typeface="+mn-lt"/>
              </a:rPr>
              <a:t>const x = 5;
const </a:t>
            </a:r>
            <a:r>
              <a:rPr lang="en-US" sz="1600" dirty="0" err="1">
                <a:ea typeface="+mn-lt"/>
                <a:cs typeface="+mn-lt"/>
              </a:rPr>
              <a:t>myElement</a:t>
            </a:r>
            <a:r>
              <a:rPr lang="en-US" sz="1600" dirty="0">
                <a:ea typeface="+mn-lt"/>
                <a:cs typeface="+mn-lt"/>
              </a:rPr>
              <a:t> = &lt;h1&gt;{(x) &lt; 10 ? "Hello" : "Goodbye"}&lt;/h1&gt;;</a:t>
            </a:r>
            <a:br>
              <a:rPr lang="en-US" sz="1600" dirty="0">
                <a:ea typeface="+mn-lt"/>
                <a:cs typeface="+mn-lt"/>
              </a:rPr>
            </a:br>
            <a:br>
              <a:rPr lang="en-US" sz="1100" dirty="0">
                <a:ea typeface="+mn-lt"/>
                <a:cs typeface="+mn-lt"/>
              </a:rPr>
            </a:br>
            <a:endParaRPr lang="en-US" sz="1100" dirty="0">
              <a:cs typeface="Calibri"/>
            </a:endParaRPr>
          </a:p>
          <a:p>
            <a:pPr marL="914400" lvl="3">
              <a:lnSpc>
                <a:spcPct val="90000"/>
              </a:lnSpc>
              <a:spcBef>
                <a:spcPts val="500"/>
              </a:spcBef>
            </a:pPr>
            <a:endParaRPr lang="en-US" sz="1100" dirty="0">
              <a:cs typeface="Calibri"/>
            </a:endParaRPr>
          </a:p>
          <a:p>
            <a:pPr lvl="1"/>
            <a:endParaRPr lang="en-US" sz="1400" b="1" dirty="0">
              <a:cs typeface="Calibri"/>
            </a:endParaRPr>
          </a:p>
          <a:p>
            <a:pPr marL="914400" lvl="3">
              <a:lnSpc>
                <a:spcPct val="90000"/>
              </a:lnSpc>
              <a:spcBef>
                <a:spcPts val="500"/>
              </a:spcBef>
            </a:pPr>
            <a:endParaRPr lang="en-US" sz="1400" dirty="0">
              <a:ea typeface="+mn-lt"/>
              <a:cs typeface="+mn-lt"/>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Arial"/>
              <a:cs typeface="Arial"/>
            </a:endParaRPr>
          </a:p>
        </p:txBody>
      </p:sp>
    </p:spTree>
    <p:extLst>
      <p:ext uri="{BB962C8B-B14F-4D97-AF65-F5344CB8AC3E}">
        <p14:creationId xmlns:p14="http://schemas.microsoft.com/office/powerpoint/2010/main" val="1791580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944670" y="701041"/>
            <a:ext cx="9942716" cy="1554480"/>
          </a:xfrm>
        </p:spPr>
        <p:txBody>
          <a:bodyPr vert="horz" lIns="91440" tIns="45720" rIns="91440" bIns="45720" rtlCol="0" anchor="ctr">
            <a:noAutofit/>
          </a:bodyPr>
          <a:lstStyle/>
          <a:p>
            <a:br>
              <a:rPr lang="en-US" sz="3600" dirty="0">
                <a:latin typeface="Calibri"/>
                <a:cs typeface="Arial"/>
              </a:rPr>
            </a:br>
            <a:br>
              <a:rPr lang="en-US" sz="3600" dirty="0">
                <a:latin typeface="Calibri"/>
                <a:cs typeface="Arial"/>
              </a:rPr>
            </a:br>
            <a:r>
              <a:rPr lang="en-US" sz="3600" dirty="0">
                <a:latin typeface="Calibri"/>
                <a:cs typeface="Calibri"/>
              </a:rPr>
              <a:t>React Components</a:t>
            </a:r>
            <a:endParaRPr lang="en-US" sz="3600">
              <a:latin typeface="Calibri"/>
              <a:cs typeface="Calibri Light" panose="020F0302020204030204"/>
            </a:endParaRPr>
          </a:p>
          <a:p>
            <a:endParaRPr lang="en-US" sz="3600" dirty="0">
              <a:latin typeface="Calibri"/>
              <a:cs typeface="Arial"/>
            </a:endParaRPr>
          </a:p>
          <a:p>
            <a:pPr>
              <a:spcBef>
                <a:spcPts val="1000"/>
              </a:spcBef>
            </a:pPr>
            <a:endParaRPr lang="en-US" sz="3600" dirty="0">
              <a:latin typeface="Calibri"/>
              <a:cs typeface="Calibri Light"/>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838200" y="2645810"/>
            <a:ext cx="10515600" cy="4097256"/>
          </a:xfrm>
        </p:spPr>
        <p:txBody>
          <a:bodyPr vert="horz" lIns="91440" tIns="45720" rIns="91440" bIns="45720" rtlCol="0" anchor="t">
            <a:normAutofit/>
          </a:bodyPr>
          <a:lstStyle/>
          <a:p>
            <a:pPr marL="0" indent="0">
              <a:buNone/>
            </a:pPr>
            <a:r>
              <a:rPr lang="en-US" sz="1600" b="1" dirty="0">
                <a:ea typeface="+mn-lt"/>
                <a:cs typeface="+mn-lt"/>
              </a:rPr>
              <a:t>“</a:t>
            </a:r>
            <a:r>
              <a:rPr lang="en-US" sz="1600" b="1" dirty="0">
                <a:solidFill>
                  <a:srgbClr val="C00000"/>
                </a:solidFill>
                <a:ea typeface="+mn-lt"/>
                <a:cs typeface="+mn-lt"/>
              </a:rPr>
              <a:t>In React, everything is a component</a:t>
            </a:r>
            <a:r>
              <a:rPr lang="en-US" sz="1600" b="1" dirty="0">
                <a:ea typeface="+mn-lt"/>
                <a:cs typeface="+mn-lt"/>
              </a:rPr>
              <a:t>”</a:t>
            </a:r>
          </a:p>
          <a:p>
            <a:pPr marL="0" indent="0">
              <a:buNone/>
            </a:pPr>
            <a:r>
              <a:rPr lang="en-US" sz="1600" dirty="0">
                <a:ea typeface="+mn-lt"/>
                <a:cs typeface="+mn-lt"/>
              </a:rPr>
              <a:t>Components are like functions that return HTML elements. Components are independent and reusable bits of code. They serve the same purpose as JavaScript functions,  but work in isolation and return HTML</a:t>
            </a:r>
            <a:endParaRPr lang="en-US" sz="1600" b="1" dirty="0">
              <a:ea typeface="+mn-lt"/>
              <a:cs typeface="+mn-lt"/>
            </a:endParaRPr>
          </a:p>
          <a:p>
            <a:pPr marL="0" indent="0">
              <a:buNone/>
            </a:pPr>
            <a:r>
              <a:rPr lang="en-US" sz="1600" b="1" u="sng" dirty="0">
                <a:cs typeface="Calibri"/>
              </a:rPr>
              <a:t>Cart Component</a:t>
            </a:r>
          </a:p>
          <a:p>
            <a:pPr marL="0" indent="0">
              <a:lnSpc>
                <a:spcPct val="100000"/>
              </a:lnSpc>
              <a:buNone/>
            </a:pPr>
            <a:r>
              <a:rPr lang="en-US" sz="1600" dirty="0">
                <a:latin typeface="Calibri" panose="020F0502020204030204"/>
                <a:ea typeface="+mn-lt"/>
                <a:cs typeface="Calibri"/>
              </a:rPr>
              <a:t>Components let you split the UI into independent, </a:t>
            </a:r>
          </a:p>
          <a:p>
            <a:pPr marL="0" indent="0">
              <a:lnSpc>
                <a:spcPct val="100000"/>
              </a:lnSpc>
              <a:buNone/>
            </a:pPr>
            <a:r>
              <a:rPr lang="en-US" sz="1600" dirty="0">
                <a:latin typeface="Calibri" panose="020F0502020204030204"/>
                <a:ea typeface="+mn-lt"/>
                <a:cs typeface="Calibri"/>
              </a:rPr>
              <a:t>reusable pieces, and </a:t>
            </a:r>
            <a:r>
              <a:rPr lang="en-US" sz="1600" dirty="0">
                <a:latin typeface="Calibri" panose="020F0502020204030204"/>
                <a:cs typeface="Calibri"/>
              </a:rPr>
              <a:t>Think about each pieces of </a:t>
            </a:r>
            <a:endParaRPr lang="en-US">
              <a:latin typeface="Calibri" panose="020F0502020204030204"/>
              <a:cs typeface="Calibri"/>
            </a:endParaRPr>
          </a:p>
          <a:p>
            <a:pPr marL="0" indent="0">
              <a:lnSpc>
                <a:spcPct val="100000"/>
              </a:lnSpc>
              <a:buNone/>
            </a:pPr>
            <a:r>
              <a:rPr lang="en-US" sz="1600" dirty="0">
                <a:latin typeface="Calibri" panose="020F0502020204030204"/>
                <a:cs typeface="Calibri"/>
              </a:rPr>
              <a:t>Isolation. Conceptually components are like </a:t>
            </a:r>
            <a:r>
              <a:rPr lang="en-US" sz="1600" dirty="0" err="1">
                <a:latin typeface="Calibri" panose="020F0502020204030204"/>
                <a:cs typeface="Calibri"/>
              </a:rPr>
              <a:t>javascript</a:t>
            </a:r>
            <a:r>
              <a:rPr lang="en-US" sz="1600" dirty="0">
                <a:latin typeface="Calibri" panose="020F0502020204030204"/>
                <a:cs typeface="Calibri"/>
              </a:rPr>
              <a:t> </a:t>
            </a:r>
            <a:endParaRPr lang="en-US" dirty="0">
              <a:latin typeface="Calibri" panose="020F0502020204030204"/>
              <a:cs typeface="Calibri"/>
            </a:endParaRPr>
          </a:p>
          <a:p>
            <a:pPr marL="0" indent="0">
              <a:lnSpc>
                <a:spcPct val="100000"/>
              </a:lnSpc>
              <a:buNone/>
            </a:pPr>
            <a:r>
              <a:rPr lang="en-US" sz="1600" dirty="0">
                <a:latin typeface="Calibri" panose="020F0502020204030204"/>
                <a:cs typeface="Calibri"/>
              </a:rPr>
              <a:t>functions.  They accept </a:t>
            </a:r>
            <a:r>
              <a:rPr lang="en-US" sz="1600" dirty="0" err="1">
                <a:latin typeface="Calibri" panose="020F0502020204030204"/>
                <a:cs typeface="Calibri"/>
              </a:rPr>
              <a:t>Arbitarary</a:t>
            </a:r>
            <a:r>
              <a:rPr lang="en-US" sz="1600" dirty="0">
                <a:latin typeface="Calibri" panose="020F0502020204030204"/>
                <a:cs typeface="Calibri"/>
              </a:rPr>
              <a:t> inputs (called "props")</a:t>
            </a:r>
            <a:endParaRPr lang="en-US">
              <a:latin typeface="Calibri" panose="020F0502020204030204"/>
              <a:cs typeface="Calibri"/>
            </a:endParaRPr>
          </a:p>
          <a:p>
            <a:pPr marL="0" indent="0">
              <a:lnSpc>
                <a:spcPct val="100000"/>
              </a:lnSpc>
              <a:buNone/>
            </a:pPr>
            <a:r>
              <a:rPr lang="en-US" sz="1600" dirty="0">
                <a:latin typeface="Calibri" panose="020F0502020204030204"/>
                <a:cs typeface="Calibri"/>
              </a:rPr>
              <a:t> and return React elements describing What should </a:t>
            </a:r>
            <a:endParaRPr lang="en-US" dirty="0">
              <a:latin typeface="Calibri" panose="020F0502020204030204"/>
              <a:cs typeface="Calibri"/>
            </a:endParaRPr>
          </a:p>
          <a:p>
            <a:pPr marL="0" indent="0">
              <a:lnSpc>
                <a:spcPct val="100000"/>
              </a:lnSpc>
              <a:buNone/>
            </a:pPr>
            <a:r>
              <a:rPr lang="en-US" sz="1600" dirty="0">
                <a:latin typeface="Calibri" panose="020F0502020204030204"/>
                <a:cs typeface="Calibri"/>
              </a:rPr>
              <a:t>Appear  on the screen.</a:t>
            </a:r>
            <a:endParaRPr lang="en-US" sz="1600" dirty="0">
              <a:cs typeface="Calibri"/>
            </a:endParaRPr>
          </a:p>
          <a:p>
            <a:pPr marL="0" indent="0">
              <a:buNone/>
            </a:pPr>
            <a:endParaRPr lang="en-US" sz="1200" dirty="0">
              <a:latin typeface="Calibri" panose="020F0502020204030204"/>
              <a:cs typeface="Calibri"/>
            </a:endParaRPr>
          </a:p>
          <a:p>
            <a:endParaRPr lang="en-US" sz="1400" dirty="0">
              <a:latin typeface="Arial"/>
              <a:cs typeface="Arial"/>
            </a:endParaRPr>
          </a:p>
          <a:p>
            <a:endParaRPr lang="en-US" sz="1400" dirty="0">
              <a:latin typeface="Arial"/>
              <a:cs typeface="Calibri"/>
            </a:endParaRPr>
          </a:p>
        </p:txBody>
      </p:sp>
      <p:pic>
        <p:nvPicPr>
          <p:cNvPr id="3" name="Picture 2" descr="A screenshot of a shopping list&#10;&#10;Description automatically generated">
            <a:extLst>
              <a:ext uri="{FF2B5EF4-FFF2-40B4-BE49-F238E27FC236}">
                <a16:creationId xmlns:a16="http://schemas.microsoft.com/office/drawing/2014/main" id="{A7F90A5C-E375-EC4B-8C00-A6EE27593F2A}"/>
              </a:ext>
            </a:extLst>
          </p:cNvPr>
          <p:cNvPicPr>
            <a:picLocks noChangeAspect="1"/>
          </p:cNvPicPr>
          <p:nvPr/>
        </p:nvPicPr>
        <p:blipFill>
          <a:blip r:embed="rId2"/>
          <a:stretch>
            <a:fillRect/>
          </a:stretch>
        </p:blipFill>
        <p:spPr>
          <a:xfrm>
            <a:off x="5763491" y="3757623"/>
            <a:ext cx="5672445" cy="2568882"/>
          </a:xfrm>
          <a:prstGeom prst="rect">
            <a:avLst/>
          </a:prstGeom>
        </p:spPr>
      </p:pic>
    </p:spTree>
    <p:extLst>
      <p:ext uri="{BB962C8B-B14F-4D97-AF65-F5344CB8AC3E}">
        <p14:creationId xmlns:p14="http://schemas.microsoft.com/office/powerpoint/2010/main" val="1474028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16712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a:lnSpc>
                <a:spcPct val="90000"/>
              </a:lnSpc>
              <a:spcBef>
                <a:spcPts val="500"/>
              </a:spcBef>
            </a:pPr>
            <a:br>
              <a:rPr lang="en-US" sz="1100" dirty="0">
                <a:ea typeface="+mn-lt"/>
                <a:cs typeface="+mn-lt"/>
              </a:rPr>
            </a:br>
            <a:br>
              <a:rPr lang="en-US" sz="1100" dirty="0">
                <a:ea typeface="+mn-lt"/>
                <a:cs typeface="+mn-lt"/>
              </a:rPr>
            </a:br>
            <a:endParaRPr lang="en-US" sz="1100">
              <a:cs typeface="Calibri"/>
            </a:endParaRPr>
          </a:p>
          <a:p>
            <a:pPr marL="914400" lvl="3">
              <a:lnSpc>
                <a:spcPct val="90000"/>
              </a:lnSpc>
              <a:spcBef>
                <a:spcPts val="500"/>
              </a:spcBef>
            </a:pPr>
            <a:endParaRPr lang="en-US" sz="1100" dirty="0">
              <a:cs typeface="Calibri"/>
            </a:endParaRPr>
          </a:p>
          <a:p>
            <a:pPr lvl="1"/>
            <a:endParaRPr lang="en-US" sz="1400" b="1" dirty="0">
              <a:cs typeface="Calibri"/>
            </a:endParaRPr>
          </a:p>
          <a:p>
            <a:pPr marL="914400" lvl="3">
              <a:lnSpc>
                <a:spcPct val="90000"/>
              </a:lnSpc>
              <a:spcBef>
                <a:spcPts val="500"/>
              </a:spcBef>
            </a:pPr>
            <a:endParaRPr lang="en-US" sz="1400" dirty="0">
              <a:ea typeface="+mn-lt"/>
              <a:cs typeface="+mn-lt"/>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Arial"/>
              <a:cs typeface="Arial"/>
            </a:endParaRPr>
          </a:p>
        </p:txBody>
      </p:sp>
      <p:pic>
        <p:nvPicPr>
          <p:cNvPr id="3" name="Picture 2" descr="A screenshot of a computer screen&#10;&#10;Description automatically generated">
            <a:extLst>
              <a:ext uri="{FF2B5EF4-FFF2-40B4-BE49-F238E27FC236}">
                <a16:creationId xmlns:a16="http://schemas.microsoft.com/office/drawing/2014/main" id="{4EF8AA61-5633-7C6C-0017-B0024BFB5EA7}"/>
              </a:ext>
            </a:extLst>
          </p:cNvPr>
          <p:cNvPicPr>
            <a:picLocks noChangeAspect="1"/>
          </p:cNvPicPr>
          <p:nvPr/>
        </p:nvPicPr>
        <p:blipFill>
          <a:blip r:embed="rId2"/>
          <a:stretch>
            <a:fillRect/>
          </a:stretch>
        </p:blipFill>
        <p:spPr>
          <a:xfrm>
            <a:off x="459180" y="133287"/>
            <a:ext cx="11164782" cy="6442984"/>
          </a:xfrm>
          <a:prstGeom prst="rect">
            <a:avLst/>
          </a:prstGeom>
        </p:spPr>
      </p:pic>
    </p:spTree>
    <p:extLst>
      <p:ext uri="{BB962C8B-B14F-4D97-AF65-F5344CB8AC3E}">
        <p14:creationId xmlns:p14="http://schemas.microsoft.com/office/powerpoint/2010/main" val="235583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45009" y="146104"/>
            <a:ext cx="11815422" cy="8620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a:lnSpc>
                <a:spcPct val="90000"/>
              </a:lnSpc>
              <a:spcBef>
                <a:spcPts val="500"/>
              </a:spcBef>
            </a:pPr>
            <a:r>
              <a:rPr lang="en-US" sz="1600" b="1" dirty="0">
                <a:ea typeface="+mn-lt"/>
                <a:cs typeface="+mn-lt"/>
              </a:rPr>
              <a:t>Components come in two types.</a:t>
            </a:r>
            <a:endParaRPr lang="en-US" sz="1600" b="1">
              <a:ea typeface="+mn-lt"/>
              <a:cs typeface="Arial"/>
            </a:endParaRPr>
          </a:p>
          <a:p>
            <a:pPr marL="1257300" lvl="1" indent="-342900">
              <a:lnSpc>
                <a:spcPct val="90000"/>
              </a:lnSpc>
              <a:spcBef>
                <a:spcPts val="500"/>
              </a:spcBef>
              <a:buAutoNum type="arabicPeriod"/>
            </a:pPr>
            <a:r>
              <a:rPr lang="en-US" sz="1600" dirty="0">
                <a:ea typeface="+mn-lt"/>
                <a:cs typeface="+mn-lt"/>
              </a:rPr>
              <a:t>Class components.</a:t>
            </a:r>
            <a:endParaRPr lang="en-US" sz="1600">
              <a:ea typeface="+mn-lt"/>
              <a:cs typeface="Arial"/>
            </a:endParaRPr>
          </a:p>
          <a:p>
            <a:pPr marL="1257300" lvl="1" indent="-342900">
              <a:lnSpc>
                <a:spcPct val="90000"/>
              </a:lnSpc>
              <a:spcBef>
                <a:spcPts val="500"/>
              </a:spcBef>
              <a:buAutoNum type="arabicPeriod"/>
            </a:pPr>
            <a:r>
              <a:rPr lang="en-US" sz="1600" dirty="0">
                <a:ea typeface="+mn-lt"/>
                <a:cs typeface="+mn-lt"/>
              </a:rPr>
              <a:t>Function components</a:t>
            </a:r>
            <a:endParaRPr lang="en-US" sz="1600">
              <a:latin typeface="Calibri"/>
              <a:cs typeface="Arial"/>
            </a:endParaRPr>
          </a:p>
          <a:p>
            <a:pPr marL="914400" lvl="3">
              <a:lnSpc>
                <a:spcPct val="90000"/>
              </a:lnSpc>
              <a:spcBef>
                <a:spcPts val="500"/>
              </a:spcBef>
            </a:pPr>
            <a:r>
              <a:rPr lang="en-US" sz="1600" b="1" dirty="0">
                <a:ea typeface="+mn-lt"/>
                <a:cs typeface="+mn-lt"/>
              </a:rPr>
              <a:t>Differences</a:t>
            </a:r>
            <a:r>
              <a:rPr lang="en-US" sz="1600" dirty="0">
                <a:ea typeface="+mn-lt"/>
                <a:cs typeface="+mn-lt"/>
              </a:rPr>
              <a:t>:</a:t>
            </a:r>
          </a:p>
          <a:p>
            <a:pPr marL="914400" lvl="3">
              <a:lnSpc>
                <a:spcPct val="90000"/>
              </a:lnSpc>
              <a:spcBef>
                <a:spcPts val="500"/>
              </a:spcBef>
            </a:pPr>
            <a:r>
              <a:rPr lang="en-US" sz="1600" dirty="0">
                <a:solidFill>
                  <a:schemeClr val="bg1">
                    <a:lumMod val="50000"/>
                  </a:schemeClr>
                </a:solidFill>
                <a:ea typeface="+mn-lt"/>
                <a:cs typeface="+mn-lt"/>
              </a:rPr>
              <a:t>// Class Component</a:t>
            </a:r>
          </a:p>
          <a:p>
            <a:pPr marL="1371600" lvl="4">
              <a:lnSpc>
                <a:spcPct val="90000"/>
              </a:lnSpc>
              <a:spcBef>
                <a:spcPts val="500"/>
              </a:spcBef>
            </a:pPr>
            <a:r>
              <a:rPr lang="en-US" sz="1600" dirty="0">
                <a:ea typeface="+mn-lt"/>
                <a:cs typeface="+mn-lt"/>
              </a:rPr>
              <a:t>class A extends </a:t>
            </a:r>
            <a:r>
              <a:rPr lang="en-US" sz="1600" dirty="0" err="1">
                <a:ea typeface="+mn-lt"/>
                <a:cs typeface="+mn-lt"/>
              </a:rPr>
              <a:t>React.Component</a:t>
            </a:r>
            <a:r>
              <a:rPr lang="en-US" sz="1600" dirty="0">
                <a:ea typeface="+mn-lt"/>
                <a:cs typeface="+mn-lt"/>
              </a:rPr>
              <a:t> {
  render() {
    return &lt;h2&gt;Hi, How are you?&lt;/h2&gt;;
  }
}</a:t>
            </a:r>
          </a:p>
          <a:p>
            <a:pPr marL="914400" lvl="3">
              <a:lnSpc>
                <a:spcPct val="90000"/>
              </a:lnSpc>
              <a:spcBef>
                <a:spcPts val="500"/>
              </a:spcBef>
            </a:pPr>
            <a:r>
              <a:rPr lang="en-US" sz="1600" dirty="0">
                <a:solidFill>
                  <a:schemeClr val="bg1">
                    <a:lumMod val="50000"/>
                  </a:schemeClr>
                </a:solidFill>
                <a:ea typeface="+mn-lt"/>
                <a:cs typeface="+mn-lt"/>
              </a:rPr>
              <a:t>// Function component</a:t>
            </a:r>
          </a:p>
          <a:p>
            <a:pPr marL="1371600" lvl="4">
              <a:lnSpc>
                <a:spcPct val="90000"/>
              </a:lnSpc>
              <a:spcBef>
                <a:spcPts val="500"/>
              </a:spcBef>
            </a:pPr>
            <a:r>
              <a:rPr lang="en-US" sz="1600" dirty="0">
                <a:ea typeface="+mn-lt"/>
                <a:cs typeface="+mn-lt"/>
              </a:rPr>
              <a:t>function A() {
  return &lt;h2&gt;Hi, How are you?&lt;/h2&gt;;
}</a:t>
            </a:r>
          </a:p>
          <a:p>
            <a:pPr lvl="1">
              <a:lnSpc>
                <a:spcPct val="90000"/>
              </a:lnSpc>
              <a:spcBef>
                <a:spcPts val="500"/>
              </a:spcBef>
            </a:pPr>
            <a:r>
              <a:rPr lang="en-US" sz="1600" b="1" dirty="0">
                <a:ea typeface="+mn-lt"/>
                <a:cs typeface="+mn-lt"/>
              </a:rPr>
              <a:t>Components in Components</a:t>
            </a:r>
          </a:p>
          <a:p>
            <a:pPr marL="914400" lvl="3">
              <a:lnSpc>
                <a:spcPct val="90000"/>
              </a:lnSpc>
              <a:spcBef>
                <a:spcPts val="500"/>
              </a:spcBef>
            </a:pPr>
            <a:r>
              <a:rPr lang="en-US" sz="1600" dirty="0">
                <a:ea typeface="+mn-lt"/>
                <a:cs typeface="+mn-lt"/>
              </a:rPr>
              <a:t>We can refer to components inside other components:</a:t>
            </a:r>
          </a:p>
          <a:p>
            <a:pPr marL="914400" lvl="3">
              <a:lnSpc>
                <a:spcPct val="90000"/>
              </a:lnSpc>
              <a:spcBef>
                <a:spcPts val="500"/>
              </a:spcBef>
            </a:pPr>
            <a:r>
              <a:rPr lang="en-US" sz="1600" dirty="0">
                <a:solidFill>
                  <a:srgbClr val="0077AA"/>
                </a:solidFill>
                <a:ea typeface="+mn-lt"/>
                <a:cs typeface="+mn-lt"/>
              </a:rPr>
              <a:t>function</a:t>
            </a:r>
            <a:r>
              <a:rPr lang="en-US" sz="1600" dirty="0">
                <a:ea typeface="+mn-lt"/>
                <a:cs typeface="+mn-lt"/>
              </a:rPr>
              <a:t> </a:t>
            </a:r>
            <a:r>
              <a:rPr lang="en-US" sz="1600" dirty="0">
                <a:solidFill>
                  <a:srgbClr val="DD4A68"/>
                </a:solidFill>
                <a:ea typeface="+mn-lt"/>
                <a:cs typeface="+mn-lt"/>
              </a:rPr>
              <a:t>A</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return</a:t>
            </a:r>
            <a:r>
              <a:rPr lang="en-US" sz="1600" dirty="0">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h2</a:t>
            </a:r>
            <a:r>
              <a:rPr lang="en-US" sz="1600" dirty="0">
                <a:solidFill>
                  <a:srgbClr val="999999"/>
                </a:solidFill>
                <a:ea typeface="+mn-lt"/>
                <a:cs typeface="+mn-lt"/>
              </a:rPr>
              <a:t>&gt;</a:t>
            </a:r>
            <a:r>
              <a:rPr lang="en-US" sz="1600" dirty="0">
                <a:ea typeface="+mn-lt"/>
                <a:cs typeface="+mn-lt"/>
              </a:rPr>
              <a:t>Where are</a:t>
            </a:r>
            <a:r>
              <a:rPr lang="en-US" sz="1600" dirty="0">
                <a:solidFill>
                  <a:srgbClr val="000000"/>
                </a:solidFill>
                <a:ea typeface="+mn-lt"/>
                <a:cs typeface="+mn-lt"/>
              </a:rPr>
              <a:t> you?</a:t>
            </a:r>
            <a:r>
              <a:rPr lang="en-US" sz="1600" dirty="0">
                <a:solidFill>
                  <a:srgbClr val="999999"/>
                </a:solidFill>
                <a:ea typeface="+mn-lt"/>
                <a:cs typeface="+mn-lt"/>
              </a:rPr>
              <a:t>&lt;/</a:t>
            </a:r>
            <a:r>
              <a:rPr lang="en-US" sz="1600" dirty="0">
                <a:solidFill>
                  <a:srgbClr val="990055"/>
                </a:solidFill>
                <a:ea typeface="+mn-lt"/>
                <a:cs typeface="+mn-lt"/>
              </a:rPr>
              <a:t>h2</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function</a:t>
            </a:r>
            <a:r>
              <a:rPr lang="en-US" sz="1600" dirty="0">
                <a:ea typeface="+mn-lt"/>
                <a:cs typeface="+mn-lt"/>
              </a:rPr>
              <a:t> </a:t>
            </a:r>
            <a:r>
              <a:rPr lang="en-US" sz="1600" dirty="0">
                <a:solidFill>
                  <a:srgbClr val="DD4A68"/>
                </a:solidFill>
                <a:ea typeface="+mn-lt"/>
                <a:cs typeface="+mn-lt"/>
              </a:rPr>
              <a:t>B</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return</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&lt;&gt;</a:t>
            </a:r>
            <a:r>
              <a:rPr lang="en-US" sz="1600" dirty="0">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ea typeface="+mn-lt"/>
                <a:cs typeface="+mn-lt"/>
              </a:rPr>
              <a:t>I am in Delhi</a:t>
            </a:r>
            <a:r>
              <a:rPr lang="en-US" sz="1600" dirty="0">
                <a:solidFill>
                  <a:srgbClr val="000000"/>
                </a:solidFill>
                <a:ea typeface="+mn-lt"/>
                <a:cs typeface="+mn-lt"/>
              </a:rPr>
              <a:t>.</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A</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&lt;/&gt;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endParaRPr lang="en-US" sz="1600" dirty="0"/>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Arial"/>
              <a:cs typeface="Arial"/>
            </a:endParaRPr>
          </a:p>
        </p:txBody>
      </p:sp>
    </p:spTree>
    <p:extLst>
      <p:ext uri="{BB962C8B-B14F-4D97-AF65-F5344CB8AC3E}">
        <p14:creationId xmlns:p14="http://schemas.microsoft.com/office/powerpoint/2010/main" val="2288878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70552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indent="-285750">
              <a:lnSpc>
                <a:spcPct val="90000"/>
              </a:lnSpc>
              <a:spcBef>
                <a:spcPts val="500"/>
              </a:spcBef>
              <a:buFont typeface="Arial"/>
              <a:buChar char="•"/>
            </a:pPr>
            <a:r>
              <a:rPr lang="en-US" sz="1600" b="1" dirty="0"/>
              <a:t>Components in Files</a:t>
            </a:r>
            <a:endParaRPr lang="en-US" sz="1600" b="1" dirty="0">
              <a:ea typeface="+mn-lt"/>
              <a:cs typeface="Arial"/>
            </a:endParaRPr>
          </a:p>
          <a:p>
            <a:pPr lvl="2"/>
            <a:r>
              <a:rPr lang="en-US" sz="1600" dirty="0">
                <a:ea typeface="+mn-lt"/>
                <a:cs typeface="+mn-lt"/>
              </a:rPr>
              <a:t>React is all about re-using code, and it is recommended to split your components into separate files.</a:t>
            </a:r>
            <a:endParaRPr lang="en-US" sz="1600" b="1" dirty="0">
              <a:ea typeface="+mn-lt"/>
              <a:cs typeface="+mn-lt"/>
            </a:endParaRPr>
          </a:p>
          <a:p>
            <a:pPr lvl="2"/>
            <a:r>
              <a:rPr lang="en-US" sz="1600" dirty="0">
                <a:ea typeface="+mn-lt"/>
                <a:cs typeface="+mn-lt"/>
              </a:rPr>
              <a:t>To do that, create a new file with a </a:t>
            </a:r>
            <a:r>
              <a:rPr lang="en-US" sz="1600" dirty="0">
                <a:solidFill>
                  <a:srgbClr val="DC143C"/>
                </a:solidFill>
                <a:ea typeface="+mn-lt"/>
                <a:cs typeface="+mn-lt"/>
              </a:rPr>
              <a:t>.</a:t>
            </a:r>
            <a:r>
              <a:rPr lang="en-US" sz="1600" dirty="0" err="1">
                <a:solidFill>
                  <a:srgbClr val="DC143C"/>
                </a:solidFill>
                <a:ea typeface="+mn-lt"/>
                <a:cs typeface="+mn-lt"/>
              </a:rPr>
              <a:t>js</a:t>
            </a:r>
            <a:r>
              <a:rPr lang="en-US" sz="1600" dirty="0">
                <a:ea typeface="+mn-lt"/>
                <a:cs typeface="+mn-lt"/>
              </a:rPr>
              <a:t> file extension and put the code inside it:</a:t>
            </a:r>
            <a:endParaRPr lang="en-US" sz="1600">
              <a:cs typeface="Calibri" panose="020F0502020204030204"/>
            </a:endParaRPr>
          </a:p>
          <a:p>
            <a:pPr marL="914400" lvl="1">
              <a:lnSpc>
                <a:spcPct val="90000"/>
              </a:lnSpc>
              <a:spcBef>
                <a:spcPts val="500"/>
              </a:spcBef>
            </a:pPr>
            <a:r>
              <a:rPr lang="en-US" sz="1600" dirty="0">
                <a:solidFill>
                  <a:srgbClr val="C00000"/>
                </a:solidFill>
                <a:ea typeface="+mn-lt"/>
                <a:cs typeface="+mn-lt"/>
              </a:rPr>
              <a:t>Rule</a:t>
            </a:r>
            <a:r>
              <a:rPr lang="en-US" sz="1600" dirty="0">
                <a:ea typeface="+mn-lt"/>
                <a:cs typeface="+mn-lt"/>
              </a:rPr>
              <a:t>:  The filename must start with an uppercase character.</a:t>
            </a:r>
          </a:p>
          <a:p>
            <a:pPr lvl="2">
              <a:lnSpc>
                <a:spcPct val="90000"/>
              </a:lnSpc>
              <a:spcBef>
                <a:spcPts val="500"/>
              </a:spcBef>
            </a:pPr>
            <a:r>
              <a:rPr lang="en-US" sz="1600" b="1" dirty="0">
                <a:ea typeface="+mn-lt"/>
                <a:cs typeface="+mn-lt"/>
              </a:rPr>
              <a:t>Example: </a:t>
            </a:r>
          </a:p>
          <a:p>
            <a:pPr marL="914400" lvl="3">
              <a:lnSpc>
                <a:spcPct val="90000"/>
              </a:lnSpc>
              <a:spcBef>
                <a:spcPts val="500"/>
              </a:spcBef>
            </a:pPr>
            <a:r>
              <a:rPr lang="en-US" sz="1600" dirty="0">
                <a:ea typeface="+mn-lt"/>
                <a:cs typeface="+mn-lt"/>
              </a:rPr>
              <a:t>Below are the two files name:</a:t>
            </a:r>
            <a:endParaRPr lang="en-US" sz="1600">
              <a:cs typeface="Calibri"/>
            </a:endParaRPr>
          </a:p>
          <a:p>
            <a:pPr marL="914400" lvl="3">
              <a:lnSpc>
                <a:spcPct val="90000"/>
              </a:lnSpc>
              <a:spcBef>
                <a:spcPts val="500"/>
              </a:spcBef>
            </a:pPr>
            <a:r>
              <a:rPr lang="en-US" sz="1600" u="sng" dirty="0">
                <a:solidFill>
                  <a:srgbClr val="000000"/>
                </a:solidFill>
                <a:ea typeface="+mn-lt"/>
                <a:cs typeface="+mn-lt"/>
              </a:rPr>
              <a:t> User.js</a:t>
            </a:r>
          </a:p>
          <a:p>
            <a:pPr marL="914400" lvl="3">
              <a:lnSpc>
                <a:spcPct val="90000"/>
              </a:lnSpc>
              <a:spcBef>
                <a:spcPts val="500"/>
              </a:spcBef>
            </a:pPr>
            <a:r>
              <a:rPr lang="en-US" sz="1600" dirty="0">
                <a:solidFill>
                  <a:schemeClr val="accent1"/>
                </a:solidFill>
                <a:ea typeface="+mn-lt"/>
                <a:cs typeface="+mn-lt"/>
              </a:rPr>
              <a:t>import React from 'react';</a:t>
            </a:r>
            <a:endParaRPr lang="en-US" sz="1600">
              <a:solidFill>
                <a:schemeClr val="accent1"/>
              </a:solidFill>
              <a:cs typeface="Calibri"/>
            </a:endParaRPr>
          </a:p>
          <a:p>
            <a:pPr marL="914400" lvl="3">
              <a:lnSpc>
                <a:spcPct val="90000"/>
              </a:lnSpc>
              <a:spcBef>
                <a:spcPts val="500"/>
              </a:spcBef>
            </a:pPr>
            <a:r>
              <a:rPr lang="en-US" sz="1600" dirty="0">
                <a:solidFill>
                  <a:schemeClr val="accent1"/>
                </a:solidFill>
                <a:ea typeface="+mn-lt"/>
                <a:cs typeface="+mn-lt"/>
              </a:rPr>
              <a:t>function User() {
  return &lt;h2&gt;Hi, My name is Jon!&lt;/h2&gt;;
}
export default User;</a:t>
            </a:r>
          </a:p>
          <a:p>
            <a:pPr marL="914400" lvl="3">
              <a:lnSpc>
                <a:spcPct val="90000"/>
              </a:lnSpc>
              <a:spcBef>
                <a:spcPts val="500"/>
              </a:spcBef>
            </a:pPr>
            <a:r>
              <a:rPr lang="en-US" sz="1600" dirty="0">
                <a:solidFill>
                  <a:srgbClr val="999999"/>
                </a:solidFill>
                <a:ea typeface="+mn-lt"/>
                <a:cs typeface="+mn-lt"/>
              </a:rPr>
              <a:t>__________________________________</a:t>
            </a:r>
            <a:endParaRPr lang="en-US"/>
          </a:p>
          <a:p>
            <a:pPr marL="914400" lvl="3">
              <a:lnSpc>
                <a:spcPct val="90000"/>
              </a:lnSpc>
              <a:spcBef>
                <a:spcPts val="500"/>
              </a:spcBef>
            </a:pPr>
            <a:r>
              <a:rPr lang="en-US" sz="1600" u="sng" dirty="0">
                <a:ea typeface="+mn-lt"/>
                <a:cs typeface="+mn-lt"/>
              </a:rPr>
              <a:t>UserDetails.js</a:t>
            </a:r>
            <a:r>
              <a:rPr lang="en-US" sz="1600" dirty="0">
                <a:ea typeface="+mn-lt"/>
                <a:cs typeface="+mn-lt"/>
              </a:rPr>
              <a:t>
</a:t>
            </a:r>
            <a:r>
              <a:rPr lang="en-US" sz="1600" dirty="0">
                <a:solidFill>
                  <a:schemeClr val="accent1"/>
                </a:solidFill>
                <a:ea typeface="+mn-lt"/>
                <a:cs typeface="+mn-lt"/>
              </a:rPr>
              <a:t>import React from 'react';</a:t>
            </a:r>
          </a:p>
          <a:p>
            <a:pPr marL="914400" lvl="3">
              <a:lnSpc>
                <a:spcPct val="90000"/>
              </a:lnSpc>
              <a:spcBef>
                <a:spcPts val="500"/>
              </a:spcBef>
            </a:pPr>
            <a:r>
              <a:rPr lang="en-US" sz="1600" dirty="0">
                <a:solidFill>
                  <a:schemeClr val="accent1"/>
                </a:solidFill>
                <a:ea typeface="+mn-lt"/>
                <a:cs typeface="+mn-lt"/>
              </a:rPr>
              <a:t>import User from './User;</a:t>
            </a:r>
            <a:r>
              <a:rPr lang="en-US" sz="1600" i="1" dirty="0">
                <a:solidFill>
                  <a:schemeClr val="accent1"/>
                </a:solidFill>
                <a:ea typeface="+mn-lt"/>
                <a:cs typeface="+mn-lt"/>
              </a:rPr>
              <a:t>
</a:t>
            </a:r>
            <a:r>
              <a:rPr lang="en-US" sz="1600" dirty="0">
                <a:solidFill>
                  <a:schemeClr val="accent1"/>
                </a:solidFill>
                <a:ea typeface="+mn-lt"/>
                <a:cs typeface="+mn-lt"/>
              </a:rPr>
              <a:t>function </a:t>
            </a:r>
            <a:r>
              <a:rPr lang="en-US" sz="1600" dirty="0" err="1">
                <a:solidFill>
                  <a:schemeClr val="accent1"/>
                </a:solidFill>
                <a:ea typeface="+mn-lt"/>
                <a:cs typeface="+mn-lt"/>
              </a:rPr>
              <a:t>UserDetails</a:t>
            </a:r>
            <a:r>
              <a:rPr lang="en-US" sz="1600" dirty="0">
                <a:solidFill>
                  <a:schemeClr val="accent1"/>
                </a:solidFill>
                <a:ea typeface="+mn-lt"/>
                <a:cs typeface="+mn-lt"/>
              </a:rPr>
              <a:t>() {</a:t>
            </a:r>
            <a:br>
              <a:rPr lang="en-US" sz="1600" dirty="0">
                <a:solidFill>
                  <a:schemeClr val="accent1"/>
                </a:solidFill>
                <a:ea typeface="+mn-lt"/>
                <a:cs typeface="+mn-lt"/>
              </a:rPr>
            </a:br>
            <a:r>
              <a:rPr lang="en-US" sz="1600" dirty="0">
                <a:solidFill>
                  <a:schemeClr val="accent1"/>
                </a:solidFill>
                <a:ea typeface="+mn-lt"/>
                <a:cs typeface="+mn-lt"/>
              </a:rPr>
              <a:t>  return &lt;User/&gt;;</a:t>
            </a:r>
            <a:br>
              <a:rPr lang="en-US" sz="1600" dirty="0">
                <a:solidFill>
                  <a:schemeClr val="accent1"/>
                </a:solidFill>
                <a:ea typeface="+mn-lt"/>
                <a:cs typeface="+mn-lt"/>
              </a:rPr>
            </a:br>
            <a:r>
              <a:rPr lang="en-US" sz="1600" dirty="0">
                <a:solidFill>
                  <a:schemeClr val="accent1"/>
                </a:solidFill>
                <a:ea typeface="+mn-lt"/>
                <a:cs typeface="+mn-lt"/>
              </a:rPr>
              <a:t>}</a:t>
            </a:r>
            <a:br>
              <a:rPr lang="en-US" sz="1600" dirty="0">
                <a:ea typeface="+mn-lt"/>
                <a:cs typeface="+mn-lt"/>
              </a:rPr>
            </a:br>
            <a:br>
              <a:rPr lang="en-US" sz="1600" dirty="0">
                <a:ea typeface="+mn-lt"/>
                <a:cs typeface="+mn-lt"/>
              </a:rPr>
            </a:br>
            <a:r>
              <a:rPr lang="en-US" sz="1600" dirty="0">
                <a:solidFill>
                  <a:schemeClr val="accent1"/>
                </a:solidFill>
                <a:ea typeface="+mn-lt"/>
                <a:cs typeface="+mn-lt"/>
              </a:rPr>
              <a:t>export default </a:t>
            </a:r>
            <a:r>
              <a:rPr lang="en-US" sz="1600" dirty="0" err="1">
                <a:solidFill>
                  <a:schemeClr val="accent1"/>
                </a:solidFill>
                <a:ea typeface="+mn-lt"/>
                <a:cs typeface="+mn-lt"/>
              </a:rPr>
              <a:t>UserDetails</a:t>
            </a:r>
            <a:r>
              <a:rPr lang="en-US" sz="1600" dirty="0">
                <a:solidFill>
                  <a:schemeClr val="accent1"/>
                </a:solidFill>
                <a:ea typeface="+mn-lt"/>
                <a:cs typeface="+mn-lt"/>
              </a:rPr>
              <a:t>;</a:t>
            </a:r>
            <a:br>
              <a:rPr lang="en-US" sz="1100" dirty="0">
                <a:solidFill>
                  <a:srgbClr val="000000"/>
                </a:solidFill>
                <a:ea typeface="+mn-lt"/>
                <a:cs typeface="+mn-lt"/>
              </a:rPr>
            </a:br>
            <a:br>
              <a:rPr lang="en-US" sz="1100" dirty="0">
                <a:solidFill>
                  <a:srgbClr val="000000"/>
                </a:solidFill>
                <a:ea typeface="+mn-lt"/>
                <a:cs typeface="+mn-lt"/>
              </a:rPr>
            </a:br>
            <a:br>
              <a:rPr lang="en-US" sz="1100" dirty="0">
                <a:solidFill>
                  <a:srgbClr val="000000"/>
                </a:solidFill>
                <a:ea typeface="+mn-lt"/>
                <a:cs typeface="+mn-lt"/>
              </a:rPr>
            </a:br>
            <a:endParaRPr lang="en-US" sz="1100">
              <a:ea typeface="+mn-lt"/>
              <a:cs typeface="+mn-lt"/>
            </a:endParaRPr>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Arial"/>
              <a:cs typeface="Arial"/>
            </a:endParaRPr>
          </a:p>
        </p:txBody>
      </p:sp>
    </p:spTree>
    <p:extLst>
      <p:ext uri="{BB962C8B-B14F-4D97-AF65-F5344CB8AC3E}">
        <p14:creationId xmlns:p14="http://schemas.microsoft.com/office/powerpoint/2010/main" val="1241082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3600" dirty="0">
                <a:latin typeface="Calibri"/>
                <a:cs typeface="Arial"/>
              </a:rPr>
            </a:br>
            <a:r>
              <a:rPr lang="en-US" sz="3600" dirty="0">
                <a:latin typeface="Calibri"/>
                <a:cs typeface="Arial"/>
              </a:rPr>
              <a:t>React Props</a:t>
            </a:r>
            <a:endParaRPr lang="en-US" sz="3600" dirty="0">
              <a:latin typeface="Calibri"/>
              <a:cs typeface="Calibri Light"/>
            </a:endParaRPr>
          </a:p>
          <a:p>
            <a:pPr>
              <a:spcBef>
                <a:spcPts val="1000"/>
              </a:spcBef>
            </a:pPr>
            <a:endParaRPr lang="en-US" sz="3600" dirty="0">
              <a:latin typeface="Calibri"/>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2200">
                <a:latin typeface="Calibri"/>
                <a:cs typeface="Arial"/>
              </a:rPr>
              <a:t>Component props</a:t>
            </a:r>
            <a:endParaRPr lang="en-US" sz="2200">
              <a:latin typeface="Calibri"/>
              <a:cs typeface="Calibri"/>
            </a:endParaRPr>
          </a:p>
          <a:p>
            <a:pPr marL="800100" lvl="2" indent="-342900">
              <a:buAutoNum type="arabicPeriod"/>
            </a:pPr>
            <a:r>
              <a:rPr lang="en-US" sz="2200">
                <a:latin typeface="Calibri"/>
                <a:cs typeface="Arial"/>
              </a:rPr>
              <a:t>Props is what can be pass into the component via attributes.</a:t>
            </a:r>
          </a:p>
          <a:p>
            <a:pPr marL="800100" lvl="2" indent="-342900">
              <a:buAutoNum type="arabicPeriod"/>
            </a:pPr>
            <a:r>
              <a:rPr lang="en-US" sz="2200">
                <a:latin typeface="Calibri"/>
                <a:cs typeface="Arial"/>
              </a:rPr>
              <a:t>Props is the only way to inputs data. (or use Redux)</a:t>
            </a:r>
          </a:p>
          <a:p>
            <a:pPr marL="800100" lvl="2" indent="-342900">
              <a:buAutoNum type="arabicPeriod"/>
            </a:pPr>
            <a:r>
              <a:rPr lang="en-US" sz="2200">
                <a:latin typeface="Calibri"/>
                <a:cs typeface="Arial"/>
              </a:rPr>
              <a:t>Props are immutable .</a:t>
            </a:r>
          </a:p>
          <a:p>
            <a:pPr marL="800100" lvl="2" indent="-342900">
              <a:buAutoNum type="arabicPeriod"/>
            </a:pPr>
            <a:r>
              <a:rPr lang="en-US" sz="2200">
                <a:latin typeface="Calibri"/>
                <a:cs typeface="Arial"/>
              </a:rPr>
              <a:t>Child component will received data from parent via props.</a:t>
            </a:r>
            <a:endParaRPr lang="en-US" sz="2200">
              <a:latin typeface="Calibri"/>
              <a:cs typeface="Calibri"/>
            </a:endParaRPr>
          </a:p>
          <a:p>
            <a:pPr marL="800100" lvl="2" indent="-342900">
              <a:buAutoNum type="arabicPeriod"/>
            </a:pPr>
            <a:r>
              <a:rPr lang="en-US" sz="2200">
                <a:latin typeface="Calibri"/>
                <a:cs typeface="Arial"/>
              </a:rPr>
              <a:t>React Props are like function </a:t>
            </a:r>
            <a:r>
              <a:rPr lang="en-US" sz="2200" b="1">
                <a:latin typeface="Calibri"/>
                <a:cs typeface="Arial"/>
              </a:rPr>
              <a:t>arguments </a:t>
            </a:r>
            <a:r>
              <a:rPr lang="en-US" sz="2200">
                <a:latin typeface="Calibri"/>
                <a:cs typeface="Arial"/>
              </a:rPr>
              <a:t>in JavaScript and </a:t>
            </a:r>
            <a:r>
              <a:rPr lang="en-US" sz="2200" b="1">
                <a:latin typeface="Calibri"/>
                <a:cs typeface="Arial"/>
              </a:rPr>
              <a:t>attributes </a:t>
            </a:r>
            <a:r>
              <a:rPr lang="en-US" sz="2200">
                <a:latin typeface="Calibri"/>
                <a:cs typeface="Arial"/>
              </a:rPr>
              <a:t>in HTML.</a:t>
            </a:r>
          </a:p>
          <a:p>
            <a:pPr marL="457200" lvl="2" indent="0">
              <a:buNone/>
            </a:pPr>
            <a:r>
              <a:rPr lang="en-US" sz="2200">
                <a:latin typeface="Calibri"/>
                <a:cs typeface="Arial"/>
              </a:rPr>
              <a:t>Example:</a:t>
            </a:r>
          </a:p>
          <a:p>
            <a:pPr marL="914400" lvl="3" indent="-342900">
              <a:buNone/>
            </a:pPr>
            <a:r>
              <a:rPr lang="en-US" sz="2200" dirty="0">
                <a:latin typeface="Calibri"/>
                <a:cs typeface="Arial"/>
              </a:rPr>
              <a:t>const </a:t>
            </a:r>
            <a:r>
              <a:rPr lang="en-US" sz="2200" dirty="0" err="1">
                <a:latin typeface="Calibri"/>
                <a:cs typeface="Arial"/>
              </a:rPr>
              <a:t>myElement</a:t>
            </a:r>
            <a:r>
              <a:rPr lang="en-US" sz="2200" dirty="0">
                <a:latin typeface="Calibri"/>
                <a:cs typeface="Arial"/>
              </a:rPr>
              <a:t> = &lt;</a:t>
            </a:r>
            <a:r>
              <a:rPr lang="en-US" sz="2200" dirty="0" err="1">
                <a:latin typeface="Calibri"/>
                <a:cs typeface="Arial"/>
              </a:rPr>
              <a:t>Abc</a:t>
            </a:r>
            <a:r>
              <a:rPr lang="en-US" sz="2200" dirty="0">
                <a:latin typeface="Calibri"/>
                <a:cs typeface="Arial"/>
              </a:rPr>
              <a:t> brand="Ford" /&gt;; // use as attribute</a:t>
            </a:r>
          </a:p>
          <a:p>
            <a:pPr marL="914400" lvl="3" indent="-342900">
              <a:buNone/>
            </a:pPr>
            <a:r>
              <a:rPr lang="en-US" sz="2200" dirty="0">
                <a:latin typeface="Calibri"/>
                <a:cs typeface="Arial"/>
              </a:rPr>
              <a:t>function </a:t>
            </a:r>
            <a:r>
              <a:rPr lang="en-US" sz="2200" dirty="0" err="1">
                <a:latin typeface="Calibri"/>
                <a:cs typeface="Arial"/>
              </a:rPr>
              <a:t>Abc</a:t>
            </a:r>
            <a:r>
              <a:rPr lang="en-US" sz="2200" dirty="0">
                <a:latin typeface="Calibri"/>
                <a:cs typeface="Arial"/>
              </a:rPr>
              <a:t>(props) {  // use as arguments
  return &lt;h2&gt;I am a { </a:t>
            </a:r>
            <a:r>
              <a:rPr lang="en-US" sz="2200" dirty="0" err="1">
                <a:latin typeface="Calibri"/>
                <a:cs typeface="Arial"/>
              </a:rPr>
              <a:t>props.brand</a:t>
            </a:r>
            <a:r>
              <a:rPr lang="en-US" sz="2200" dirty="0">
                <a:latin typeface="Calibri"/>
                <a:cs typeface="Arial"/>
              </a:rPr>
              <a:t> }!&lt;/h2&gt;;</a:t>
            </a:r>
          </a:p>
          <a:p>
            <a:pPr marL="914400" lvl="3" indent="-342900">
              <a:buNone/>
            </a:pPr>
            <a:r>
              <a:rPr lang="en-US" sz="2200">
                <a:latin typeface="Calibri"/>
                <a:cs typeface="Arial"/>
              </a:rPr>
              <a:t>}</a:t>
            </a:r>
            <a:endParaRPr lang="en-US" sz="2200"/>
          </a:p>
          <a:p>
            <a:pPr marL="457200" lvl="2">
              <a:buNone/>
            </a:pPr>
            <a:endParaRPr lang="en-US" sz="2200">
              <a:latin typeface="Calibri"/>
              <a:cs typeface="Arial"/>
            </a:endParaRPr>
          </a:p>
          <a:p>
            <a:pPr marL="800100" lvl="2" indent="-342900">
              <a:buAutoNum type="arabicPeriod"/>
            </a:pPr>
            <a:endParaRPr lang="en-US" sz="2200">
              <a:latin typeface="Calibri"/>
              <a:cs typeface="Arial"/>
            </a:endParaRPr>
          </a:p>
          <a:p>
            <a:pPr marL="0" indent="0">
              <a:buNone/>
            </a:pPr>
            <a:endParaRPr lang="en-US" sz="2200">
              <a:latin typeface="Arial"/>
              <a:cs typeface="Arial"/>
            </a:endParaRPr>
          </a:p>
          <a:p>
            <a:endParaRPr lang="en-US" sz="2200">
              <a:latin typeface="Arial"/>
              <a:cs typeface="Calibri"/>
            </a:endParaRPr>
          </a:p>
        </p:txBody>
      </p:sp>
    </p:spTree>
    <p:extLst>
      <p:ext uri="{BB962C8B-B14F-4D97-AF65-F5344CB8AC3E}">
        <p14:creationId xmlns:p14="http://schemas.microsoft.com/office/powerpoint/2010/main" val="1294988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1412488"/>
            <a:ext cx="2899189" cy="4363844"/>
          </a:xfrm>
        </p:spPr>
        <p:txBody>
          <a:bodyPr anchor="t">
            <a:normAutofit/>
          </a:bodyPr>
          <a:lstStyle/>
          <a:p>
            <a:br>
              <a:rPr lang="en-US" sz="3600" dirty="0">
                <a:latin typeface="Calibri"/>
                <a:cs typeface="Arial"/>
              </a:rPr>
            </a:br>
            <a:r>
              <a:rPr lang="en-US" sz="3600" dirty="0">
                <a:solidFill>
                  <a:srgbClr val="FFFFFF"/>
                </a:solidFill>
                <a:latin typeface="Calibri"/>
                <a:cs typeface="Arial"/>
              </a:rPr>
              <a:t>React Events</a:t>
            </a:r>
            <a:endParaRPr lang="en-US" sz="3600">
              <a:solidFill>
                <a:srgbClr val="FFFFFF"/>
              </a:solidFill>
              <a:latin typeface="Calibri"/>
              <a:cs typeface="Calibri Light" panose="020F0302020204030204"/>
            </a:endParaRPr>
          </a:p>
          <a:p>
            <a:pPr>
              <a:spcBef>
                <a:spcPts val="1000"/>
              </a:spcBef>
            </a:pPr>
            <a:endParaRPr lang="en-US" sz="3600" dirty="0">
              <a:solidFill>
                <a:srgbClr val="FFFFFF"/>
              </a:solidFill>
              <a:latin typeface="Calibri"/>
              <a:cs typeface="Calibri Light"/>
            </a:endParaRPr>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sz="half" idx="1"/>
          </p:nvPr>
        </p:nvSpPr>
        <p:spPr>
          <a:xfrm>
            <a:off x="4380855" y="476057"/>
            <a:ext cx="3615308" cy="6260198"/>
          </a:xfrm>
        </p:spPr>
        <p:txBody>
          <a:bodyPr vert="horz" lIns="91440" tIns="45720" rIns="91440" bIns="45720" rtlCol="0" anchor="t">
            <a:normAutofit lnSpcReduction="10000"/>
          </a:bodyPr>
          <a:lstStyle/>
          <a:p>
            <a:pPr marL="800100" lvl="1" indent="-342900">
              <a:buAutoNum type="arabicPeriod"/>
            </a:pPr>
            <a:r>
              <a:rPr lang="en-US" sz="1600" dirty="0">
                <a:latin typeface="Calibri"/>
                <a:cs typeface="Arial"/>
              </a:rPr>
              <a:t>Just like HTML DOM events, React can perform actions based on user events.</a:t>
            </a:r>
            <a:endParaRPr lang="en-US" sz="1600">
              <a:cs typeface="Calibri"/>
            </a:endParaRPr>
          </a:p>
          <a:p>
            <a:pPr marL="800100" lvl="1" indent="-342900">
              <a:buAutoNum type="arabicPeriod"/>
            </a:pPr>
            <a:r>
              <a:rPr lang="en-US" sz="1600" dirty="0">
                <a:ea typeface="+mn-lt"/>
                <a:cs typeface="+mn-lt"/>
              </a:rPr>
              <a:t>React has the same events as HTML: click, change, mouseover etc.</a:t>
            </a:r>
          </a:p>
          <a:p>
            <a:pPr lvl="1">
              <a:buNone/>
            </a:pPr>
            <a:r>
              <a:rPr lang="en-US" sz="1600" b="1" u="sng" dirty="0">
                <a:latin typeface="Calibri"/>
                <a:cs typeface="Arial"/>
              </a:rPr>
              <a:t>Adding Events</a:t>
            </a:r>
          </a:p>
          <a:p>
            <a:pPr marL="457200" lvl="1" indent="0">
              <a:buNone/>
            </a:pPr>
            <a:r>
              <a:rPr lang="en-US" sz="1600" dirty="0">
                <a:latin typeface="Calibri"/>
                <a:cs typeface="Arial"/>
              </a:rPr>
              <a:t>React events are written in camelCase syntax:</a:t>
            </a:r>
          </a:p>
          <a:p>
            <a:pPr marL="457200" lvl="1" indent="0">
              <a:buNone/>
            </a:pPr>
            <a:r>
              <a:rPr lang="en-US" sz="1600" err="1">
                <a:latin typeface="Calibri"/>
                <a:cs typeface="Arial"/>
              </a:rPr>
              <a:t>onClick</a:t>
            </a:r>
            <a:r>
              <a:rPr lang="en-US" sz="1600" dirty="0">
                <a:latin typeface="Calibri"/>
                <a:cs typeface="Arial"/>
              </a:rPr>
              <a:t> instead of onclick.</a:t>
            </a:r>
          </a:p>
          <a:p>
            <a:pPr marL="457200" lvl="1" indent="0">
              <a:buNone/>
            </a:pPr>
            <a:r>
              <a:rPr lang="en-US" sz="1600" dirty="0">
                <a:latin typeface="Calibri"/>
                <a:cs typeface="Arial"/>
              </a:rPr>
              <a:t>React event handlers are written inside curly braces:</a:t>
            </a:r>
          </a:p>
          <a:p>
            <a:pPr marL="457200" lvl="1" indent="0">
              <a:buNone/>
            </a:pPr>
            <a:r>
              <a:rPr lang="en-US" sz="1600" err="1">
                <a:latin typeface="Calibri"/>
                <a:cs typeface="Arial"/>
              </a:rPr>
              <a:t>onClick</a:t>
            </a:r>
            <a:r>
              <a:rPr lang="en-US" sz="1600" dirty="0">
                <a:latin typeface="Calibri"/>
                <a:cs typeface="Arial"/>
              </a:rPr>
              <a:t>={shoot}  instead of </a:t>
            </a:r>
            <a:r>
              <a:rPr lang="en-US" sz="1600" err="1">
                <a:latin typeface="Calibri"/>
                <a:cs typeface="Arial"/>
              </a:rPr>
              <a:t>onClick</a:t>
            </a:r>
            <a:r>
              <a:rPr lang="en-US" sz="1600" dirty="0">
                <a:latin typeface="Calibri"/>
                <a:cs typeface="Arial"/>
              </a:rPr>
              <a:t>="shoot()".</a:t>
            </a:r>
          </a:p>
          <a:p>
            <a:pPr marL="457200" lvl="1" indent="0">
              <a:buNone/>
            </a:pPr>
            <a:r>
              <a:rPr lang="en-US" sz="1600" b="1" dirty="0">
                <a:latin typeface="Calibri"/>
                <a:cs typeface="Arial"/>
              </a:rPr>
              <a:t>In React : </a:t>
            </a:r>
            <a:r>
              <a:rPr lang="en-US" sz="1600" dirty="0">
                <a:latin typeface="Calibri"/>
                <a:cs typeface="Arial"/>
              </a:rPr>
              <a:t>&lt;button </a:t>
            </a:r>
            <a:r>
              <a:rPr lang="en-US" sz="1600" dirty="0" err="1">
                <a:latin typeface="Calibri"/>
                <a:cs typeface="Arial"/>
              </a:rPr>
              <a:t>onClick</a:t>
            </a:r>
            <a:r>
              <a:rPr lang="en-US" sz="1600" dirty="0">
                <a:latin typeface="Calibri"/>
                <a:cs typeface="Arial"/>
              </a:rPr>
              <a:t>={shoot}&gt;Take the Shot!&lt;/button&gt;</a:t>
            </a:r>
          </a:p>
          <a:p>
            <a:pPr marL="457200" lvl="1" indent="0">
              <a:buNone/>
            </a:pPr>
            <a:r>
              <a:rPr lang="en-US" sz="1600" b="1" dirty="0">
                <a:latin typeface="Calibri"/>
                <a:cs typeface="Arial"/>
              </a:rPr>
              <a:t>In HTML: </a:t>
            </a:r>
            <a:r>
              <a:rPr lang="en-US" sz="1600" dirty="0">
                <a:latin typeface="Calibri"/>
                <a:cs typeface="Arial"/>
              </a:rPr>
              <a:t> &lt;button onclick="shoot()"&gt;Take the Shot!&lt;/button&gt;</a:t>
            </a:r>
          </a:p>
          <a:p>
            <a:pPr marL="457200" lvl="1" indent="0">
              <a:buNone/>
            </a:pPr>
            <a:endParaRPr lang="en-US" sz="1600" dirty="0">
              <a:latin typeface="Calibri"/>
              <a:cs typeface="Arial"/>
            </a:endParaRPr>
          </a:p>
          <a:p>
            <a:pPr lvl="1">
              <a:buNone/>
            </a:pPr>
            <a:r>
              <a:rPr lang="en-US" sz="1600" b="1" u="sng" dirty="0">
                <a:latin typeface="Calibri"/>
                <a:cs typeface="Arial"/>
              </a:rPr>
              <a:t>Passing Arguments</a:t>
            </a:r>
          </a:p>
          <a:p>
            <a:pPr lvl="1">
              <a:buNone/>
            </a:pPr>
            <a:r>
              <a:rPr lang="en-US" sz="1600" dirty="0">
                <a:latin typeface="Calibri"/>
                <a:cs typeface="Arial"/>
              </a:rPr>
              <a:t>To pass an argument to an event handler, use an arrow function.</a:t>
            </a:r>
          </a:p>
          <a:p>
            <a:pPr lvl="1">
              <a:buNone/>
            </a:pPr>
            <a:br>
              <a:rPr lang="en-US" sz="1100" dirty="0"/>
            </a:br>
            <a:endParaRPr lang="en-US" sz="1100"/>
          </a:p>
          <a:p>
            <a:pPr marL="800100" lvl="2" indent="-342900">
              <a:buAutoNum type="arabicPeriod"/>
            </a:pPr>
            <a:endParaRPr lang="en-US" sz="1100">
              <a:latin typeface="Calibri"/>
              <a:cs typeface="Arial"/>
            </a:endParaRPr>
          </a:p>
          <a:p>
            <a:pPr marL="0" indent="0">
              <a:buNone/>
            </a:pPr>
            <a:endParaRPr lang="en-US" sz="1100">
              <a:latin typeface="Arial"/>
              <a:cs typeface="Arial"/>
            </a:endParaRPr>
          </a:p>
          <a:p>
            <a:endParaRPr lang="en-US" sz="1100">
              <a:latin typeface="Arial"/>
              <a:cs typeface="Calibri"/>
            </a:endParaRPr>
          </a:p>
        </p:txBody>
      </p:sp>
      <p:cxnSp>
        <p:nvCxnSpPr>
          <p:cNvPr id="14" name="Straight Connector 13">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C80502E-215C-A123-B7CD-CDA0B95B90D1}"/>
              </a:ext>
            </a:extLst>
          </p:cNvPr>
          <p:cNvSpPr>
            <a:spLocks noGrp="1"/>
          </p:cNvSpPr>
          <p:nvPr>
            <p:ph sz="half" idx="2"/>
          </p:nvPr>
        </p:nvSpPr>
        <p:spPr>
          <a:xfrm>
            <a:off x="8451604" y="540321"/>
            <a:ext cx="3197701" cy="5236012"/>
          </a:xfrm>
        </p:spPr>
        <p:txBody>
          <a:bodyPr vert="horz" lIns="91440" tIns="45720" rIns="91440" bIns="45720" rtlCol="0" anchor="t">
            <a:normAutofit lnSpcReduction="10000"/>
          </a:bodyPr>
          <a:lstStyle/>
          <a:p>
            <a:pPr marL="457200" lvl="1" indent="0">
              <a:buNone/>
            </a:pPr>
            <a:r>
              <a:rPr lang="en-US" sz="1600" b="1" dirty="0">
                <a:latin typeface="Calibri"/>
                <a:cs typeface="Arial"/>
              </a:rPr>
              <a:t>Example: </a:t>
            </a:r>
            <a:endParaRPr lang="en-US" sz="1600" b="1">
              <a:cs typeface="Calibri"/>
            </a:endParaRPr>
          </a:p>
          <a:p>
            <a:pPr marL="457200" lvl="1" indent="0">
              <a:buNone/>
            </a:pPr>
            <a:r>
              <a:rPr lang="en-US" sz="1600" dirty="0">
                <a:solidFill>
                  <a:schemeClr val="accent1"/>
                </a:solidFill>
                <a:latin typeface="Calibri"/>
                <a:cs typeface="Arial"/>
              </a:rPr>
              <a:t>function Football() {</a:t>
            </a:r>
            <a:br>
              <a:rPr lang="en-US" sz="1600" dirty="0">
                <a:solidFill>
                  <a:schemeClr val="accent1"/>
                </a:solidFill>
                <a:latin typeface="Calibri"/>
                <a:cs typeface="Arial"/>
              </a:rPr>
            </a:br>
            <a:r>
              <a:rPr lang="en-US" sz="1600" dirty="0">
                <a:solidFill>
                  <a:schemeClr val="accent1"/>
                </a:solidFill>
                <a:latin typeface="Calibri"/>
                <a:cs typeface="Arial"/>
              </a:rPr>
              <a:t>  const shoot = (a) =&gt; {</a:t>
            </a:r>
            <a:br>
              <a:rPr lang="en-US" sz="1600" dirty="0">
                <a:solidFill>
                  <a:schemeClr val="accent1"/>
                </a:solidFill>
                <a:latin typeface="Calibri"/>
                <a:cs typeface="Arial"/>
              </a:rPr>
            </a:br>
            <a:r>
              <a:rPr lang="en-US" sz="1600" dirty="0">
                <a:solidFill>
                  <a:schemeClr val="accent1"/>
                </a:solidFill>
                <a:latin typeface="Calibri"/>
                <a:cs typeface="Arial"/>
              </a:rPr>
              <a:t>    alert(a);</a:t>
            </a:r>
            <a:br>
              <a:rPr lang="en-US" sz="1600" dirty="0">
                <a:solidFill>
                  <a:schemeClr val="accent1"/>
                </a:solidFill>
                <a:latin typeface="Calibri"/>
                <a:cs typeface="Arial"/>
              </a:rPr>
            </a:br>
            <a:r>
              <a:rPr lang="en-US" sz="1600" dirty="0">
                <a:solidFill>
                  <a:schemeClr val="accent1"/>
                </a:solidFill>
                <a:latin typeface="Calibri"/>
                <a:cs typeface="Arial"/>
              </a:rPr>
              <a:t>  }</a:t>
            </a:r>
            <a:br>
              <a:rPr lang="en-US" sz="1600" dirty="0">
                <a:solidFill>
                  <a:schemeClr val="accent1"/>
                </a:solidFill>
                <a:latin typeface="Calibri"/>
                <a:cs typeface="Arial"/>
              </a:rPr>
            </a:br>
            <a:br>
              <a:rPr lang="en-US" sz="1600" dirty="0">
                <a:solidFill>
                  <a:schemeClr val="accent1"/>
                </a:solidFill>
                <a:latin typeface="Calibri"/>
                <a:cs typeface="Arial"/>
              </a:rPr>
            </a:br>
            <a:r>
              <a:rPr lang="en-US" sz="1600" dirty="0">
                <a:solidFill>
                  <a:schemeClr val="accent1"/>
                </a:solidFill>
                <a:latin typeface="Calibri"/>
                <a:cs typeface="Arial"/>
              </a:rPr>
              <a:t>  return (</a:t>
            </a:r>
            <a:br>
              <a:rPr lang="en-US" sz="1600" dirty="0">
                <a:solidFill>
                  <a:schemeClr val="accent1"/>
                </a:solidFill>
                <a:latin typeface="Calibri"/>
                <a:cs typeface="Arial"/>
              </a:rPr>
            </a:br>
            <a:r>
              <a:rPr lang="en-US" sz="1600" dirty="0">
                <a:solidFill>
                  <a:schemeClr val="accent1"/>
                </a:solidFill>
                <a:latin typeface="Calibri"/>
                <a:cs typeface="Arial"/>
              </a:rPr>
              <a:t>    &lt;button </a:t>
            </a:r>
            <a:r>
              <a:rPr lang="en-US" sz="1600" err="1">
                <a:solidFill>
                  <a:schemeClr val="accent1"/>
                </a:solidFill>
                <a:latin typeface="Calibri"/>
                <a:cs typeface="Arial"/>
              </a:rPr>
              <a:t>onClick</a:t>
            </a:r>
            <a:r>
              <a:rPr lang="en-US" sz="1600" dirty="0">
                <a:solidFill>
                  <a:schemeClr val="accent1"/>
                </a:solidFill>
                <a:latin typeface="Calibri"/>
                <a:cs typeface="Arial"/>
              </a:rPr>
              <a:t>={() =&gt; shoot("Goal!")}&gt;Take the shot!&lt;/button&gt;</a:t>
            </a:r>
            <a:br>
              <a:rPr lang="en-US" sz="1600" dirty="0">
                <a:solidFill>
                  <a:schemeClr val="accent1"/>
                </a:solidFill>
                <a:latin typeface="Calibri"/>
                <a:cs typeface="Arial"/>
              </a:rPr>
            </a:br>
            <a:r>
              <a:rPr lang="en-US" sz="1600" dirty="0">
                <a:solidFill>
                  <a:schemeClr val="accent1"/>
                </a:solidFill>
                <a:latin typeface="Calibri"/>
                <a:cs typeface="Arial"/>
              </a:rPr>
              <a:t>  );</a:t>
            </a:r>
            <a:br>
              <a:rPr lang="en-US" sz="1600" dirty="0">
                <a:solidFill>
                  <a:schemeClr val="accent1"/>
                </a:solidFill>
                <a:latin typeface="Calibri"/>
                <a:cs typeface="Arial"/>
              </a:rPr>
            </a:br>
            <a:r>
              <a:rPr lang="en-US" sz="1600" dirty="0">
                <a:solidFill>
                  <a:schemeClr val="accent1"/>
                </a:solidFill>
                <a:latin typeface="Calibri"/>
                <a:cs typeface="Arial"/>
              </a:rPr>
              <a:t>}</a:t>
            </a:r>
          </a:p>
          <a:p>
            <a:pPr marL="0" indent="0">
              <a:buNone/>
            </a:pPr>
            <a:endParaRPr lang="en-US" sz="2000" dirty="0">
              <a:solidFill>
                <a:schemeClr val="accent1"/>
              </a:solidFill>
              <a:latin typeface="Calibri"/>
              <a:cs typeface="Arial"/>
            </a:endParaRPr>
          </a:p>
        </p:txBody>
      </p:sp>
    </p:spTree>
    <p:extLst>
      <p:ext uri="{BB962C8B-B14F-4D97-AF65-F5344CB8AC3E}">
        <p14:creationId xmlns:p14="http://schemas.microsoft.com/office/powerpoint/2010/main" val="244423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3600" dirty="0">
                <a:latin typeface="Calibri"/>
                <a:cs typeface="Arial"/>
              </a:rPr>
            </a:br>
            <a:r>
              <a:rPr lang="en-US" sz="3600" dirty="0">
                <a:latin typeface="Calibri"/>
                <a:cs typeface="Arial"/>
              </a:rPr>
              <a:t>React Event Object</a:t>
            </a:r>
            <a:endParaRPr lang="en-US" sz="3600" dirty="0">
              <a:latin typeface="Calibri"/>
              <a:cs typeface="Calibri Light"/>
            </a:endParaRPr>
          </a:p>
          <a:p>
            <a:pPr>
              <a:spcBef>
                <a:spcPts val="1000"/>
              </a:spcBef>
            </a:pPr>
            <a:endParaRPr lang="en-US" sz="3600" dirty="0">
              <a:latin typeface="Calibri"/>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838200" y="1929384"/>
            <a:ext cx="10515600" cy="4251960"/>
          </a:xfrm>
        </p:spPr>
        <p:txBody>
          <a:bodyPr vert="horz" lIns="91440" tIns="45720" rIns="91440" bIns="45720" rtlCol="0">
            <a:normAutofit/>
          </a:bodyPr>
          <a:lstStyle/>
          <a:p>
            <a:pPr marL="457200" lvl="1" indent="0">
              <a:buNone/>
            </a:pPr>
            <a:r>
              <a:rPr lang="en-US" sz="1900">
                <a:ea typeface="+mn-lt"/>
                <a:cs typeface="+mn-lt"/>
              </a:rPr>
              <a:t>Event handlers have access to the React event that triggered the function.</a:t>
            </a:r>
          </a:p>
          <a:p>
            <a:pPr marL="457200" lvl="1" indent="0">
              <a:buNone/>
            </a:pPr>
            <a:r>
              <a:rPr lang="en-US" sz="1900">
                <a:ea typeface="+mn-lt"/>
                <a:cs typeface="+mn-lt"/>
              </a:rPr>
              <a:t>In our example the event is the "click" event.</a:t>
            </a:r>
          </a:p>
          <a:p>
            <a:pPr marL="457200" lvl="2" indent="0">
              <a:buNone/>
            </a:pPr>
            <a:r>
              <a:rPr lang="en-US" sz="1900" b="1">
                <a:latin typeface="Calibri"/>
                <a:cs typeface="Arial"/>
              </a:rPr>
              <a:t>Example</a:t>
            </a:r>
            <a:r>
              <a:rPr lang="en-US" sz="1900">
                <a:latin typeface="Calibri"/>
                <a:cs typeface="Arial"/>
              </a:rPr>
              <a:t>:</a:t>
            </a:r>
          </a:p>
          <a:p>
            <a:pPr marL="914400" lvl="3" indent="-342900">
              <a:buNone/>
            </a:pPr>
            <a:r>
              <a:rPr lang="en-US" sz="1900">
                <a:ea typeface="+mn-lt"/>
                <a:cs typeface="+mn-lt"/>
              </a:rPr>
              <a:t>function Submit() {
  const data= (a, b) =&gt; {
    alert(b.type);
  }
  return (
    &lt;button onClick={(event) =&gt; data("Goal!", event)}&gt;Fetch Data!!&lt;/button&gt;
  );
}</a:t>
            </a:r>
          </a:p>
          <a:p>
            <a:pPr marL="457200" lvl="2">
              <a:buNone/>
            </a:pPr>
            <a:endParaRPr lang="en-US" sz="1900">
              <a:latin typeface="Calibri"/>
              <a:cs typeface="Arial"/>
            </a:endParaRPr>
          </a:p>
          <a:p>
            <a:pPr marL="800100" lvl="2" indent="-342900">
              <a:buAutoNum type="arabicPeriod"/>
            </a:pPr>
            <a:endParaRPr lang="en-US" sz="1900">
              <a:latin typeface="Calibri"/>
              <a:cs typeface="Arial"/>
            </a:endParaRPr>
          </a:p>
          <a:p>
            <a:pPr marL="0" indent="0">
              <a:buNone/>
            </a:pPr>
            <a:endParaRPr lang="en-US" sz="1900">
              <a:latin typeface="Arial"/>
              <a:cs typeface="Arial"/>
            </a:endParaRPr>
          </a:p>
          <a:p>
            <a:endParaRPr lang="en-US" sz="1900">
              <a:latin typeface="Arial"/>
              <a:cs typeface="Calibri"/>
            </a:endParaRPr>
          </a:p>
        </p:txBody>
      </p:sp>
    </p:spTree>
    <p:extLst>
      <p:ext uri="{BB962C8B-B14F-4D97-AF65-F5344CB8AC3E}">
        <p14:creationId xmlns:p14="http://schemas.microsoft.com/office/powerpoint/2010/main" val="3829614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vert="horz" lIns="91440" tIns="45720" rIns="91440" bIns="45720" rtlCol="0" anchor="ctr">
            <a:noAutofit/>
          </a:bodyPr>
          <a:lstStyle/>
          <a:p>
            <a:br>
              <a:rPr lang="en-US" sz="3600" dirty="0">
                <a:latin typeface="Arial"/>
                <a:cs typeface="Arial"/>
              </a:rPr>
            </a:br>
            <a:br>
              <a:rPr lang="en-US" sz="3600" dirty="0">
                <a:latin typeface="Arial"/>
                <a:cs typeface="Arial"/>
              </a:rPr>
            </a:br>
            <a:r>
              <a:rPr lang="en-US" sz="3600" dirty="0">
                <a:latin typeface="Calibri"/>
                <a:cs typeface="Calibri Light"/>
              </a:rPr>
              <a:t>React </a:t>
            </a:r>
            <a:r>
              <a:rPr lang="en-US" sz="3600" dirty="0">
                <a:latin typeface="Calibri"/>
                <a:cs typeface="Calibri"/>
              </a:rPr>
              <a:t>Conditional</a:t>
            </a:r>
            <a:r>
              <a:rPr lang="en-US" sz="3600" dirty="0">
                <a:latin typeface="Calibri"/>
                <a:cs typeface="Calibri Light"/>
              </a:rPr>
              <a:t> Rendering</a:t>
            </a:r>
            <a:endParaRPr lang="en-US" sz="3600">
              <a:latin typeface="Calibri"/>
              <a:cs typeface="Calibri"/>
            </a:endParaRPr>
          </a:p>
          <a:p>
            <a:endParaRPr lang="en-US" sz="3600" dirty="0">
              <a:latin typeface="Arial"/>
              <a:cs typeface="Arial"/>
            </a:endParaRPr>
          </a:p>
          <a:p>
            <a:pPr>
              <a:spcBef>
                <a:spcPts val="1000"/>
              </a:spcBef>
            </a:pPr>
            <a:endParaRPr lang="en-US" sz="3600" dirty="0">
              <a:latin typeface="Arial"/>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838200" y="1929384"/>
            <a:ext cx="10515600" cy="4251960"/>
          </a:xfrm>
        </p:spPr>
        <p:txBody>
          <a:bodyPr vert="horz" lIns="91440" tIns="45720" rIns="91440" bIns="45720" rtlCol="0" anchor="t">
            <a:normAutofit/>
          </a:bodyPr>
          <a:lstStyle/>
          <a:p>
            <a:pPr lvl="1">
              <a:buNone/>
            </a:pPr>
            <a:r>
              <a:rPr lang="en-US" sz="1600" dirty="0">
                <a:ea typeface="+mn-lt"/>
                <a:cs typeface="+mn-lt"/>
              </a:rPr>
              <a:t>In React, components can we render conditionally.</a:t>
            </a:r>
            <a:endParaRPr lang="en-US" sz="1600" dirty="0">
              <a:cs typeface="Calibri"/>
            </a:endParaRPr>
          </a:p>
          <a:p>
            <a:pPr marL="457200" lvl="1" indent="0">
              <a:buNone/>
            </a:pPr>
            <a:r>
              <a:rPr lang="en-US" sz="1600" dirty="0">
                <a:ea typeface="+mn-lt"/>
                <a:cs typeface="+mn-lt"/>
              </a:rPr>
              <a:t>Following are the ways to use component rendering conditionally with example.</a:t>
            </a:r>
          </a:p>
          <a:p>
            <a:pPr marL="800100" lvl="1" indent="-342900">
              <a:buAutoNum type="arabicPeriod"/>
            </a:pPr>
            <a:r>
              <a:rPr lang="en-US" sz="1600" dirty="0">
                <a:ea typeface="+mn-lt"/>
                <a:cs typeface="+mn-lt"/>
              </a:rPr>
              <a:t>if Statement</a:t>
            </a:r>
          </a:p>
          <a:p>
            <a:pPr marL="457200" lvl="1" indent="0">
              <a:buNone/>
            </a:pPr>
            <a:r>
              <a:rPr lang="en-US" sz="1600" b="1" dirty="0">
                <a:ea typeface="+mn-lt"/>
                <a:cs typeface="+mn-lt"/>
              </a:rPr>
              <a:t>Examples: </a:t>
            </a:r>
          </a:p>
          <a:p>
            <a:pPr marL="457200" lvl="1" indent="0">
              <a:buNone/>
            </a:pPr>
            <a:r>
              <a:rPr lang="en-US" sz="1600" dirty="0">
                <a:ea typeface="+mn-lt"/>
                <a:cs typeface="+mn-lt"/>
              </a:rPr>
              <a:t>function </a:t>
            </a:r>
            <a:r>
              <a:rPr lang="en-US" sz="1600" dirty="0" err="1">
                <a:ea typeface="+mn-lt"/>
                <a:cs typeface="+mn-lt"/>
              </a:rPr>
              <a:t>MissedGoal</a:t>
            </a:r>
            <a:r>
              <a:rPr lang="en-US" sz="1600" dirty="0">
                <a:ea typeface="+mn-lt"/>
                <a:cs typeface="+mn-lt"/>
              </a:rPr>
              <a:t>() {
  return &lt;h1&gt;MISSED!&lt;/h1&gt;;
}
function </a:t>
            </a:r>
            <a:r>
              <a:rPr lang="en-US" sz="1600" dirty="0" err="1">
                <a:ea typeface="+mn-lt"/>
                <a:cs typeface="+mn-lt"/>
              </a:rPr>
              <a:t>MadeGoal</a:t>
            </a:r>
            <a:r>
              <a:rPr lang="en-US" sz="1600" dirty="0">
                <a:ea typeface="+mn-lt"/>
                <a:cs typeface="+mn-lt"/>
              </a:rPr>
              <a:t>() {
  return &lt;h1&gt;Goal!&lt;/h1&gt;;
}</a:t>
            </a:r>
          </a:p>
          <a:p>
            <a:pPr marL="457200" indent="0">
              <a:buNone/>
            </a:pPr>
            <a:br>
              <a:rPr lang="en-US" sz="1900" dirty="0"/>
            </a:br>
            <a:endParaRPr lang="en-US" sz="1900">
              <a:cs typeface="Calibri"/>
            </a:endParaRPr>
          </a:p>
          <a:p>
            <a:pPr marL="457200" lvl="2">
              <a:buNone/>
            </a:pPr>
            <a:endParaRPr lang="en-US" sz="1900">
              <a:latin typeface="Calibri"/>
              <a:cs typeface="Arial"/>
            </a:endParaRPr>
          </a:p>
          <a:p>
            <a:pPr marL="800100" lvl="2" indent="-342900">
              <a:buAutoNum type="arabicPeriod"/>
            </a:pPr>
            <a:endParaRPr lang="en-US" sz="1900">
              <a:latin typeface="Calibri"/>
              <a:cs typeface="Arial"/>
            </a:endParaRPr>
          </a:p>
          <a:p>
            <a:pPr marL="0" indent="0">
              <a:buNone/>
            </a:pPr>
            <a:endParaRPr lang="en-US" sz="1900">
              <a:latin typeface="Arial"/>
              <a:cs typeface="Arial"/>
            </a:endParaRPr>
          </a:p>
          <a:p>
            <a:endParaRPr lang="en-US" sz="1900">
              <a:latin typeface="Arial"/>
              <a:cs typeface="Calibri"/>
            </a:endParaRPr>
          </a:p>
        </p:txBody>
      </p:sp>
    </p:spTree>
    <p:extLst>
      <p:ext uri="{BB962C8B-B14F-4D97-AF65-F5344CB8AC3E}">
        <p14:creationId xmlns:p14="http://schemas.microsoft.com/office/powerpoint/2010/main" val="4278285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9484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a:lnSpc>
                <a:spcPct val="90000"/>
              </a:lnSpc>
              <a:spcBef>
                <a:spcPts val="500"/>
              </a:spcBef>
            </a:pPr>
            <a:r>
              <a:rPr lang="en-US" sz="1600" dirty="0">
                <a:solidFill>
                  <a:schemeClr val="accent1"/>
                </a:solidFill>
                <a:ea typeface="+mn-lt"/>
                <a:cs typeface="+mn-lt"/>
              </a:rPr>
              <a:t>function Goal(props) {
  const </a:t>
            </a:r>
            <a:r>
              <a:rPr lang="en-US" sz="1600" dirty="0" err="1">
                <a:solidFill>
                  <a:schemeClr val="accent1"/>
                </a:solidFill>
                <a:ea typeface="+mn-lt"/>
                <a:cs typeface="+mn-lt"/>
              </a:rPr>
              <a:t>isGoal</a:t>
            </a:r>
            <a:r>
              <a:rPr lang="en-US" sz="1600" dirty="0">
                <a:solidFill>
                  <a:schemeClr val="accent1"/>
                </a:solidFill>
                <a:ea typeface="+mn-lt"/>
                <a:cs typeface="+mn-lt"/>
              </a:rPr>
              <a:t> = </a:t>
            </a:r>
            <a:r>
              <a:rPr lang="en-US" sz="1600" dirty="0" err="1">
                <a:solidFill>
                  <a:schemeClr val="accent1"/>
                </a:solidFill>
                <a:ea typeface="+mn-lt"/>
                <a:cs typeface="+mn-lt"/>
              </a:rPr>
              <a:t>props.isGoal</a:t>
            </a:r>
            <a:r>
              <a:rPr lang="en-US" sz="1600" dirty="0">
                <a:solidFill>
                  <a:schemeClr val="accent1"/>
                </a:solidFill>
                <a:ea typeface="+mn-lt"/>
                <a:cs typeface="+mn-lt"/>
              </a:rPr>
              <a:t>;
  if (</a:t>
            </a:r>
            <a:r>
              <a:rPr lang="en-US" sz="1600" dirty="0" err="1">
                <a:solidFill>
                  <a:schemeClr val="accent1"/>
                </a:solidFill>
                <a:ea typeface="+mn-lt"/>
                <a:cs typeface="+mn-lt"/>
              </a:rPr>
              <a:t>isGoal</a:t>
            </a:r>
            <a:r>
              <a:rPr lang="en-US" sz="1600" dirty="0">
                <a:solidFill>
                  <a:schemeClr val="accent1"/>
                </a:solidFill>
                <a:ea typeface="+mn-lt"/>
                <a:cs typeface="+mn-lt"/>
              </a:rPr>
              <a:t>) {
    return &lt;</a:t>
            </a:r>
            <a:r>
              <a:rPr lang="en-US" sz="1600" dirty="0" err="1">
                <a:solidFill>
                  <a:schemeClr val="accent1"/>
                </a:solidFill>
                <a:ea typeface="+mn-lt"/>
                <a:cs typeface="+mn-lt"/>
              </a:rPr>
              <a:t>MadeGoal</a:t>
            </a:r>
            <a:r>
              <a:rPr lang="en-US" sz="1600" dirty="0">
                <a:solidFill>
                  <a:schemeClr val="accent1"/>
                </a:solidFill>
                <a:ea typeface="+mn-lt"/>
                <a:cs typeface="+mn-lt"/>
              </a:rPr>
              <a:t>/&gt;;
  }
  return &lt;</a:t>
            </a:r>
            <a:r>
              <a:rPr lang="en-US" sz="1600" dirty="0" err="1">
                <a:solidFill>
                  <a:schemeClr val="accent1"/>
                </a:solidFill>
                <a:ea typeface="+mn-lt"/>
                <a:cs typeface="+mn-lt"/>
              </a:rPr>
              <a:t>MissedGoal</a:t>
            </a:r>
            <a:r>
              <a:rPr lang="en-US" sz="1600" dirty="0">
                <a:solidFill>
                  <a:schemeClr val="accent1"/>
                </a:solidFill>
                <a:ea typeface="+mn-lt"/>
                <a:cs typeface="+mn-lt"/>
              </a:rPr>
              <a:t>/&gt;;
}</a:t>
            </a:r>
          </a:p>
          <a:p>
            <a:pPr marL="457200">
              <a:lnSpc>
                <a:spcPct val="90000"/>
              </a:lnSpc>
              <a:spcBef>
                <a:spcPts val="500"/>
              </a:spcBef>
            </a:pPr>
            <a:r>
              <a:rPr lang="en-US" sz="1600" dirty="0">
                <a:solidFill>
                  <a:schemeClr val="accent1"/>
                </a:solidFill>
                <a:ea typeface="+mn-lt"/>
                <a:cs typeface="+mn-lt"/>
              </a:rPr>
              <a:t>______________________</a:t>
            </a:r>
          </a:p>
          <a:p>
            <a:pPr marL="457200">
              <a:lnSpc>
                <a:spcPct val="90000"/>
              </a:lnSpc>
              <a:spcBef>
                <a:spcPts val="500"/>
              </a:spcBef>
            </a:pPr>
            <a:r>
              <a:rPr lang="en-US" sz="1600" dirty="0">
                <a:solidFill>
                  <a:schemeClr val="accent1"/>
                </a:solidFill>
                <a:ea typeface="+mn-lt"/>
                <a:cs typeface="+mn-lt"/>
              </a:rPr>
              <a:t>&lt;Goal </a:t>
            </a:r>
            <a:r>
              <a:rPr lang="en-US" sz="1600" dirty="0" err="1">
                <a:solidFill>
                  <a:schemeClr val="accent1"/>
                </a:solidFill>
                <a:ea typeface="+mn-lt"/>
                <a:cs typeface="+mn-lt"/>
              </a:rPr>
              <a:t>isGoal</a:t>
            </a:r>
            <a:r>
              <a:rPr lang="en-US" sz="1600" dirty="0">
                <a:solidFill>
                  <a:schemeClr val="accent1"/>
                </a:solidFill>
                <a:ea typeface="+mn-lt"/>
                <a:cs typeface="+mn-lt"/>
              </a:rPr>
              <a:t>={false} /&gt;</a:t>
            </a:r>
          </a:p>
          <a:p>
            <a:pPr marL="457200">
              <a:lnSpc>
                <a:spcPct val="90000"/>
              </a:lnSpc>
              <a:spcBef>
                <a:spcPts val="500"/>
              </a:spcBef>
            </a:pPr>
            <a:endParaRPr lang="en-US" sz="1600" dirty="0">
              <a:ea typeface="+mn-lt"/>
              <a:cs typeface="+mn-lt"/>
            </a:endParaRPr>
          </a:p>
          <a:p>
            <a:pPr lvl="1">
              <a:lnSpc>
                <a:spcPct val="90000"/>
              </a:lnSpc>
              <a:spcBef>
                <a:spcPts val="500"/>
              </a:spcBef>
            </a:pPr>
            <a:r>
              <a:rPr lang="en-US" sz="1600" dirty="0">
                <a:latin typeface="Calibri"/>
                <a:ea typeface="+mn-lt"/>
                <a:cs typeface="Arial"/>
              </a:rPr>
              <a:t>2. Logical &amp;&amp; Operator</a:t>
            </a:r>
          </a:p>
          <a:p>
            <a:pPr lvl="1"/>
            <a:r>
              <a:rPr lang="en-US" sz="1600" b="1" dirty="0">
                <a:ea typeface="+mn-lt"/>
                <a:cs typeface="+mn-lt"/>
              </a:rPr>
              <a:t>Examples: </a:t>
            </a:r>
          </a:p>
          <a:p>
            <a:pPr lvl="1">
              <a:lnSpc>
                <a:spcPct val="90000"/>
              </a:lnSpc>
              <a:spcBef>
                <a:spcPts val="500"/>
              </a:spcBef>
            </a:pPr>
            <a:r>
              <a:rPr lang="en-US" sz="1600" dirty="0">
                <a:ea typeface="+mn-lt"/>
                <a:cs typeface="+mn-lt"/>
              </a:rPr>
              <a:t>We can embed JavaScript expressions in JSX by using curly braces:</a:t>
            </a:r>
            <a:endParaRPr lang="en-US" sz="1600">
              <a:cs typeface="Calibri"/>
            </a:endParaRPr>
          </a:p>
          <a:p>
            <a:pPr lvl="1">
              <a:lnSpc>
                <a:spcPct val="90000"/>
              </a:lnSpc>
              <a:spcBef>
                <a:spcPts val="500"/>
              </a:spcBef>
            </a:pPr>
            <a:r>
              <a:rPr lang="en-US" sz="1600" dirty="0">
                <a:solidFill>
                  <a:schemeClr val="accent1"/>
                </a:solidFill>
                <a:ea typeface="+mn-lt"/>
                <a:cs typeface="+mn-lt"/>
              </a:rPr>
              <a:t>function Garage(props) {
  const cars = </a:t>
            </a:r>
            <a:r>
              <a:rPr lang="en-US" sz="1600" dirty="0" err="1">
                <a:solidFill>
                  <a:schemeClr val="accent1"/>
                </a:solidFill>
                <a:ea typeface="+mn-lt"/>
                <a:cs typeface="+mn-lt"/>
              </a:rPr>
              <a:t>props.cars</a:t>
            </a:r>
            <a:r>
              <a:rPr lang="en-US" sz="1600" dirty="0">
                <a:solidFill>
                  <a:schemeClr val="accent1"/>
                </a:solidFill>
                <a:ea typeface="+mn-lt"/>
                <a:cs typeface="+mn-lt"/>
              </a:rPr>
              <a:t>;
  return (
    &lt;&gt;
      &lt;h1&gt;Garage&lt;/h1&gt;
      {</a:t>
            </a:r>
            <a:r>
              <a:rPr lang="en-US" sz="1600" dirty="0" err="1">
                <a:solidFill>
                  <a:schemeClr val="accent1"/>
                </a:solidFill>
                <a:ea typeface="+mn-lt"/>
                <a:cs typeface="+mn-lt"/>
              </a:rPr>
              <a:t>cars.length</a:t>
            </a:r>
            <a:r>
              <a:rPr lang="en-US" sz="1600" dirty="0">
                <a:solidFill>
                  <a:schemeClr val="accent1"/>
                </a:solidFill>
                <a:ea typeface="+mn-lt"/>
                <a:cs typeface="+mn-lt"/>
              </a:rPr>
              <a:t> &gt; 0 &amp;&amp;
        &lt;h2&gt;
          You have {</a:t>
            </a:r>
            <a:r>
              <a:rPr lang="en-US" sz="1600" dirty="0" err="1">
                <a:solidFill>
                  <a:schemeClr val="accent1"/>
                </a:solidFill>
                <a:ea typeface="+mn-lt"/>
                <a:cs typeface="+mn-lt"/>
              </a:rPr>
              <a:t>cars.length</a:t>
            </a:r>
            <a:r>
              <a:rPr lang="en-US" sz="1600" dirty="0">
                <a:solidFill>
                  <a:schemeClr val="accent1"/>
                </a:solidFill>
                <a:ea typeface="+mn-lt"/>
                <a:cs typeface="+mn-lt"/>
              </a:rPr>
              <a:t>} cars in your garage.
        &lt;/h2&gt;
      }
    &lt;/&gt;
  );
}</a:t>
            </a:r>
            <a:r>
              <a:rPr lang="en-US" sz="1600" dirty="0">
                <a:solidFill>
                  <a:srgbClr val="0077AA"/>
                </a:solidFill>
                <a:ea typeface="+mn-lt"/>
                <a:cs typeface="+mn-lt"/>
              </a:rPr>
              <a:t>
</a:t>
            </a:r>
            <a:br>
              <a:rPr lang="en-US" sz="1400" dirty="0">
                <a:ea typeface="+mn-lt"/>
                <a:cs typeface="+mn-lt"/>
              </a:rPr>
            </a:br>
            <a:br>
              <a:rPr lang="en-US" sz="1100" dirty="0">
                <a:ea typeface="+mn-lt"/>
                <a:cs typeface="+mn-lt"/>
              </a:rPr>
            </a:br>
            <a:endParaRPr lang="en-US" sz="1100">
              <a:ea typeface="+mn-lt"/>
              <a:cs typeface="+mn-lt"/>
            </a:endParaRPr>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Calibri"/>
              <a:cs typeface="Arial"/>
            </a:endParaRPr>
          </a:p>
        </p:txBody>
      </p:sp>
    </p:spTree>
    <p:extLst>
      <p:ext uri="{BB962C8B-B14F-4D97-AF65-F5344CB8AC3E}">
        <p14:creationId xmlns:p14="http://schemas.microsoft.com/office/powerpoint/2010/main" val="4109391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60006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nSpc>
                <a:spcPct val="90000"/>
              </a:lnSpc>
              <a:spcBef>
                <a:spcPts val="500"/>
              </a:spcBef>
            </a:pPr>
            <a:r>
              <a:rPr lang="en-US" sz="1600" dirty="0">
                <a:solidFill>
                  <a:srgbClr val="0077AA"/>
                </a:solidFill>
                <a:ea typeface="+mn-lt"/>
                <a:cs typeface="+mn-lt"/>
              </a:rPr>
              <a:t>const cars = ['Ford', 'BMW', 'Audi'];</a:t>
            </a:r>
          </a:p>
          <a:p>
            <a:pPr lvl="1">
              <a:lnSpc>
                <a:spcPct val="90000"/>
              </a:lnSpc>
              <a:spcBef>
                <a:spcPts val="500"/>
              </a:spcBef>
            </a:pPr>
            <a:r>
              <a:rPr lang="en-US" sz="1600" dirty="0">
                <a:solidFill>
                  <a:srgbClr val="0077AA"/>
                </a:solidFill>
                <a:ea typeface="+mn-lt"/>
                <a:cs typeface="+mn-lt"/>
              </a:rPr>
              <a:t>&lt;Garage cars={cars} /&gt;</a:t>
            </a:r>
            <a:endParaRPr lang="en-US" sz="1600" dirty="0">
              <a:cs typeface="Calibri"/>
            </a:endParaRPr>
          </a:p>
          <a:p>
            <a:pPr lvl="1">
              <a:lnSpc>
                <a:spcPct val="90000"/>
              </a:lnSpc>
              <a:spcBef>
                <a:spcPts val="500"/>
              </a:spcBef>
            </a:pPr>
            <a:endParaRPr lang="en-US" sz="1600" dirty="0">
              <a:solidFill>
                <a:srgbClr val="0077AA"/>
              </a:solidFill>
              <a:latin typeface="Calibri"/>
              <a:ea typeface="+mn-lt"/>
              <a:cs typeface="Arial"/>
            </a:endParaRPr>
          </a:p>
          <a:p>
            <a:pPr lvl="1">
              <a:lnSpc>
                <a:spcPct val="90000"/>
              </a:lnSpc>
              <a:spcBef>
                <a:spcPts val="500"/>
              </a:spcBef>
            </a:pPr>
            <a:r>
              <a:rPr lang="en-US" sz="1600" dirty="0">
                <a:latin typeface="Calibri"/>
                <a:ea typeface="+mn-lt"/>
                <a:cs typeface="Arial"/>
              </a:rPr>
              <a:t>3. Ternary Operator</a:t>
            </a:r>
            <a:endParaRPr lang="en-US" sz="1600" dirty="0">
              <a:latin typeface="Calibri"/>
              <a:cs typeface="Calibri"/>
            </a:endParaRPr>
          </a:p>
          <a:p>
            <a:pPr lvl="1"/>
            <a:r>
              <a:rPr lang="en-US" sz="1600" dirty="0">
                <a:ea typeface="+mn-lt"/>
                <a:cs typeface="+mn-lt"/>
              </a:rPr>
              <a:t>Examples:</a:t>
            </a:r>
            <a:r>
              <a:rPr lang="en-US" sz="1600" dirty="0">
                <a:solidFill>
                  <a:srgbClr val="0077AA"/>
                </a:solidFill>
                <a:ea typeface="+mn-lt"/>
                <a:cs typeface="+mn-lt"/>
              </a:rPr>
              <a:t> </a:t>
            </a:r>
          </a:p>
          <a:p>
            <a:pPr lvl="1">
              <a:lnSpc>
                <a:spcPct val="90000"/>
              </a:lnSpc>
              <a:spcBef>
                <a:spcPts val="500"/>
              </a:spcBef>
            </a:pPr>
            <a:r>
              <a:rPr lang="en-US" sz="1600" dirty="0">
                <a:solidFill>
                  <a:srgbClr val="0077AA"/>
                </a:solidFill>
                <a:ea typeface="+mn-lt"/>
                <a:cs typeface="+mn-lt"/>
              </a:rPr>
              <a:t>condition ? true : false</a:t>
            </a:r>
            <a:endParaRPr lang="en-US" sz="1600" dirty="0">
              <a:cs typeface="Calibri"/>
            </a:endParaRPr>
          </a:p>
          <a:p>
            <a:pPr lvl="1">
              <a:lnSpc>
                <a:spcPct val="90000"/>
              </a:lnSpc>
              <a:spcBef>
                <a:spcPts val="500"/>
              </a:spcBef>
            </a:pPr>
            <a:r>
              <a:rPr lang="en-US" sz="1600" dirty="0">
                <a:solidFill>
                  <a:srgbClr val="0077AA"/>
                </a:solidFill>
                <a:ea typeface="+mn-lt"/>
                <a:cs typeface="+mn-lt"/>
              </a:rPr>
              <a:t>function Goal(props) {
  const </a:t>
            </a:r>
            <a:r>
              <a:rPr lang="en-US" sz="1600" dirty="0" err="1">
                <a:solidFill>
                  <a:srgbClr val="0077AA"/>
                </a:solidFill>
                <a:ea typeface="+mn-lt"/>
                <a:cs typeface="+mn-lt"/>
              </a:rPr>
              <a:t>isGoal</a:t>
            </a:r>
            <a:r>
              <a:rPr lang="en-US" sz="1600" dirty="0">
                <a:solidFill>
                  <a:srgbClr val="0077AA"/>
                </a:solidFill>
                <a:ea typeface="+mn-lt"/>
                <a:cs typeface="+mn-lt"/>
              </a:rPr>
              <a:t> = </a:t>
            </a:r>
            <a:r>
              <a:rPr lang="en-US" sz="1600" dirty="0" err="1">
                <a:solidFill>
                  <a:srgbClr val="0077AA"/>
                </a:solidFill>
                <a:ea typeface="+mn-lt"/>
                <a:cs typeface="+mn-lt"/>
              </a:rPr>
              <a:t>props.isGoal</a:t>
            </a:r>
            <a:r>
              <a:rPr lang="en-US" sz="1600" dirty="0">
                <a:solidFill>
                  <a:srgbClr val="0077AA"/>
                </a:solidFill>
                <a:ea typeface="+mn-lt"/>
                <a:cs typeface="+mn-lt"/>
              </a:rPr>
              <a:t>;
  return (
    &lt;&gt;
      { </a:t>
            </a:r>
            <a:r>
              <a:rPr lang="en-US" sz="1600" dirty="0" err="1">
                <a:solidFill>
                  <a:srgbClr val="0077AA"/>
                </a:solidFill>
                <a:ea typeface="+mn-lt"/>
                <a:cs typeface="+mn-lt"/>
              </a:rPr>
              <a:t>isGoal</a:t>
            </a:r>
            <a:r>
              <a:rPr lang="en-US" sz="1600" dirty="0">
                <a:solidFill>
                  <a:srgbClr val="0077AA"/>
                </a:solidFill>
                <a:ea typeface="+mn-lt"/>
                <a:cs typeface="+mn-lt"/>
              </a:rPr>
              <a:t> ? &lt;</a:t>
            </a:r>
            <a:r>
              <a:rPr lang="en-US" sz="1600" dirty="0" err="1">
                <a:solidFill>
                  <a:srgbClr val="0077AA"/>
                </a:solidFill>
                <a:ea typeface="+mn-lt"/>
                <a:cs typeface="+mn-lt"/>
              </a:rPr>
              <a:t>MadeGoal</a:t>
            </a:r>
            <a:r>
              <a:rPr lang="en-US" sz="1600" dirty="0">
                <a:solidFill>
                  <a:srgbClr val="0077AA"/>
                </a:solidFill>
                <a:ea typeface="+mn-lt"/>
                <a:cs typeface="+mn-lt"/>
              </a:rPr>
              <a:t>/&gt; : &lt;</a:t>
            </a:r>
            <a:r>
              <a:rPr lang="en-US" sz="1600" dirty="0" err="1">
                <a:solidFill>
                  <a:srgbClr val="0077AA"/>
                </a:solidFill>
                <a:ea typeface="+mn-lt"/>
                <a:cs typeface="+mn-lt"/>
              </a:rPr>
              <a:t>MissedGoal</a:t>
            </a:r>
            <a:r>
              <a:rPr lang="en-US" sz="1600" dirty="0">
                <a:solidFill>
                  <a:srgbClr val="0077AA"/>
                </a:solidFill>
                <a:ea typeface="+mn-lt"/>
                <a:cs typeface="+mn-lt"/>
              </a:rPr>
              <a:t>/&gt; }
    &lt;/&gt;
  );
}</a:t>
            </a:r>
            <a:endParaRPr lang="en-US" sz="1600">
              <a:cs typeface="Calibri"/>
            </a:endParaRPr>
          </a:p>
          <a:p>
            <a:pPr lvl="1">
              <a:lnSpc>
                <a:spcPct val="90000"/>
              </a:lnSpc>
              <a:spcBef>
                <a:spcPts val="500"/>
              </a:spcBef>
            </a:pPr>
            <a:r>
              <a:rPr lang="en-US" sz="1600" dirty="0">
                <a:solidFill>
                  <a:srgbClr val="0077AA"/>
                </a:solidFill>
                <a:ea typeface="+mn-lt"/>
                <a:cs typeface="+mn-lt"/>
              </a:rPr>
              <a:t>&lt;Goal </a:t>
            </a:r>
            <a:r>
              <a:rPr lang="en-US" sz="1600" dirty="0" err="1">
                <a:solidFill>
                  <a:srgbClr val="0077AA"/>
                </a:solidFill>
                <a:ea typeface="+mn-lt"/>
                <a:cs typeface="+mn-lt"/>
              </a:rPr>
              <a:t>isGoal</a:t>
            </a:r>
            <a:r>
              <a:rPr lang="en-US" sz="1600" dirty="0">
                <a:solidFill>
                  <a:srgbClr val="0077AA"/>
                </a:solidFill>
                <a:ea typeface="+mn-lt"/>
                <a:cs typeface="+mn-lt"/>
              </a:rPr>
              <a:t>={false} /&gt;</a:t>
            </a:r>
            <a:endParaRPr lang="en-US" sz="1600" dirty="0"/>
          </a:p>
          <a:p>
            <a:pPr marL="914400" lvl="1" indent="-457200">
              <a:lnSpc>
                <a:spcPct val="90000"/>
              </a:lnSpc>
              <a:spcBef>
                <a:spcPts val="500"/>
              </a:spcBef>
              <a:buAutoNum type="arabicPeriod"/>
            </a:pPr>
            <a:endParaRPr lang="en-US" sz="1400" dirty="0">
              <a:solidFill>
                <a:srgbClr val="0077AA"/>
              </a:solidFill>
              <a:latin typeface="Arial"/>
              <a:ea typeface="+mn-lt"/>
              <a:cs typeface="Arial"/>
            </a:endParaRPr>
          </a:p>
          <a:p>
            <a:pPr marL="457200">
              <a:lnSpc>
                <a:spcPct val="90000"/>
              </a:lnSpc>
              <a:spcBef>
                <a:spcPts val="500"/>
              </a:spcBef>
            </a:pPr>
            <a:br>
              <a:rPr lang="en-US" sz="1400" dirty="0">
                <a:ea typeface="+mn-lt"/>
                <a:cs typeface="+mn-lt"/>
              </a:rPr>
            </a:br>
            <a:br>
              <a:rPr lang="en-US" sz="1100" dirty="0">
                <a:solidFill>
                  <a:srgbClr val="000000"/>
                </a:solidFill>
                <a:ea typeface="+mn-lt"/>
                <a:cs typeface="+mn-lt"/>
              </a:rPr>
            </a:br>
            <a:endParaRPr lang="en-US" sz="1100">
              <a:ea typeface="+mn-lt"/>
              <a:cs typeface="+mn-lt"/>
            </a:endParaRPr>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Arial"/>
              <a:cs typeface="Arial"/>
            </a:endParaRPr>
          </a:p>
        </p:txBody>
      </p:sp>
    </p:spTree>
    <p:extLst>
      <p:ext uri="{BB962C8B-B14F-4D97-AF65-F5344CB8AC3E}">
        <p14:creationId xmlns:p14="http://schemas.microsoft.com/office/powerpoint/2010/main" val="754307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vert="horz" lIns="91440" tIns="45720" rIns="91440" bIns="45720" rtlCol="0" anchor="ctr">
            <a:normAutofit/>
          </a:bodyPr>
          <a:lstStyle/>
          <a:p>
            <a:br>
              <a:rPr lang="en-US" sz="3600" kern="1200" dirty="0">
                <a:latin typeface="Calibri"/>
              </a:rPr>
            </a:br>
            <a:r>
              <a:rPr lang="en-US" sz="3600" kern="1200" dirty="0">
                <a:latin typeface="Calibri"/>
                <a:cs typeface="Calibri"/>
              </a:rPr>
              <a:t>React lists</a:t>
            </a:r>
          </a:p>
          <a:p>
            <a:endParaRPr lang="en-US" sz="3600" kern="1200" dirty="0">
              <a:latin typeface="Calibri"/>
              <a:cs typeface="Calibri"/>
            </a:endParaRPr>
          </a:p>
        </p:txBody>
      </p:sp>
      <p:sp>
        <p:nvSpPr>
          <p:cNvPr id="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5D9D69-A6F3-1242-4A02-A87254BCE93A}"/>
              </a:ext>
            </a:extLst>
          </p:cNvPr>
          <p:cNvSpPr>
            <a:spLocks noGrp="1"/>
          </p:cNvSpPr>
          <p:nvPr>
            <p:ph idx="4294967295"/>
          </p:nvPr>
        </p:nvSpPr>
        <p:spPr>
          <a:xfrm>
            <a:off x="838200" y="1929384"/>
            <a:ext cx="10515600" cy="4251960"/>
          </a:xfrm>
        </p:spPr>
        <p:txBody>
          <a:bodyPr vert="horz" lIns="91440" tIns="45720" rIns="91440" bIns="45720" rtlCol="0">
            <a:normAutofit/>
          </a:bodyPr>
          <a:lstStyle/>
          <a:p>
            <a:pPr marL="0"/>
            <a:r>
              <a:rPr lang="en-US" sz="1500"/>
              <a:t>In React, you will render lists with some type of loop.</a:t>
            </a:r>
          </a:p>
          <a:p>
            <a:pPr marL="457200" lvl="1"/>
            <a:r>
              <a:rPr lang="en-US" sz="1500"/>
              <a:t>The JavaScript map() array method is generally the preferred method.</a:t>
            </a:r>
          </a:p>
          <a:p>
            <a:pPr marL="0"/>
            <a:r>
              <a:rPr lang="en-US" sz="1500"/>
              <a:t>Example 1 : if Statement</a:t>
            </a:r>
          </a:p>
          <a:p>
            <a:pPr marL="457200" lvl="1"/>
            <a:r>
              <a:rPr lang="en-US" sz="1500" dirty="0"/>
              <a:t>function Container(props) {</a:t>
            </a:r>
            <a:br>
              <a:rPr lang="en-US" sz="1500"/>
            </a:br>
            <a:r>
              <a:rPr lang="en-US" sz="1500" dirty="0"/>
              <a:t>  return &lt;li&gt;I am a { </a:t>
            </a:r>
            <a:r>
              <a:rPr lang="en-US" sz="1500" dirty="0" err="1"/>
              <a:t>props.brand</a:t>
            </a:r>
            <a:r>
              <a:rPr lang="en-US" sz="1500" dirty="0"/>
              <a:t> }&lt;/li&gt;;</a:t>
            </a:r>
            <a:br>
              <a:rPr lang="en-US" sz="1500"/>
            </a:br>
            <a:r>
              <a:rPr lang="en-US" sz="1500" dirty="0"/>
              <a:t>}</a:t>
            </a:r>
          </a:p>
          <a:p>
            <a:pPr marL="457200" lvl="1"/>
            <a:r>
              <a:rPr lang="en-US" sz="1500" dirty="0"/>
              <a:t>function Alphabet() {</a:t>
            </a:r>
            <a:br>
              <a:rPr lang="en-US" sz="1500"/>
            </a:br>
            <a:r>
              <a:rPr lang="en-US" sz="1500" dirty="0"/>
              <a:t>  const letters= ['A', 'B', 'C'];</a:t>
            </a:r>
            <a:br>
              <a:rPr lang="en-US" sz="1500"/>
            </a:br>
            <a:r>
              <a:rPr lang="en-US" sz="1500" dirty="0"/>
              <a:t>  return (</a:t>
            </a:r>
            <a:br>
              <a:rPr lang="en-US" sz="1500"/>
            </a:br>
            <a:r>
              <a:rPr lang="en-US" sz="1500" dirty="0"/>
              <a:t>    &lt;&gt;</a:t>
            </a:r>
            <a:br>
              <a:rPr lang="en-US" sz="1500"/>
            </a:br>
            <a:r>
              <a:rPr lang="en-US" sz="1500" dirty="0"/>
              <a:t>      &lt;h1&gt;Who lives in my garage?&lt;/h1&gt;</a:t>
            </a:r>
            <a:br>
              <a:rPr lang="en-US" sz="1500"/>
            </a:br>
            <a:r>
              <a:rPr lang="en-US" sz="1500" dirty="0"/>
              <a:t>      &lt;</a:t>
            </a:r>
            <a:r>
              <a:rPr lang="en-US" sz="1500" dirty="0" err="1"/>
              <a:t>ul</a:t>
            </a:r>
            <a:r>
              <a:rPr lang="en-US" sz="1500" dirty="0"/>
              <a:t>&gt;</a:t>
            </a:r>
            <a:br>
              <a:rPr lang="en-US" sz="1500"/>
            </a:br>
            <a:r>
              <a:rPr lang="en-US" sz="1500" dirty="0"/>
              <a:t>        {</a:t>
            </a:r>
            <a:r>
              <a:rPr lang="en-US" sz="1500" dirty="0" err="1"/>
              <a:t>letters.map</a:t>
            </a:r>
            <a:r>
              <a:rPr lang="en-US" sz="1500" dirty="0"/>
              <a:t>((alpha) =&gt; &lt;Container brand={alpha} /&gt;)}</a:t>
            </a:r>
            <a:br>
              <a:rPr lang="en-US" sz="1500"/>
            </a:br>
            <a:r>
              <a:rPr lang="en-US" sz="1500" dirty="0"/>
              <a:t>      &lt;/</a:t>
            </a:r>
            <a:r>
              <a:rPr lang="en-US" sz="1500" dirty="0" err="1"/>
              <a:t>ul</a:t>
            </a:r>
            <a:r>
              <a:rPr lang="en-US" sz="1500" dirty="0"/>
              <a:t>&gt;</a:t>
            </a:r>
            <a:br>
              <a:rPr lang="en-US" sz="1500"/>
            </a:br>
            <a:r>
              <a:rPr lang="en-US" sz="1500" dirty="0"/>
              <a:t>    &lt;/&gt;</a:t>
            </a:r>
            <a:br>
              <a:rPr lang="en-US" sz="1500"/>
            </a:br>
            <a:r>
              <a:rPr lang="en-US" sz="1500" dirty="0"/>
              <a:t>  );</a:t>
            </a:r>
            <a:br>
              <a:rPr lang="en-US" sz="1500"/>
            </a:br>
            <a:r>
              <a:rPr lang="en-US" sz="1500" dirty="0"/>
              <a:t>}</a:t>
            </a:r>
          </a:p>
          <a:p>
            <a:pPr marL="457200" lvl="1"/>
            <a:endParaRPr lang="en-US" sz="1500"/>
          </a:p>
          <a:p>
            <a:pPr marL="0"/>
            <a:endParaRPr lang="en-US" sz="1500"/>
          </a:p>
        </p:txBody>
      </p:sp>
    </p:spTree>
    <p:extLst>
      <p:ext uri="{BB962C8B-B14F-4D97-AF65-F5344CB8AC3E}">
        <p14:creationId xmlns:p14="http://schemas.microsoft.com/office/powerpoint/2010/main" val="1570657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72445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nSpc>
                <a:spcPct val="90000"/>
              </a:lnSpc>
              <a:spcBef>
                <a:spcPts val="500"/>
              </a:spcBef>
            </a:pPr>
            <a:r>
              <a:rPr lang="en-US" sz="1400" b="1" dirty="0">
                <a:latin typeface="Calibri"/>
                <a:ea typeface="+mn-lt"/>
                <a:cs typeface="Arial"/>
              </a:rPr>
              <a:t>Keys</a:t>
            </a:r>
            <a:endParaRPr lang="en-US" sz="1400" b="1">
              <a:latin typeface="Calibri"/>
              <a:cs typeface="Calibri"/>
            </a:endParaRPr>
          </a:p>
          <a:p>
            <a:pPr lvl="1"/>
            <a:r>
              <a:rPr lang="en-US" sz="1400" dirty="0">
                <a:ea typeface="+mn-lt"/>
                <a:cs typeface="+mn-lt"/>
              </a:rPr>
              <a:t>Keys allow React to keep track of elements. This way, if an item is updated or removed, only that item will be re-rendered instead of the entire list.</a:t>
            </a:r>
            <a:endParaRPr lang="en-US" sz="1400">
              <a:cs typeface="Calibri"/>
            </a:endParaRPr>
          </a:p>
          <a:p>
            <a:pPr lvl="1"/>
            <a:r>
              <a:rPr lang="en-US" sz="1400" dirty="0">
                <a:ea typeface="+mn-lt"/>
                <a:cs typeface="+mn-lt"/>
              </a:rPr>
              <a:t>Keys need to be unique to each sibling. But they can be duplicated globally.</a:t>
            </a:r>
          </a:p>
          <a:p>
            <a:pPr lvl="1"/>
            <a:r>
              <a:rPr lang="en-US" sz="1400" dirty="0"/>
              <a:t>Example:</a:t>
            </a:r>
            <a:endParaRPr lang="en-US" sz="1400" dirty="0">
              <a:cs typeface="Calibri"/>
            </a:endParaRPr>
          </a:p>
          <a:p>
            <a:pPr lvl="1"/>
            <a:r>
              <a:rPr lang="en-US" sz="1400" dirty="0">
                <a:solidFill>
                  <a:srgbClr val="0077AA"/>
                </a:solidFill>
                <a:ea typeface="+mn-lt"/>
                <a:cs typeface="+mn-lt"/>
              </a:rPr>
              <a:t>function</a:t>
            </a:r>
            <a:r>
              <a:rPr lang="en-US" sz="1400" dirty="0">
                <a:ea typeface="+mn-lt"/>
                <a:cs typeface="+mn-lt"/>
              </a:rPr>
              <a:t> </a:t>
            </a:r>
            <a:r>
              <a:rPr lang="en-US" sz="1400" dirty="0">
                <a:solidFill>
                  <a:srgbClr val="DD4A68"/>
                </a:solidFill>
                <a:ea typeface="+mn-lt"/>
                <a:cs typeface="+mn-lt"/>
              </a:rPr>
              <a:t>Car</a:t>
            </a:r>
            <a:r>
              <a:rPr lang="en-US" sz="1400" dirty="0">
                <a:solidFill>
                  <a:srgbClr val="999999"/>
                </a:solidFill>
                <a:ea typeface="+mn-lt"/>
                <a:cs typeface="+mn-lt"/>
              </a:rPr>
              <a:t>(</a:t>
            </a:r>
            <a:r>
              <a:rPr lang="en-US" sz="1400" dirty="0">
                <a:ea typeface="+mn-lt"/>
                <a:cs typeface="+mn-lt"/>
              </a:rPr>
              <a:t>props</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0077AA"/>
                </a:solidFill>
                <a:ea typeface="+mn-lt"/>
                <a:cs typeface="+mn-lt"/>
              </a:rPr>
              <a:t>return</a:t>
            </a:r>
            <a:r>
              <a:rPr lang="en-US" sz="1400" dirty="0">
                <a:ea typeface="+mn-lt"/>
                <a:cs typeface="+mn-lt"/>
              </a:rPr>
              <a:t> </a:t>
            </a:r>
            <a:r>
              <a:rPr lang="en-US" sz="1400" dirty="0">
                <a:solidFill>
                  <a:srgbClr val="999999"/>
                </a:solidFill>
                <a:ea typeface="+mn-lt"/>
                <a:cs typeface="+mn-lt"/>
              </a:rPr>
              <a:t>&lt;</a:t>
            </a:r>
            <a:r>
              <a:rPr lang="en-US" sz="1400" dirty="0">
                <a:solidFill>
                  <a:srgbClr val="990055"/>
                </a:solidFill>
                <a:ea typeface="+mn-lt"/>
                <a:cs typeface="+mn-lt"/>
              </a:rPr>
              <a:t>li</a:t>
            </a:r>
            <a:r>
              <a:rPr lang="en-US" sz="1400" dirty="0">
                <a:solidFill>
                  <a:srgbClr val="999999"/>
                </a:solidFill>
                <a:ea typeface="+mn-lt"/>
                <a:cs typeface="+mn-lt"/>
              </a:rPr>
              <a:t>&gt;</a:t>
            </a:r>
            <a:r>
              <a:rPr lang="en-US" sz="1400" dirty="0">
                <a:ea typeface="+mn-lt"/>
                <a:cs typeface="+mn-lt"/>
              </a:rPr>
              <a:t>I am a </a:t>
            </a:r>
            <a:r>
              <a:rPr lang="en-US" sz="1400" dirty="0">
                <a:solidFill>
                  <a:srgbClr val="999999"/>
                </a:solidFill>
                <a:ea typeface="+mn-lt"/>
                <a:cs typeface="+mn-lt"/>
              </a:rPr>
              <a:t>{</a:t>
            </a:r>
            <a:r>
              <a:rPr lang="en-US" sz="1400" dirty="0">
                <a:ea typeface="+mn-lt"/>
                <a:cs typeface="+mn-lt"/>
              </a:rPr>
              <a:t> </a:t>
            </a:r>
            <a:r>
              <a:rPr lang="en-US" sz="1400" dirty="0" err="1">
                <a:ea typeface="+mn-lt"/>
                <a:cs typeface="+mn-lt"/>
              </a:rPr>
              <a:t>props</a:t>
            </a:r>
            <a:r>
              <a:rPr lang="en-US" sz="1400" dirty="0" err="1">
                <a:solidFill>
                  <a:srgbClr val="999999"/>
                </a:solidFill>
                <a:ea typeface="+mn-lt"/>
                <a:cs typeface="+mn-lt"/>
              </a:rPr>
              <a:t>.</a:t>
            </a:r>
            <a:r>
              <a:rPr lang="en-US" sz="1400" dirty="0" err="1">
                <a:ea typeface="+mn-lt"/>
                <a:cs typeface="+mn-lt"/>
              </a:rPr>
              <a:t>brand</a:t>
            </a:r>
            <a:r>
              <a:rPr lang="en-US" sz="1400" dirty="0">
                <a:ea typeface="+mn-lt"/>
                <a:cs typeface="+mn-lt"/>
              </a:rPr>
              <a:t> </a:t>
            </a:r>
            <a:r>
              <a:rPr lang="en-US" sz="1400" dirty="0">
                <a:solidFill>
                  <a:srgbClr val="999999"/>
                </a:solidFill>
                <a:ea typeface="+mn-lt"/>
                <a:cs typeface="+mn-lt"/>
              </a:rPr>
              <a:t>}&lt;/</a:t>
            </a:r>
            <a:r>
              <a:rPr lang="en-US" sz="1400" dirty="0">
                <a:solidFill>
                  <a:srgbClr val="990055"/>
                </a:solidFill>
                <a:ea typeface="+mn-lt"/>
                <a:cs typeface="+mn-lt"/>
              </a:rPr>
              <a:t>li</a:t>
            </a:r>
            <a:r>
              <a:rPr lang="en-US" sz="1400" dirty="0">
                <a:solidFill>
                  <a:srgbClr val="999999"/>
                </a:solidFill>
                <a:ea typeface="+mn-lt"/>
                <a:cs typeface="+mn-lt"/>
              </a:rPr>
              <a:t>&gt;;</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0077AA"/>
                </a:solidFill>
                <a:ea typeface="+mn-lt"/>
                <a:cs typeface="+mn-lt"/>
              </a:rPr>
              <a:t>function</a:t>
            </a:r>
            <a:r>
              <a:rPr lang="en-US" sz="1400" dirty="0">
                <a:ea typeface="+mn-lt"/>
                <a:cs typeface="+mn-lt"/>
              </a:rPr>
              <a:t> </a:t>
            </a:r>
            <a:r>
              <a:rPr lang="en-US" sz="1400" dirty="0">
                <a:solidFill>
                  <a:srgbClr val="DD4A68"/>
                </a:solidFill>
                <a:ea typeface="+mn-lt"/>
                <a:cs typeface="+mn-lt"/>
              </a:rPr>
              <a:t>Garage</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0077AA"/>
                </a:solidFill>
                <a:ea typeface="+mn-lt"/>
                <a:cs typeface="+mn-lt"/>
              </a:rPr>
              <a:t>const</a:t>
            </a:r>
            <a:r>
              <a:rPr lang="en-US" sz="1400" dirty="0">
                <a:ea typeface="+mn-lt"/>
                <a:cs typeface="+mn-lt"/>
              </a:rPr>
              <a:t> cars </a:t>
            </a:r>
            <a:r>
              <a:rPr lang="en-US" sz="1400" dirty="0">
                <a:solidFill>
                  <a:srgbClr val="9A6E3A"/>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solidFill>
                  <a:srgbClr val="990055"/>
                </a:solidFill>
                <a:ea typeface="+mn-lt"/>
                <a:cs typeface="+mn-lt"/>
              </a:rPr>
              <a:t>id</a:t>
            </a:r>
            <a:r>
              <a:rPr lang="en-US" sz="1400" dirty="0">
                <a:solidFill>
                  <a:srgbClr val="9A6E3A"/>
                </a:solidFill>
                <a:ea typeface="+mn-lt"/>
                <a:cs typeface="+mn-lt"/>
              </a:rPr>
              <a:t>:</a:t>
            </a:r>
            <a:r>
              <a:rPr lang="en-US" sz="1400" dirty="0">
                <a:ea typeface="+mn-lt"/>
                <a:cs typeface="+mn-lt"/>
              </a:rPr>
              <a:t> </a:t>
            </a:r>
            <a:r>
              <a:rPr lang="en-US" sz="1400" dirty="0">
                <a:solidFill>
                  <a:srgbClr val="990055"/>
                </a:solidFill>
                <a:ea typeface="+mn-lt"/>
                <a:cs typeface="+mn-lt"/>
              </a:rPr>
              <a:t>1</a:t>
            </a:r>
            <a:r>
              <a:rPr lang="en-US" sz="1400" dirty="0">
                <a:solidFill>
                  <a:srgbClr val="999999"/>
                </a:solidFill>
                <a:ea typeface="+mn-lt"/>
                <a:cs typeface="+mn-lt"/>
              </a:rPr>
              <a:t>,</a:t>
            </a:r>
            <a:r>
              <a:rPr lang="en-US" sz="1400" dirty="0">
                <a:ea typeface="+mn-lt"/>
                <a:cs typeface="+mn-lt"/>
              </a:rPr>
              <a:t> </a:t>
            </a:r>
            <a:r>
              <a:rPr lang="en-US" sz="1400" dirty="0">
                <a:solidFill>
                  <a:srgbClr val="990055"/>
                </a:solidFill>
                <a:ea typeface="+mn-lt"/>
                <a:cs typeface="+mn-lt"/>
              </a:rPr>
              <a:t>brand</a:t>
            </a:r>
            <a:r>
              <a:rPr lang="en-US" sz="1400" dirty="0">
                <a:solidFill>
                  <a:srgbClr val="9A6E3A"/>
                </a:solidFill>
                <a:ea typeface="+mn-lt"/>
                <a:cs typeface="+mn-lt"/>
              </a:rPr>
              <a:t>:</a:t>
            </a:r>
            <a:r>
              <a:rPr lang="en-US" sz="1400" dirty="0">
                <a:ea typeface="+mn-lt"/>
                <a:cs typeface="+mn-lt"/>
              </a:rPr>
              <a:t> </a:t>
            </a:r>
            <a:r>
              <a:rPr lang="en-US" sz="1400" dirty="0">
                <a:solidFill>
                  <a:srgbClr val="669900"/>
                </a:solidFill>
                <a:ea typeface="+mn-lt"/>
                <a:cs typeface="+mn-lt"/>
              </a:rPr>
              <a:t>'Ford'</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solidFill>
                  <a:srgbClr val="990055"/>
                </a:solidFill>
                <a:ea typeface="+mn-lt"/>
                <a:cs typeface="+mn-lt"/>
              </a:rPr>
              <a:t>id</a:t>
            </a:r>
            <a:r>
              <a:rPr lang="en-US" sz="1400" dirty="0">
                <a:solidFill>
                  <a:srgbClr val="9A6E3A"/>
                </a:solidFill>
                <a:ea typeface="+mn-lt"/>
                <a:cs typeface="+mn-lt"/>
              </a:rPr>
              <a:t>:</a:t>
            </a:r>
            <a:r>
              <a:rPr lang="en-US" sz="1400" dirty="0">
                <a:ea typeface="+mn-lt"/>
                <a:cs typeface="+mn-lt"/>
              </a:rPr>
              <a:t> </a:t>
            </a:r>
            <a:r>
              <a:rPr lang="en-US" sz="1400" dirty="0">
                <a:solidFill>
                  <a:srgbClr val="990055"/>
                </a:solidFill>
                <a:ea typeface="+mn-lt"/>
                <a:cs typeface="+mn-lt"/>
              </a:rPr>
              <a:t>2</a:t>
            </a:r>
            <a:r>
              <a:rPr lang="en-US" sz="1400" dirty="0">
                <a:solidFill>
                  <a:srgbClr val="999999"/>
                </a:solidFill>
                <a:ea typeface="+mn-lt"/>
                <a:cs typeface="+mn-lt"/>
              </a:rPr>
              <a:t>,</a:t>
            </a:r>
            <a:r>
              <a:rPr lang="en-US" sz="1400" dirty="0">
                <a:ea typeface="+mn-lt"/>
                <a:cs typeface="+mn-lt"/>
              </a:rPr>
              <a:t> </a:t>
            </a:r>
            <a:r>
              <a:rPr lang="en-US" sz="1400" dirty="0">
                <a:solidFill>
                  <a:srgbClr val="990055"/>
                </a:solidFill>
                <a:ea typeface="+mn-lt"/>
                <a:cs typeface="+mn-lt"/>
              </a:rPr>
              <a:t>brand</a:t>
            </a:r>
            <a:r>
              <a:rPr lang="en-US" sz="1400" dirty="0">
                <a:solidFill>
                  <a:srgbClr val="9A6E3A"/>
                </a:solidFill>
                <a:ea typeface="+mn-lt"/>
                <a:cs typeface="+mn-lt"/>
              </a:rPr>
              <a:t>:</a:t>
            </a:r>
            <a:r>
              <a:rPr lang="en-US" sz="1400" dirty="0">
                <a:ea typeface="+mn-lt"/>
                <a:cs typeface="+mn-lt"/>
              </a:rPr>
              <a:t> </a:t>
            </a:r>
            <a:r>
              <a:rPr lang="en-US" sz="1400" dirty="0">
                <a:solidFill>
                  <a:srgbClr val="669900"/>
                </a:solidFill>
                <a:ea typeface="+mn-lt"/>
                <a:cs typeface="+mn-lt"/>
              </a:rPr>
              <a:t>'BMW'</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solidFill>
                  <a:srgbClr val="990055"/>
                </a:solidFill>
                <a:ea typeface="+mn-lt"/>
                <a:cs typeface="+mn-lt"/>
              </a:rPr>
              <a:t>id</a:t>
            </a:r>
            <a:r>
              <a:rPr lang="en-US" sz="1400" dirty="0">
                <a:solidFill>
                  <a:srgbClr val="9A6E3A"/>
                </a:solidFill>
                <a:ea typeface="+mn-lt"/>
                <a:cs typeface="+mn-lt"/>
              </a:rPr>
              <a:t>:</a:t>
            </a:r>
            <a:r>
              <a:rPr lang="en-US" sz="1400" dirty="0">
                <a:ea typeface="+mn-lt"/>
                <a:cs typeface="+mn-lt"/>
              </a:rPr>
              <a:t> </a:t>
            </a:r>
            <a:r>
              <a:rPr lang="en-US" sz="1400" dirty="0">
                <a:solidFill>
                  <a:srgbClr val="990055"/>
                </a:solidFill>
                <a:ea typeface="+mn-lt"/>
                <a:cs typeface="+mn-lt"/>
              </a:rPr>
              <a:t>3</a:t>
            </a:r>
            <a:r>
              <a:rPr lang="en-US" sz="1400" dirty="0">
                <a:solidFill>
                  <a:srgbClr val="999999"/>
                </a:solidFill>
                <a:ea typeface="+mn-lt"/>
                <a:cs typeface="+mn-lt"/>
              </a:rPr>
              <a:t>,</a:t>
            </a:r>
            <a:r>
              <a:rPr lang="en-US" sz="1400" dirty="0">
                <a:ea typeface="+mn-lt"/>
                <a:cs typeface="+mn-lt"/>
              </a:rPr>
              <a:t> </a:t>
            </a:r>
            <a:r>
              <a:rPr lang="en-US" sz="1400" dirty="0">
                <a:solidFill>
                  <a:srgbClr val="990055"/>
                </a:solidFill>
                <a:ea typeface="+mn-lt"/>
                <a:cs typeface="+mn-lt"/>
              </a:rPr>
              <a:t>brand</a:t>
            </a:r>
            <a:r>
              <a:rPr lang="en-US" sz="1400" dirty="0">
                <a:solidFill>
                  <a:srgbClr val="9A6E3A"/>
                </a:solidFill>
                <a:ea typeface="+mn-lt"/>
                <a:cs typeface="+mn-lt"/>
              </a:rPr>
              <a:t>:</a:t>
            </a:r>
            <a:r>
              <a:rPr lang="en-US" sz="1400" dirty="0">
                <a:ea typeface="+mn-lt"/>
                <a:cs typeface="+mn-lt"/>
              </a:rPr>
              <a:t> </a:t>
            </a:r>
            <a:r>
              <a:rPr lang="en-US" sz="1400" dirty="0">
                <a:solidFill>
                  <a:srgbClr val="669900"/>
                </a:solidFill>
                <a:ea typeface="+mn-lt"/>
                <a:cs typeface="+mn-lt"/>
              </a:rPr>
              <a:t>'Audi'</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0077AA"/>
                </a:solidFill>
                <a:ea typeface="+mn-lt"/>
                <a:cs typeface="+mn-lt"/>
              </a:rPr>
              <a:t>return</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&lt;&gt;</a:t>
            </a:r>
            <a:r>
              <a:rPr lang="en-US" sz="1400" dirty="0">
                <a:ea typeface="+mn-lt"/>
                <a:cs typeface="+mn-lt"/>
              </a:rPr>
              <a:t>
      </a:t>
            </a:r>
            <a:r>
              <a:rPr lang="en-US" sz="1400" dirty="0">
                <a:solidFill>
                  <a:srgbClr val="999999"/>
                </a:solidFill>
                <a:ea typeface="+mn-lt"/>
                <a:cs typeface="+mn-lt"/>
              </a:rPr>
              <a:t>&lt;</a:t>
            </a:r>
            <a:r>
              <a:rPr lang="en-US" sz="1400" dirty="0">
                <a:solidFill>
                  <a:srgbClr val="990055"/>
                </a:solidFill>
                <a:ea typeface="+mn-lt"/>
                <a:cs typeface="+mn-lt"/>
              </a:rPr>
              <a:t>h1</a:t>
            </a:r>
            <a:r>
              <a:rPr lang="en-US" sz="1400" dirty="0">
                <a:solidFill>
                  <a:srgbClr val="999999"/>
                </a:solidFill>
                <a:ea typeface="+mn-lt"/>
                <a:cs typeface="+mn-lt"/>
              </a:rPr>
              <a:t>&gt;</a:t>
            </a:r>
            <a:r>
              <a:rPr lang="en-US" sz="1400" dirty="0">
                <a:ea typeface="+mn-lt"/>
                <a:cs typeface="+mn-lt"/>
              </a:rPr>
              <a:t>Who lives in my garage?</a:t>
            </a:r>
            <a:r>
              <a:rPr lang="en-US" sz="1400" dirty="0">
                <a:solidFill>
                  <a:srgbClr val="999999"/>
                </a:solidFill>
                <a:ea typeface="+mn-lt"/>
                <a:cs typeface="+mn-lt"/>
              </a:rPr>
              <a:t>&lt;/</a:t>
            </a:r>
            <a:r>
              <a:rPr lang="en-US" sz="1400" dirty="0">
                <a:solidFill>
                  <a:srgbClr val="990055"/>
                </a:solidFill>
                <a:ea typeface="+mn-lt"/>
                <a:cs typeface="+mn-lt"/>
              </a:rPr>
              <a:t>h1</a:t>
            </a:r>
            <a:r>
              <a:rPr lang="en-US" sz="1400" dirty="0">
                <a:solidFill>
                  <a:srgbClr val="999999"/>
                </a:solidFill>
                <a:ea typeface="+mn-lt"/>
                <a:cs typeface="+mn-lt"/>
              </a:rPr>
              <a:t>&gt;</a:t>
            </a:r>
            <a:r>
              <a:rPr lang="en-US" sz="1400" dirty="0">
                <a:ea typeface="+mn-lt"/>
                <a:cs typeface="+mn-lt"/>
              </a:rPr>
              <a:t>
      </a:t>
            </a:r>
            <a:r>
              <a:rPr lang="en-US" sz="1400" dirty="0">
                <a:solidFill>
                  <a:srgbClr val="999999"/>
                </a:solidFill>
                <a:ea typeface="+mn-lt"/>
                <a:cs typeface="+mn-lt"/>
              </a:rPr>
              <a:t>&lt;</a:t>
            </a:r>
            <a:r>
              <a:rPr lang="en-US" sz="1400" dirty="0" err="1">
                <a:solidFill>
                  <a:srgbClr val="990055"/>
                </a:solidFill>
                <a:ea typeface="+mn-lt"/>
                <a:cs typeface="+mn-lt"/>
              </a:rPr>
              <a:t>ul</a:t>
            </a:r>
            <a:r>
              <a:rPr lang="en-US" sz="1400" dirty="0">
                <a:solidFill>
                  <a:srgbClr val="999999"/>
                </a:solidFill>
                <a:ea typeface="+mn-lt"/>
                <a:cs typeface="+mn-lt"/>
              </a:rPr>
              <a:t>&gt;</a:t>
            </a:r>
            <a:r>
              <a:rPr lang="en-US" sz="1400" dirty="0">
                <a:ea typeface="+mn-lt"/>
                <a:cs typeface="+mn-lt"/>
              </a:rPr>
              <a:t>
        </a:t>
            </a:r>
            <a:r>
              <a:rPr lang="en-US" sz="1400" dirty="0">
                <a:solidFill>
                  <a:srgbClr val="999999"/>
                </a:solidFill>
                <a:ea typeface="+mn-lt"/>
                <a:cs typeface="+mn-lt"/>
              </a:rPr>
              <a:t>{</a:t>
            </a:r>
            <a:r>
              <a:rPr lang="en-US" sz="1400" dirty="0" err="1">
                <a:ea typeface="+mn-lt"/>
                <a:cs typeface="+mn-lt"/>
              </a:rPr>
              <a:t>cars</a:t>
            </a:r>
            <a:r>
              <a:rPr lang="en-US" sz="1400" dirty="0" err="1">
                <a:solidFill>
                  <a:srgbClr val="999999"/>
                </a:solidFill>
                <a:ea typeface="+mn-lt"/>
                <a:cs typeface="+mn-lt"/>
              </a:rPr>
              <a:t>.</a:t>
            </a:r>
            <a:r>
              <a:rPr lang="en-US" sz="1400" dirty="0" err="1">
                <a:solidFill>
                  <a:srgbClr val="DD4A68"/>
                </a:solidFill>
                <a:ea typeface="+mn-lt"/>
                <a:cs typeface="+mn-lt"/>
              </a:rPr>
              <a:t>map</a:t>
            </a:r>
            <a:r>
              <a:rPr lang="en-US" sz="1400" dirty="0">
                <a:solidFill>
                  <a:srgbClr val="999999"/>
                </a:solidFill>
                <a:ea typeface="+mn-lt"/>
                <a:cs typeface="+mn-lt"/>
              </a:rPr>
              <a:t>((</a:t>
            </a:r>
            <a:r>
              <a:rPr lang="en-US" sz="1400" dirty="0">
                <a:ea typeface="+mn-lt"/>
                <a:cs typeface="+mn-lt"/>
              </a:rPr>
              <a:t>car</a:t>
            </a:r>
            <a:r>
              <a:rPr lang="en-US" sz="1400" dirty="0">
                <a:solidFill>
                  <a:srgbClr val="999999"/>
                </a:solidFill>
                <a:ea typeface="+mn-lt"/>
                <a:cs typeface="+mn-lt"/>
              </a:rPr>
              <a:t>)</a:t>
            </a:r>
            <a:r>
              <a:rPr lang="en-US" sz="1400" dirty="0">
                <a:ea typeface="+mn-lt"/>
                <a:cs typeface="+mn-lt"/>
              </a:rPr>
              <a:t> </a:t>
            </a:r>
            <a:r>
              <a:rPr lang="en-US" sz="1400" dirty="0">
                <a:solidFill>
                  <a:srgbClr val="9A6E3A"/>
                </a:solidFill>
                <a:ea typeface="+mn-lt"/>
                <a:cs typeface="+mn-lt"/>
              </a:rPr>
              <a:t>=&gt;</a:t>
            </a:r>
            <a:r>
              <a:rPr lang="en-US" sz="1400" dirty="0">
                <a:ea typeface="+mn-lt"/>
                <a:cs typeface="+mn-lt"/>
              </a:rPr>
              <a:t> </a:t>
            </a:r>
            <a:r>
              <a:rPr lang="en-US" sz="1400" dirty="0">
                <a:solidFill>
                  <a:srgbClr val="999999"/>
                </a:solidFill>
                <a:ea typeface="+mn-lt"/>
                <a:cs typeface="+mn-lt"/>
              </a:rPr>
              <a:t>&lt;</a:t>
            </a:r>
            <a:r>
              <a:rPr lang="en-US" sz="1400" dirty="0">
                <a:solidFill>
                  <a:srgbClr val="DD4A68"/>
                </a:solidFill>
                <a:ea typeface="+mn-lt"/>
                <a:cs typeface="+mn-lt"/>
              </a:rPr>
              <a:t>Car</a:t>
            </a:r>
            <a:r>
              <a:rPr lang="en-US" sz="1400" dirty="0">
                <a:solidFill>
                  <a:srgbClr val="990055"/>
                </a:solidFill>
                <a:ea typeface="+mn-lt"/>
                <a:cs typeface="+mn-lt"/>
              </a:rPr>
              <a:t> </a:t>
            </a:r>
            <a:r>
              <a:rPr lang="en-US" sz="1400" dirty="0">
                <a:solidFill>
                  <a:srgbClr val="669900"/>
                </a:solidFill>
                <a:ea typeface="+mn-lt"/>
                <a:cs typeface="+mn-lt"/>
              </a:rPr>
              <a:t>key</a:t>
            </a:r>
            <a:r>
              <a:rPr lang="en-US" sz="1400" dirty="0">
                <a:solidFill>
                  <a:srgbClr val="999999"/>
                </a:solidFill>
                <a:ea typeface="+mn-lt"/>
                <a:cs typeface="+mn-lt"/>
              </a:rPr>
              <a:t>={</a:t>
            </a:r>
            <a:r>
              <a:rPr lang="en-US" sz="1400" dirty="0">
                <a:solidFill>
                  <a:srgbClr val="990055"/>
                </a:solidFill>
                <a:ea typeface="+mn-lt"/>
                <a:cs typeface="+mn-lt"/>
              </a:rPr>
              <a:t>car</a:t>
            </a:r>
            <a:r>
              <a:rPr lang="en-US" sz="1400" dirty="0">
                <a:solidFill>
                  <a:srgbClr val="999999"/>
                </a:solidFill>
                <a:ea typeface="+mn-lt"/>
                <a:cs typeface="+mn-lt"/>
              </a:rPr>
              <a:t>.</a:t>
            </a:r>
            <a:r>
              <a:rPr lang="en-US" sz="1400" dirty="0">
                <a:solidFill>
                  <a:srgbClr val="990055"/>
                </a:solidFill>
                <a:ea typeface="+mn-lt"/>
                <a:cs typeface="+mn-lt"/>
              </a:rPr>
              <a:t>id</a:t>
            </a:r>
            <a:r>
              <a:rPr lang="en-US" sz="1400" dirty="0">
                <a:solidFill>
                  <a:srgbClr val="999999"/>
                </a:solidFill>
                <a:ea typeface="+mn-lt"/>
                <a:cs typeface="+mn-lt"/>
              </a:rPr>
              <a:t>}</a:t>
            </a:r>
            <a:r>
              <a:rPr lang="en-US" sz="1400" dirty="0">
                <a:solidFill>
                  <a:srgbClr val="990055"/>
                </a:solidFill>
                <a:ea typeface="+mn-lt"/>
                <a:cs typeface="+mn-lt"/>
              </a:rPr>
              <a:t> </a:t>
            </a:r>
            <a:r>
              <a:rPr lang="en-US" sz="1400" dirty="0">
                <a:solidFill>
                  <a:srgbClr val="669900"/>
                </a:solidFill>
                <a:ea typeface="+mn-lt"/>
                <a:cs typeface="+mn-lt"/>
              </a:rPr>
              <a:t>brand</a:t>
            </a:r>
            <a:r>
              <a:rPr lang="en-US" sz="1400" dirty="0">
                <a:solidFill>
                  <a:srgbClr val="999999"/>
                </a:solidFill>
                <a:ea typeface="+mn-lt"/>
                <a:cs typeface="+mn-lt"/>
              </a:rPr>
              <a:t>={</a:t>
            </a:r>
            <a:r>
              <a:rPr lang="en-US" sz="1400" dirty="0" err="1">
                <a:solidFill>
                  <a:srgbClr val="990055"/>
                </a:solidFill>
                <a:ea typeface="+mn-lt"/>
                <a:cs typeface="+mn-lt"/>
              </a:rPr>
              <a:t>car</a:t>
            </a:r>
            <a:r>
              <a:rPr lang="en-US" sz="1400" dirty="0" err="1">
                <a:solidFill>
                  <a:srgbClr val="999999"/>
                </a:solidFill>
                <a:ea typeface="+mn-lt"/>
                <a:cs typeface="+mn-lt"/>
              </a:rPr>
              <a:t>.</a:t>
            </a:r>
            <a:r>
              <a:rPr lang="en-US" sz="1400" dirty="0" err="1">
                <a:solidFill>
                  <a:srgbClr val="990055"/>
                </a:solidFill>
                <a:ea typeface="+mn-lt"/>
                <a:cs typeface="+mn-lt"/>
              </a:rPr>
              <a:t>brand</a:t>
            </a:r>
            <a:r>
              <a:rPr lang="en-US" sz="1400" dirty="0">
                <a:solidFill>
                  <a:srgbClr val="999999"/>
                </a:solidFill>
                <a:ea typeface="+mn-lt"/>
                <a:cs typeface="+mn-lt"/>
              </a:rPr>
              <a:t>}</a:t>
            </a:r>
            <a:r>
              <a:rPr lang="en-US" sz="1400" dirty="0">
                <a:solidFill>
                  <a:srgbClr val="990055"/>
                </a:solidFill>
                <a:ea typeface="+mn-lt"/>
                <a:cs typeface="+mn-lt"/>
              </a:rPr>
              <a:t> </a:t>
            </a:r>
            <a:r>
              <a:rPr lang="en-US" sz="1400" dirty="0">
                <a:solidFill>
                  <a:srgbClr val="999999"/>
                </a:solidFill>
                <a:ea typeface="+mn-lt"/>
                <a:cs typeface="+mn-lt"/>
              </a:rPr>
              <a:t>/&gt;)}</a:t>
            </a:r>
            <a:r>
              <a:rPr lang="en-US" sz="1400" dirty="0">
                <a:ea typeface="+mn-lt"/>
                <a:cs typeface="+mn-lt"/>
              </a:rPr>
              <a:t>
      </a:t>
            </a:r>
            <a:r>
              <a:rPr lang="en-US" sz="1400" dirty="0">
                <a:solidFill>
                  <a:srgbClr val="999999"/>
                </a:solidFill>
                <a:ea typeface="+mn-lt"/>
                <a:cs typeface="+mn-lt"/>
              </a:rPr>
              <a:t>&lt;/</a:t>
            </a:r>
            <a:r>
              <a:rPr lang="en-US" sz="1400" dirty="0" err="1">
                <a:solidFill>
                  <a:srgbClr val="990055"/>
                </a:solidFill>
                <a:ea typeface="+mn-lt"/>
                <a:cs typeface="+mn-lt"/>
              </a:rPr>
              <a:t>ul</a:t>
            </a:r>
            <a:r>
              <a:rPr lang="en-US" sz="1400" dirty="0">
                <a:solidFill>
                  <a:srgbClr val="999999"/>
                </a:solidFill>
                <a:ea typeface="+mn-lt"/>
                <a:cs typeface="+mn-lt"/>
              </a:rPr>
              <a:t>&gt;</a:t>
            </a:r>
            <a:r>
              <a:rPr lang="en-US" sz="1400" dirty="0">
                <a:ea typeface="+mn-lt"/>
                <a:cs typeface="+mn-lt"/>
              </a:rPr>
              <a:t>
    </a:t>
            </a:r>
            <a:r>
              <a:rPr lang="en-US" sz="1400" dirty="0">
                <a:solidFill>
                  <a:srgbClr val="999999"/>
                </a:solidFill>
                <a:ea typeface="+mn-lt"/>
                <a:cs typeface="+mn-lt"/>
              </a:rPr>
              <a:t>&lt;/&gt;</a:t>
            </a:r>
            <a:r>
              <a:rPr lang="en-US" sz="1400" dirty="0">
                <a:ea typeface="+mn-lt"/>
                <a:cs typeface="+mn-lt"/>
              </a:rPr>
              <a:t>
  </a:t>
            </a:r>
            <a:r>
              <a:rPr lang="en-US" sz="1400" dirty="0">
                <a:solidFill>
                  <a:srgbClr val="999999"/>
                </a:solidFill>
                <a:ea typeface="+mn-lt"/>
                <a:cs typeface="+mn-lt"/>
              </a:rPr>
              <a:t>);</a:t>
            </a:r>
            <a:r>
              <a:rPr lang="en-US" sz="1400" dirty="0">
                <a:ea typeface="+mn-lt"/>
                <a:cs typeface="+mn-lt"/>
              </a:rPr>
              <a:t>
</a:t>
            </a:r>
            <a:r>
              <a:rPr lang="en-US" sz="1400" dirty="0">
                <a:solidFill>
                  <a:srgbClr val="999999"/>
                </a:solidFill>
                <a:ea typeface="+mn-lt"/>
                <a:cs typeface="+mn-lt"/>
              </a:rPr>
              <a:t>}</a:t>
            </a:r>
            <a:br>
              <a:rPr lang="en-US" dirty="0"/>
            </a:br>
            <a:endParaRPr lang="en-US">
              <a:cs typeface="Calibri"/>
            </a:endParaRPr>
          </a:p>
          <a:p>
            <a:pPr lvl="1"/>
            <a:endParaRPr lang="en-US" sz="1400" dirty="0">
              <a:solidFill>
                <a:srgbClr val="0077AA"/>
              </a:solidFill>
              <a:cs typeface="Calibri"/>
            </a:endParaRPr>
          </a:p>
          <a:p>
            <a:pPr marL="914400" lvl="1" indent="-457200">
              <a:lnSpc>
                <a:spcPct val="90000"/>
              </a:lnSpc>
              <a:spcBef>
                <a:spcPts val="500"/>
              </a:spcBef>
              <a:buAutoNum type="arabicPeriod"/>
            </a:pPr>
            <a:endParaRPr lang="en-US" sz="1400" dirty="0">
              <a:solidFill>
                <a:srgbClr val="0077AA"/>
              </a:solidFill>
              <a:latin typeface="Arial"/>
              <a:ea typeface="+mn-lt"/>
              <a:cs typeface="Arial"/>
            </a:endParaRPr>
          </a:p>
          <a:p>
            <a:pPr marL="457200">
              <a:lnSpc>
                <a:spcPct val="90000"/>
              </a:lnSpc>
              <a:spcBef>
                <a:spcPts val="500"/>
              </a:spcBef>
            </a:pPr>
            <a:br>
              <a:rPr lang="en-US" sz="1400" dirty="0">
                <a:ea typeface="+mn-lt"/>
                <a:cs typeface="+mn-lt"/>
              </a:rPr>
            </a:br>
            <a:br>
              <a:rPr lang="en-US" sz="1100" dirty="0">
                <a:solidFill>
                  <a:srgbClr val="000000"/>
                </a:solidFill>
                <a:ea typeface="+mn-lt"/>
                <a:cs typeface="+mn-lt"/>
              </a:rPr>
            </a:br>
            <a:endParaRPr lang="en-US" sz="1100">
              <a:ea typeface="+mn-lt"/>
              <a:cs typeface="+mn-lt"/>
            </a:endParaRPr>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1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Arial"/>
              <a:cs typeface="Arial"/>
            </a:endParaRPr>
          </a:p>
        </p:txBody>
      </p:sp>
    </p:spTree>
    <p:extLst>
      <p:ext uri="{BB962C8B-B14F-4D97-AF65-F5344CB8AC3E}">
        <p14:creationId xmlns:p14="http://schemas.microsoft.com/office/powerpoint/2010/main" val="565492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2600">
                <a:latin typeface="Arial"/>
                <a:cs typeface="Arial"/>
              </a:rPr>
            </a:br>
            <a:br>
              <a:rPr lang="en-US" sz="2600">
                <a:latin typeface="Arial"/>
                <a:cs typeface="Arial"/>
              </a:rPr>
            </a:br>
            <a:r>
              <a:rPr lang="en-US" sz="2600" dirty="0">
                <a:latin typeface="Calibri"/>
                <a:cs typeface="Calibri"/>
              </a:rPr>
              <a:t>React Router</a:t>
            </a:r>
          </a:p>
          <a:p>
            <a:endParaRPr lang="en-US" sz="2600">
              <a:latin typeface="Arial"/>
              <a:cs typeface="Arial"/>
            </a:endParaRPr>
          </a:p>
          <a:p>
            <a:pPr>
              <a:spcBef>
                <a:spcPts val="1000"/>
              </a:spcBef>
            </a:pPr>
            <a:endParaRPr lang="en-US" sz="2600">
              <a:latin typeface="Arial"/>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145473" y="1860111"/>
            <a:ext cx="10515600" cy="4825934"/>
          </a:xfrm>
        </p:spPr>
        <p:txBody>
          <a:bodyPr vert="horz" lIns="91440" tIns="45720" rIns="91440" bIns="45720" rtlCol="0" anchor="t">
            <a:normAutofit fontScale="92500" lnSpcReduction="10000"/>
          </a:bodyPr>
          <a:lstStyle/>
          <a:p>
            <a:pPr lvl="1">
              <a:buNone/>
            </a:pPr>
            <a:r>
              <a:rPr lang="en-US" sz="1600" dirty="0">
                <a:ea typeface="+mn-lt"/>
                <a:cs typeface="+mn-lt"/>
              </a:rPr>
              <a:t>React router is use to manage the route. Its mapping of </a:t>
            </a:r>
            <a:r>
              <a:rPr lang="en-US" sz="1600" dirty="0" err="1">
                <a:ea typeface="+mn-lt"/>
                <a:cs typeface="+mn-lt"/>
              </a:rPr>
              <a:t>url</a:t>
            </a:r>
            <a:r>
              <a:rPr lang="en-US" sz="1600" dirty="0">
                <a:ea typeface="+mn-lt"/>
                <a:cs typeface="+mn-lt"/>
              </a:rPr>
              <a:t> and component.</a:t>
            </a:r>
          </a:p>
          <a:p>
            <a:pPr lvl="1">
              <a:buNone/>
            </a:pPr>
            <a:r>
              <a:rPr lang="en-US" sz="1600" dirty="0">
                <a:ea typeface="+mn-lt"/>
                <a:cs typeface="+mn-lt"/>
              </a:rPr>
              <a:t>Create React App doesn't include page routing.</a:t>
            </a:r>
            <a:endParaRPr lang="en-US" dirty="0"/>
          </a:p>
          <a:p>
            <a:pPr lvl="1">
              <a:buNone/>
            </a:pPr>
            <a:r>
              <a:rPr lang="en-US" sz="1600" dirty="0">
                <a:ea typeface="+mn-lt"/>
                <a:cs typeface="+mn-lt"/>
              </a:rPr>
              <a:t>React Router is the most popular solution.</a:t>
            </a:r>
          </a:p>
          <a:p>
            <a:pPr lvl="1">
              <a:buNone/>
            </a:pPr>
            <a:r>
              <a:rPr lang="en-US" sz="1600" dirty="0">
                <a:ea typeface="+mn-lt"/>
                <a:cs typeface="+mn-lt"/>
              </a:rPr>
              <a:t>Add React Router</a:t>
            </a:r>
          </a:p>
          <a:p>
            <a:pPr marL="457200" lvl="1" indent="0">
              <a:buNone/>
            </a:pPr>
            <a:r>
              <a:rPr lang="en-US" sz="1600" dirty="0">
                <a:ea typeface="+mn-lt"/>
                <a:cs typeface="+mn-lt"/>
              </a:rPr>
              <a:t>To add React Router in your application, run this in the terminal from the root directory of the application:</a:t>
            </a:r>
          </a:p>
          <a:p>
            <a:pPr marL="457200" lvl="1" indent="0">
              <a:buNone/>
            </a:pPr>
            <a:r>
              <a:rPr lang="en-US" sz="1600" b="1" dirty="0" err="1">
                <a:ea typeface="+mn-lt"/>
                <a:cs typeface="+mn-lt"/>
              </a:rPr>
              <a:t>npm</a:t>
            </a:r>
            <a:r>
              <a:rPr lang="en-US" sz="1600" b="1" dirty="0">
                <a:ea typeface="+mn-lt"/>
                <a:cs typeface="+mn-lt"/>
              </a:rPr>
              <a:t> </a:t>
            </a:r>
            <a:r>
              <a:rPr lang="en-US" sz="1600" b="1" dirty="0" err="1">
                <a:ea typeface="+mn-lt"/>
                <a:cs typeface="+mn-lt"/>
              </a:rPr>
              <a:t>i</a:t>
            </a:r>
            <a:r>
              <a:rPr lang="en-US" sz="1600" b="1" dirty="0">
                <a:ea typeface="+mn-lt"/>
                <a:cs typeface="+mn-lt"/>
              </a:rPr>
              <a:t> –D react-router-</a:t>
            </a:r>
            <a:r>
              <a:rPr lang="en-US" sz="1600" b="1" dirty="0" err="1">
                <a:ea typeface="+mn-lt"/>
                <a:cs typeface="+mn-lt"/>
              </a:rPr>
              <a:t>dom</a:t>
            </a:r>
            <a:endParaRPr lang="en-US" sz="1600" b="1" err="1">
              <a:cs typeface="Calibri"/>
            </a:endParaRPr>
          </a:p>
          <a:p>
            <a:pPr marL="457200" lvl="1" indent="0">
              <a:buNone/>
            </a:pPr>
            <a:endParaRPr lang="en-US" sz="1600" dirty="0">
              <a:ea typeface="+mn-lt"/>
              <a:cs typeface="+mn-lt"/>
            </a:endParaRPr>
          </a:p>
          <a:p>
            <a:pPr lvl="1">
              <a:buNone/>
            </a:pPr>
            <a:r>
              <a:rPr lang="en-US" sz="1600" b="1" u="sng" dirty="0">
                <a:ea typeface="+mn-lt"/>
                <a:cs typeface="+mn-lt"/>
              </a:rPr>
              <a:t>Folder Structure: </a:t>
            </a:r>
          </a:p>
          <a:p>
            <a:pPr lvl="1">
              <a:buNone/>
            </a:pPr>
            <a:r>
              <a:rPr lang="en-US" sz="1600" dirty="0">
                <a:ea typeface="+mn-lt"/>
                <a:cs typeface="+mn-lt"/>
              </a:rPr>
              <a:t>To create an application with multiple page routes, let's first start with the file structure.</a:t>
            </a:r>
          </a:p>
          <a:p>
            <a:pPr lvl="1">
              <a:buNone/>
            </a:pPr>
            <a:r>
              <a:rPr lang="en-US" sz="1600" dirty="0">
                <a:ea typeface="+mn-lt"/>
                <a:cs typeface="+mn-lt"/>
              </a:rPr>
              <a:t>Within the </a:t>
            </a:r>
            <a:r>
              <a:rPr lang="en-US" sz="1600" dirty="0" err="1">
                <a:ea typeface="+mn-lt"/>
                <a:cs typeface="+mn-lt"/>
              </a:rPr>
              <a:t>src</a:t>
            </a:r>
            <a:r>
              <a:rPr lang="en-US" sz="1600" dirty="0">
                <a:ea typeface="+mn-lt"/>
                <a:cs typeface="+mn-lt"/>
              </a:rPr>
              <a:t> folder, we'll create a folder named pages with several files:</a:t>
            </a:r>
          </a:p>
          <a:p>
            <a:pPr lvl="1">
              <a:buNone/>
            </a:pPr>
            <a:r>
              <a:rPr lang="en-US" sz="1600" dirty="0" err="1">
                <a:ea typeface="+mn-lt"/>
                <a:cs typeface="+mn-lt"/>
              </a:rPr>
              <a:t>src</a:t>
            </a:r>
            <a:r>
              <a:rPr lang="en-US" sz="1600" dirty="0">
                <a:ea typeface="+mn-lt"/>
                <a:cs typeface="+mn-lt"/>
              </a:rPr>
              <a:t>\pages\:</a:t>
            </a:r>
          </a:p>
          <a:p>
            <a:pPr marL="457200" lvl="1" indent="0">
              <a:buNone/>
            </a:pPr>
            <a:r>
              <a:rPr lang="en-US" sz="1600" dirty="0">
                <a:ea typeface="+mn-lt"/>
                <a:cs typeface="+mn-lt"/>
              </a:rPr>
              <a:t>Layout.js</a:t>
            </a:r>
          </a:p>
          <a:p>
            <a:pPr marL="457200" lvl="1" indent="0">
              <a:buNone/>
            </a:pPr>
            <a:r>
              <a:rPr lang="en-US" sz="1600" dirty="0">
                <a:ea typeface="+mn-lt"/>
                <a:cs typeface="+mn-lt"/>
              </a:rPr>
              <a:t>Home.js</a:t>
            </a:r>
          </a:p>
          <a:p>
            <a:pPr marL="457200" lvl="1" indent="0">
              <a:buNone/>
            </a:pPr>
            <a:r>
              <a:rPr lang="en-US" sz="1600" dirty="0">
                <a:ea typeface="+mn-lt"/>
                <a:cs typeface="+mn-lt"/>
              </a:rPr>
              <a:t>Blogs.js</a:t>
            </a:r>
          </a:p>
          <a:p>
            <a:pPr marL="457200" lvl="1" indent="0">
              <a:buNone/>
            </a:pPr>
            <a:r>
              <a:rPr lang="en-US" sz="1600" dirty="0">
                <a:ea typeface="+mn-lt"/>
                <a:cs typeface="+mn-lt"/>
              </a:rPr>
              <a:t>Contact.js</a:t>
            </a:r>
          </a:p>
          <a:p>
            <a:pPr marL="457200" lvl="1" indent="0">
              <a:buNone/>
            </a:pPr>
            <a:r>
              <a:rPr lang="en-US" sz="1600" dirty="0">
                <a:ea typeface="+mn-lt"/>
                <a:cs typeface="+mn-lt"/>
              </a:rPr>
              <a:t>NoPage.js</a:t>
            </a:r>
          </a:p>
          <a:p>
            <a:pPr indent="0">
              <a:buNone/>
            </a:pPr>
            <a:r>
              <a:rPr lang="en-US" sz="1600" dirty="0">
                <a:ea typeface="+mn-lt"/>
                <a:cs typeface="+mn-lt"/>
              </a:rPr>
              <a:t>       Each file will contain a very basic React component.</a:t>
            </a:r>
          </a:p>
          <a:p>
            <a:pPr marL="457200" lvl="1" indent="0">
              <a:buNone/>
            </a:pPr>
            <a:endParaRPr lang="en-US" sz="1000">
              <a:ea typeface="+mn-lt"/>
              <a:cs typeface="+mn-lt"/>
            </a:endParaRPr>
          </a:p>
          <a:p>
            <a:pPr marL="457200" indent="0">
              <a:buNone/>
            </a:pPr>
            <a:br>
              <a:rPr lang="en-US" sz="1000" dirty="0"/>
            </a:br>
            <a:endParaRPr lang="en-US" sz="1000">
              <a:cs typeface="Calibri"/>
            </a:endParaRPr>
          </a:p>
          <a:p>
            <a:pPr marL="457200" lvl="2">
              <a:buNone/>
            </a:pPr>
            <a:endParaRPr lang="en-US" sz="1000">
              <a:latin typeface="Calibri"/>
              <a:cs typeface="Arial"/>
            </a:endParaRPr>
          </a:p>
          <a:p>
            <a:pPr marL="800100" lvl="2" indent="-342900">
              <a:buAutoNum type="arabicPeriod"/>
            </a:pPr>
            <a:endParaRPr lang="en-US" sz="1000">
              <a:latin typeface="Calibri"/>
              <a:cs typeface="Arial"/>
            </a:endParaRPr>
          </a:p>
          <a:p>
            <a:pPr marL="0" indent="0">
              <a:buNone/>
            </a:pPr>
            <a:endParaRPr lang="en-US" sz="1000">
              <a:latin typeface="Arial"/>
              <a:cs typeface="Arial"/>
            </a:endParaRPr>
          </a:p>
          <a:p>
            <a:endParaRPr lang="en-US" sz="1000">
              <a:latin typeface="Arial"/>
              <a:cs typeface="Calibri"/>
            </a:endParaRPr>
          </a:p>
        </p:txBody>
      </p:sp>
    </p:spTree>
    <p:extLst>
      <p:ext uri="{BB962C8B-B14F-4D97-AF65-F5344CB8AC3E}">
        <p14:creationId xmlns:p14="http://schemas.microsoft.com/office/powerpoint/2010/main" val="233010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41792" y="2703"/>
            <a:ext cx="11769519" cy="89229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rPr>
              <a:t>Basic Usage</a:t>
            </a:r>
            <a:endParaRPr lang="en-US" sz="1600" b="1">
              <a:cs typeface="Calibri"/>
            </a:endParaRPr>
          </a:p>
          <a:p>
            <a:pPr lvl="1">
              <a:lnSpc>
                <a:spcPct val="90000"/>
              </a:lnSpc>
              <a:spcBef>
                <a:spcPts val="500"/>
              </a:spcBef>
            </a:pPr>
            <a:r>
              <a:rPr lang="en-US" sz="1600" dirty="0">
                <a:ea typeface="+mn-lt"/>
                <a:cs typeface="+mn-lt"/>
              </a:rPr>
              <a:t>Now we will use our Router in our index.js file.</a:t>
            </a:r>
            <a:endParaRPr lang="en-US" sz="1600">
              <a:cs typeface="Calibri"/>
            </a:endParaRPr>
          </a:p>
          <a:p>
            <a:pPr lvl="1">
              <a:lnSpc>
                <a:spcPct val="90000"/>
              </a:lnSpc>
              <a:spcBef>
                <a:spcPts val="500"/>
              </a:spcBef>
            </a:pPr>
            <a:r>
              <a:rPr lang="en-US" sz="1600" b="1" dirty="0"/>
              <a:t>Example:</a:t>
            </a:r>
            <a:endParaRPr lang="en-US" sz="1600" b="1">
              <a:cs typeface="Calibri"/>
            </a:endParaRPr>
          </a:p>
          <a:p>
            <a:pPr lvl="1">
              <a:lnSpc>
                <a:spcPct val="90000"/>
              </a:lnSpc>
              <a:spcBef>
                <a:spcPts val="500"/>
              </a:spcBef>
            </a:pPr>
            <a:r>
              <a:rPr lang="en-US" sz="1600" dirty="0">
                <a:ea typeface="+mn-lt"/>
                <a:cs typeface="+mn-lt"/>
              </a:rPr>
              <a:t>Use React Router to route to pages based on URL:</a:t>
            </a:r>
          </a:p>
          <a:p>
            <a:pPr lvl="1">
              <a:lnSpc>
                <a:spcPct val="90000"/>
              </a:lnSpc>
              <a:spcBef>
                <a:spcPts val="500"/>
              </a:spcBef>
            </a:pPr>
            <a:r>
              <a:rPr lang="en-US" sz="1600" dirty="0">
                <a:solidFill>
                  <a:srgbClr val="DC143C"/>
                </a:solidFill>
                <a:ea typeface="+mn-lt"/>
                <a:cs typeface="+mn-lt"/>
              </a:rPr>
              <a:t>index.js</a:t>
            </a:r>
            <a:r>
              <a:rPr lang="en-US" sz="1600" dirty="0">
                <a:solidFill>
                  <a:srgbClr val="000000"/>
                </a:solidFill>
                <a:ea typeface="+mn-lt"/>
                <a:cs typeface="+mn-lt"/>
              </a:rPr>
              <a:t>:</a:t>
            </a:r>
            <a:endParaRPr lang="en-US" sz="1600">
              <a:cs typeface="Calibri"/>
            </a:endParaRPr>
          </a:p>
          <a:p>
            <a:pPr lvl="1"/>
            <a:r>
              <a:rPr lang="en-US" sz="1600" dirty="0">
                <a:solidFill>
                  <a:srgbClr val="0077AA"/>
                </a:solidFill>
                <a:ea typeface="+mn-lt"/>
                <a:cs typeface="+mn-lt"/>
              </a:rPr>
              <a:t>import</a:t>
            </a:r>
            <a:r>
              <a:rPr lang="en-US" sz="1600" dirty="0">
                <a:solidFill>
                  <a:srgbClr val="000000"/>
                </a:solidFill>
                <a:ea typeface="+mn-lt"/>
                <a:cs typeface="+mn-lt"/>
              </a:rPr>
              <a:t> </a:t>
            </a:r>
            <a:r>
              <a:rPr lang="en-US" sz="1600" dirty="0" err="1">
                <a:solidFill>
                  <a:srgbClr val="000000"/>
                </a:solidFill>
                <a:ea typeface="+mn-lt"/>
                <a:cs typeface="+mn-lt"/>
              </a:rPr>
              <a:t>ReactDOM</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err="1">
                <a:solidFill>
                  <a:srgbClr val="669900"/>
                </a:solidFill>
                <a:ea typeface="+mn-lt"/>
                <a:cs typeface="+mn-lt"/>
              </a:rPr>
              <a:t>dom</a:t>
            </a:r>
            <a:r>
              <a:rPr lang="en-US" sz="1600" dirty="0">
                <a:solidFill>
                  <a:srgbClr val="669900"/>
                </a:solidFill>
                <a:ea typeface="+mn-lt"/>
                <a:cs typeface="+mn-lt"/>
              </a:rPr>
              <a:t>/client"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import</a:t>
            </a:r>
            <a:r>
              <a:rPr lang="en-US" sz="1600" dirty="0">
                <a:solidFill>
                  <a:srgbClr val="000000"/>
                </a:solidFill>
                <a:ea typeface="+mn-lt"/>
                <a:cs typeface="+mn-lt"/>
              </a:rPr>
              <a:t> </a:t>
            </a:r>
            <a:r>
              <a:rPr lang="en-US" sz="1600" dirty="0">
                <a:solidFill>
                  <a:srgbClr val="999999"/>
                </a:solidFill>
                <a:ea typeface="+mn-lt"/>
                <a:cs typeface="+mn-lt"/>
              </a:rPr>
              <a:t>{</a:t>
            </a:r>
            <a:r>
              <a:rPr lang="en-US" sz="1600" dirty="0">
                <a:ea typeface="+mn-lt"/>
                <a:cs typeface="+mn-lt"/>
              </a:rPr>
              <a:t> </a:t>
            </a:r>
            <a:r>
              <a:rPr lang="en-US" sz="1600" dirty="0" err="1">
                <a:ea typeface="+mn-lt"/>
                <a:cs typeface="+mn-lt"/>
              </a:rPr>
              <a:t>BrowserRouter</a:t>
            </a:r>
            <a:r>
              <a:rPr lang="en-US" sz="1600" dirty="0">
                <a:solidFill>
                  <a:srgbClr val="999999"/>
                </a:solidFill>
                <a:ea typeface="+mn-lt"/>
                <a:cs typeface="+mn-lt"/>
              </a:rPr>
              <a:t>,</a:t>
            </a:r>
            <a:r>
              <a:rPr lang="en-US" sz="1600" dirty="0">
                <a:ea typeface="+mn-lt"/>
                <a:cs typeface="+mn-lt"/>
              </a:rPr>
              <a:t> Routes</a:t>
            </a:r>
            <a:r>
              <a:rPr lang="en-US" sz="1600" dirty="0">
                <a:solidFill>
                  <a:srgbClr val="999999"/>
                </a:solidFill>
                <a:ea typeface="+mn-lt"/>
                <a:cs typeface="+mn-lt"/>
              </a:rPr>
              <a:t>,</a:t>
            </a:r>
            <a:r>
              <a:rPr lang="en-US" sz="1600" dirty="0">
                <a:ea typeface="+mn-lt"/>
                <a:cs typeface="+mn-lt"/>
              </a:rPr>
              <a:t> Route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"react-router-</a:t>
            </a:r>
            <a:r>
              <a:rPr lang="en-US" sz="1600" dirty="0" err="1">
                <a:solidFill>
                  <a:srgbClr val="669900"/>
                </a:solidFill>
                <a:ea typeface="+mn-lt"/>
                <a:cs typeface="+mn-lt"/>
              </a:rPr>
              <a:t>dom</a:t>
            </a:r>
            <a:r>
              <a:rPr lang="en-US" sz="1600" dirty="0">
                <a:solidFill>
                  <a:srgbClr val="669900"/>
                </a:solidFill>
                <a:ea typeface="+mn-lt"/>
                <a:cs typeface="+mn-lt"/>
              </a:rPr>
              <a:t>"</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import</a:t>
            </a:r>
            <a:r>
              <a:rPr lang="en-US" sz="1600" dirty="0">
                <a:ea typeface="+mn-lt"/>
                <a:cs typeface="+mn-lt"/>
              </a:rPr>
              <a:t> Layout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"./pages/Layout"</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import</a:t>
            </a:r>
            <a:r>
              <a:rPr lang="en-US" sz="1600" dirty="0">
                <a:ea typeface="+mn-lt"/>
                <a:cs typeface="+mn-lt"/>
              </a:rPr>
              <a:t> Home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"./pages/Home"</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import</a:t>
            </a:r>
            <a:r>
              <a:rPr lang="en-US" sz="1600" dirty="0">
                <a:ea typeface="+mn-lt"/>
                <a:cs typeface="+mn-lt"/>
              </a:rPr>
              <a:t> Blogs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"./pages/Blogs"</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import</a:t>
            </a:r>
            <a:r>
              <a:rPr lang="en-US" sz="1600" dirty="0">
                <a:ea typeface="+mn-lt"/>
                <a:cs typeface="+mn-lt"/>
              </a:rPr>
              <a:t> Contact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"./pages/Contact"</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import</a:t>
            </a:r>
            <a:r>
              <a:rPr lang="en-US" sz="1600" dirty="0">
                <a:ea typeface="+mn-lt"/>
                <a:cs typeface="+mn-lt"/>
              </a:rPr>
              <a:t> </a:t>
            </a:r>
            <a:r>
              <a:rPr lang="en-US" sz="1600" dirty="0" err="1">
                <a:ea typeface="+mn-lt"/>
                <a:cs typeface="+mn-lt"/>
              </a:rPr>
              <a:t>NoPage</a:t>
            </a:r>
            <a:r>
              <a:rPr lang="en-US" sz="1600" dirty="0">
                <a:ea typeface="+mn-lt"/>
                <a:cs typeface="+mn-lt"/>
              </a:rPr>
              <a:t>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"./pages/</a:t>
            </a:r>
            <a:r>
              <a:rPr lang="en-US" sz="1600" dirty="0" err="1">
                <a:solidFill>
                  <a:srgbClr val="669900"/>
                </a:solidFill>
                <a:ea typeface="+mn-lt"/>
                <a:cs typeface="+mn-lt"/>
              </a:rPr>
              <a:t>NoPage</a:t>
            </a:r>
            <a:r>
              <a:rPr lang="en-US" sz="1600" dirty="0">
                <a:solidFill>
                  <a:srgbClr val="669900"/>
                </a:solidFill>
                <a:ea typeface="+mn-lt"/>
                <a:cs typeface="+mn-lt"/>
              </a:rPr>
              <a:t>"</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export</a:t>
            </a:r>
            <a:r>
              <a:rPr lang="en-US" sz="1600" dirty="0">
                <a:ea typeface="+mn-lt"/>
                <a:cs typeface="+mn-lt"/>
              </a:rPr>
              <a:t> </a:t>
            </a:r>
            <a:r>
              <a:rPr lang="en-US" sz="1600" dirty="0">
                <a:solidFill>
                  <a:srgbClr val="0077AA"/>
                </a:solidFill>
                <a:ea typeface="+mn-lt"/>
                <a:cs typeface="+mn-lt"/>
              </a:rPr>
              <a:t>default</a:t>
            </a:r>
            <a:r>
              <a:rPr lang="en-US" sz="1600" dirty="0">
                <a:ea typeface="+mn-lt"/>
                <a:cs typeface="+mn-lt"/>
              </a:rPr>
              <a:t> </a:t>
            </a:r>
            <a:r>
              <a:rPr lang="en-US" sz="1600" dirty="0">
                <a:solidFill>
                  <a:srgbClr val="0077AA"/>
                </a:solidFill>
                <a:ea typeface="+mn-lt"/>
                <a:cs typeface="+mn-lt"/>
              </a:rPr>
              <a:t>function</a:t>
            </a:r>
            <a:r>
              <a:rPr lang="en-US" sz="1600" dirty="0">
                <a:ea typeface="+mn-lt"/>
                <a:cs typeface="+mn-lt"/>
              </a:rPr>
              <a:t> </a:t>
            </a:r>
            <a:r>
              <a:rPr lang="en-US" sz="1600" dirty="0">
                <a:solidFill>
                  <a:srgbClr val="DD4A68"/>
                </a:solidFill>
                <a:ea typeface="+mn-lt"/>
                <a:cs typeface="+mn-lt"/>
              </a:rPr>
              <a:t>App</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return</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&lt;</a:t>
            </a:r>
            <a:r>
              <a:rPr lang="en-US" sz="1600" dirty="0" err="1">
                <a:solidFill>
                  <a:srgbClr val="DD4A68"/>
                </a:solidFill>
                <a:ea typeface="+mn-lt"/>
                <a:cs typeface="+mn-lt"/>
              </a:rPr>
              <a:t>BrowserRouter</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Routes</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a:t>
            </a:r>
            <a:r>
              <a:rPr lang="en-US" sz="1600" dirty="0">
                <a:solidFill>
                  <a:srgbClr val="990055"/>
                </a:solidFill>
                <a:ea typeface="+mn-lt"/>
                <a:cs typeface="+mn-lt"/>
              </a:rPr>
              <a:t> </a:t>
            </a:r>
            <a:r>
              <a:rPr lang="en-US" sz="1600" dirty="0">
                <a:solidFill>
                  <a:srgbClr val="669900"/>
                </a:solidFill>
                <a:ea typeface="+mn-lt"/>
                <a:cs typeface="+mn-lt"/>
              </a:rPr>
              <a:t>path</a:t>
            </a:r>
            <a:r>
              <a:rPr lang="en-US" sz="1600" dirty="0">
                <a:solidFill>
                  <a:srgbClr val="999999"/>
                </a:solidFill>
                <a:ea typeface="+mn-lt"/>
                <a:cs typeface="+mn-lt"/>
              </a:rPr>
              <a:t>="</a:t>
            </a:r>
            <a:r>
              <a:rPr lang="en-US" sz="1600" dirty="0">
                <a:solidFill>
                  <a:srgbClr val="0077AA"/>
                </a:solidFill>
                <a:ea typeface="+mn-lt"/>
                <a:cs typeface="+mn-lt"/>
              </a:rPr>
              <a:t>/</a:t>
            </a:r>
            <a:r>
              <a:rPr lang="en-US" sz="1600" dirty="0">
                <a:solidFill>
                  <a:srgbClr val="999999"/>
                </a:solidFill>
                <a:ea typeface="+mn-lt"/>
                <a:cs typeface="+mn-lt"/>
              </a:rPr>
              <a:t>"</a:t>
            </a:r>
            <a:r>
              <a:rPr lang="en-US" sz="1600" dirty="0">
                <a:solidFill>
                  <a:srgbClr val="990055"/>
                </a:solidFill>
                <a:ea typeface="+mn-lt"/>
                <a:cs typeface="+mn-lt"/>
              </a:rPr>
              <a:t> </a:t>
            </a:r>
            <a:r>
              <a:rPr lang="en-US" sz="1600" dirty="0">
                <a:solidFill>
                  <a:srgbClr val="669900"/>
                </a:solidFill>
                <a:ea typeface="+mn-lt"/>
                <a:cs typeface="+mn-lt"/>
              </a:rPr>
              <a:t>element</a:t>
            </a:r>
            <a:r>
              <a:rPr lang="en-US" sz="1600" dirty="0">
                <a:solidFill>
                  <a:srgbClr val="999999"/>
                </a:solidFill>
                <a:ea typeface="+mn-lt"/>
                <a:cs typeface="+mn-lt"/>
              </a:rPr>
              <a:t>={&lt;</a:t>
            </a:r>
            <a:r>
              <a:rPr lang="en-US" sz="1600" dirty="0">
                <a:solidFill>
                  <a:srgbClr val="DD4A68"/>
                </a:solidFill>
                <a:ea typeface="+mn-lt"/>
                <a:cs typeface="+mn-lt"/>
              </a:rPr>
              <a:t>Layout</a:t>
            </a:r>
            <a:r>
              <a:rPr lang="en-US" sz="1600" dirty="0">
                <a:solidFill>
                  <a:srgbClr val="990055"/>
                </a:solidFill>
                <a:ea typeface="+mn-lt"/>
                <a:cs typeface="+mn-lt"/>
              </a:rPr>
              <a:t> </a:t>
            </a:r>
            <a:r>
              <a:rPr lang="en-US" sz="1600" dirty="0">
                <a:solidFill>
                  <a:srgbClr val="999999"/>
                </a:solidFill>
                <a:ea typeface="+mn-lt"/>
                <a:cs typeface="+mn-lt"/>
              </a:rPr>
              <a:t>/&gt;}&gt;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a:t>
            </a:r>
            <a:r>
              <a:rPr lang="en-US" sz="1600" dirty="0">
                <a:solidFill>
                  <a:srgbClr val="990055"/>
                </a:solidFill>
                <a:ea typeface="+mn-lt"/>
                <a:cs typeface="+mn-lt"/>
              </a:rPr>
              <a:t> </a:t>
            </a:r>
            <a:r>
              <a:rPr lang="en-US" sz="1600" dirty="0">
                <a:solidFill>
                  <a:srgbClr val="669900"/>
                </a:solidFill>
                <a:ea typeface="+mn-lt"/>
                <a:cs typeface="+mn-lt"/>
              </a:rPr>
              <a:t>index</a:t>
            </a:r>
            <a:r>
              <a:rPr lang="en-US" sz="1600" dirty="0">
                <a:solidFill>
                  <a:srgbClr val="990055"/>
                </a:solidFill>
                <a:ea typeface="+mn-lt"/>
                <a:cs typeface="+mn-lt"/>
              </a:rPr>
              <a:t> </a:t>
            </a:r>
            <a:r>
              <a:rPr lang="en-US" sz="1600" dirty="0">
                <a:solidFill>
                  <a:srgbClr val="669900"/>
                </a:solidFill>
                <a:ea typeface="+mn-lt"/>
                <a:cs typeface="+mn-lt"/>
              </a:rPr>
              <a:t>element</a:t>
            </a:r>
            <a:r>
              <a:rPr lang="en-US" sz="1600" dirty="0">
                <a:solidFill>
                  <a:srgbClr val="999999"/>
                </a:solidFill>
                <a:ea typeface="+mn-lt"/>
                <a:cs typeface="+mn-lt"/>
              </a:rPr>
              <a:t>={&lt;</a:t>
            </a:r>
            <a:r>
              <a:rPr lang="en-US" sz="1600" dirty="0">
                <a:solidFill>
                  <a:srgbClr val="DD4A68"/>
                </a:solidFill>
                <a:ea typeface="+mn-lt"/>
                <a:cs typeface="+mn-lt"/>
              </a:rPr>
              <a:t>Home</a:t>
            </a:r>
            <a:r>
              <a:rPr lang="en-US" sz="1600" dirty="0">
                <a:solidFill>
                  <a:srgbClr val="990055"/>
                </a:solidFill>
                <a:ea typeface="+mn-lt"/>
                <a:cs typeface="+mn-lt"/>
              </a:rPr>
              <a:t> </a:t>
            </a:r>
            <a:r>
              <a:rPr lang="en-US" sz="1600" dirty="0">
                <a:solidFill>
                  <a:srgbClr val="999999"/>
                </a:solidFill>
                <a:ea typeface="+mn-lt"/>
                <a:cs typeface="+mn-lt"/>
              </a:rPr>
              <a:t>/&gt;}</a:t>
            </a:r>
            <a:r>
              <a:rPr lang="en-US" sz="1600" dirty="0">
                <a:solidFill>
                  <a:srgbClr val="990055"/>
                </a:solidFill>
                <a:ea typeface="+mn-lt"/>
                <a:cs typeface="+mn-lt"/>
              </a:rPr>
              <a:t> </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a:t>
            </a:r>
            <a:r>
              <a:rPr lang="en-US" sz="1600" dirty="0">
                <a:solidFill>
                  <a:srgbClr val="990055"/>
                </a:solidFill>
                <a:ea typeface="+mn-lt"/>
                <a:cs typeface="+mn-lt"/>
              </a:rPr>
              <a:t> </a:t>
            </a:r>
            <a:r>
              <a:rPr lang="en-US" sz="1600" dirty="0">
                <a:solidFill>
                  <a:srgbClr val="669900"/>
                </a:solidFill>
                <a:ea typeface="+mn-lt"/>
                <a:cs typeface="+mn-lt"/>
              </a:rPr>
              <a:t>path</a:t>
            </a:r>
            <a:r>
              <a:rPr lang="en-US" sz="1600" dirty="0">
                <a:solidFill>
                  <a:srgbClr val="999999"/>
                </a:solidFill>
                <a:ea typeface="+mn-lt"/>
                <a:cs typeface="+mn-lt"/>
              </a:rPr>
              <a:t>="</a:t>
            </a:r>
            <a:r>
              <a:rPr lang="en-US" sz="1600" dirty="0">
                <a:solidFill>
                  <a:srgbClr val="0077AA"/>
                </a:solidFill>
                <a:ea typeface="+mn-lt"/>
                <a:cs typeface="+mn-lt"/>
              </a:rPr>
              <a:t>blogs</a:t>
            </a:r>
            <a:r>
              <a:rPr lang="en-US" sz="1600" dirty="0">
                <a:solidFill>
                  <a:srgbClr val="999999"/>
                </a:solidFill>
                <a:ea typeface="+mn-lt"/>
                <a:cs typeface="+mn-lt"/>
              </a:rPr>
              <a:t>"</a:t>
            </a:r>
            <a:r>
              <a:rPr lang="en-US" sz="1600" dirty="0">
                <a:solidFill>
                  <a:srgbClr val="990055"/>
                </a:solidFill>
                <a:ea typeface="+mn-lt"/>
                <a:cs typeface="+mn-lt"/>
              </a:rPr>
              <a:t> </a:t>
            </a:r>
            <a:r>
              <a:rPr lang="en-US" sz="1600" dirty="0">
                <a:solidFill>
                  <a:srgbClr val="669900"/>
                </a:solidFill>
                <a:ea typeface="+mn-lt"/>
                <a:cs typeface="+mn-lt"/>
              </a:rPr>
              <a:t>element</a:t>
            </a:r>
            <a:r>
              <a:rPr lang="en-US" sz="1600" dirty="0">
                <a:solidFill>
                  <a:srgbClr val="999999"/>
                </a:solidFill>
                <a:ea typeface="+mn-lt"/>
                <a:cs typeface="+mn-lt"/>
              </a:rPr>
              <a:t>={&lt;</a:t>
            </a:r>
            <a:r>
              <a:rPr lang="en-US" sz="1600" dirty="0">
                <a:solidFill>
                  <a:srgbClr val="DD4A68"/>
                </a:solidFill>
                <a:ea typeface="+mn-lt"/>
                <a:cs typeface="+mn-lt"/>
              </a:rPr>
              <a:t>Blogs</a:t>
            </a:r>
            <a:r>
              <a:rPr lang="en-US" sz="1600" dirty="0">
                <a:solidFill>
                  <a:srgbClr val="990055"/>
                </a:solidFill>
                <a:ea typeface="+mn-lt"/>
                <a:cs typeface="+mn-lt"/>
              </a:rPr>
              <a:t> </a:t>
            </a:r>
            <a:r>
              <a:rPr lang="en-US" sz="1600" dirty="0">
                <a:solidFill>
                  <a:srgbClr val="999999"/>
                </a:solidFill>
                <a:ea typeface="+mn-lt"/>
                <a:cs typeface="+mn-lt"/>
              </a:rPr>
              <a:t>/&gt;}</a:t>
            </a:r>
            <a:r>
              <a:rPr lang="en-US" sz="1600" dirty="0">
                <a:solidFill>
                  <a:srgbClr val="990055"/>
                </a:solidFill>
                <a:ea typeface="+mn-lt"/>
                <a:cs typeface="+mn-lt"/>
              </a:rPr>
              <a:t> </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a:t>
            </a:r>
            <a:r>
              <a:rPr lang="en-US" sz="1600" dirty="0">
                <a:solidFill>
                  <a:srgbClr val="990055"/>
                </a:solidFill>
                <a:ea typeface="+mn-lt"/>
                <a:cs typeface="+mn-lt"/>
              </a:rPr>
              <a:t> </a:t>
            </a:r>
            <a:r>
              <a:rPr lang="en-US" sz="1600" dirty="0">
                <a:solidFill>
                  <a:srgbClr val="669900"/>
                </a:solidFill>
                <a:ea typeface="+mn-lt"/>
                <a:cs typeface="+mn-lt"/>
              </a:rPr>
              <a:t>path</a:t>
            </a:r>
            <a:r>
              <a:rPr lang="en-US" sz="1600" dirty="0">
                <a:solidFill>
                  <a:srgbClr val="999999"/>
                </a:solidFill>
                <a:ea typeface="+mn-lt"/>
                <a:cs typeface="+mn-lt"/>
              </a:rPr>
              <a:t>="</a:t>
            </a:r>
            <a:r>
              <a:rPr lang="en-US" sz="1600" dirty="0">
                <a:solidFill>
                  <a:srgbClr val="0077AA"/>
                </a:solidFill>
                <a:ea typeface="+mn-lt"/>
                <a:cs typeface="+mn-lt"/>
              </a:rPr>
              <a:t>contact</a:t>
            </a:r>
            <a:r>
              <a:rPr lang="en-US" sz="1600" dirty="0">
                <a:solidFill>
                  <a:srgbClr val="999999"/>
                </a:solidFill>
                <a:ea typeface="+mn-lt"/>
                <a:cs typeface="+mn-lt"/>
              </a:rPr>
              <a:t>"</a:t>
            </a:r>
            <a:r>
              <a:rPr lang="en-US" sz="1600" dirty="0">
                <a:solidFill>
                  <a:srgbClr val="990055"/>
                </a:solidFill>
                <a:ea typeface="+mn-lt"/>
                <a:cs typeface="+mn-lt"/>
              </a:rPr>
              <a:t> </a:t>
            </a:r>
            <a:r>
              <a:rPr lang="en-US" sz="1600" dirty="0">
                <a:solidFill>
                  <a:srgbClr val="669900"/>
                </a:solidFill>
                <a:ea typeface="+mn-lt"/>
                <a:cs typeface="+mn-lt"/>
              </a:rPr>
              <a:t>element</a:t>
            </a:r>
            <a:r>
              <a:rPr lang="en-US" sz="1600" dirty="0">
                <a:solidFill>
                  <a:srgbClr val="999999"/>
                </a:solidFill>
                <a:ea typeface="+mn-lt"/>
                <a:cs typeface="+mn-lt"/>
              </a:rPr>
              <a:t>={&lt;</a:t>
            </a:r>
            <a:r>
              <a:rPr lang="en-US" sz="1600" dirty="0">
                <a:solidFill>
                  <a:srgbClr val="DD4A68"/>
                </a:solidFill>
                <a:ea typeface="+mn-lt"/>
                <a:cs typeface="+mn-lt"/>
              </a:rPr>
              <a:t>Contact</a:t>
            </a:r>
            <a:r>
              <a:rPr lang="en-US" sz="1600" dirty="0">
                <a:solidFill>
                  <a:srgbClr val="990055"/>
                </a:solidFill>
                <a:ea typeface="+mn-lt"/>
                <a:cs typeface="+mn-lt"/>
              </a:rPr>
              <a:t> </a:t>
            </a:r>
            <a:r>
              <a:rPr lang="en-US" sz="1600" dirty="0">
                <a:solidFill>
                  <a:srgbClr val="999999"/>
                </a:solidFill>
                <a:ea typeface="+mn-lt"/>
                <a:cs typeface="+mn-lt"/>
              </a:rPr>
              <a:t>/&gt;}</a:t>
            </a:r>
            <a:r>
              <a:rPr lang="en-US" sz="1600" dirty="0">
                <a:solidFill>
                  <a:srgbClr val="990055"/>
                </a:solidFill>
                <a:ea typeface="+mn-lt"/>
                <a:cs typeface="+mn-lt"/>
              </a:rPr>
              <a:t> </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a:t>
            </a:r>
            <a:r>
              <a:rPr lang="en-US" sz="1600" dirty="0">
                <a:solidFill>
                  <a:srgbClr val="990055"/>
                </a:solidFill>
                <a:ea typeface="+mn-lt"/>
                <a:cs typeface="+mn-lt"/>
              </a:rPr>
              <a:t> </a:t>
            </a:r>
            <a:r>
              <a:rPr lang="en-US" sz="1600" dirty="0">
                <a:solidFill>
                  <a:srgbClr val="669900"/>
                </a:solidFill>
                <a:ea typeface="+mn-lt"/>
                <a:cs typeface="+mn-lt"/>
              </a:rPr>
              <a:t>path</a:t>
            </a:r>
            <a:r>
              <a:rPr lang="en-US" sz="1600" dirty="0">
                <a:solidFill>
                  <a:srgbClr val="999999"/>
                </a:solidFill>
                <a:ea typeface="+mn-lt"/>
                <a:cs typeface="+mn-lt"/>
              </a:rPr>
              <a:t>="</a:t>
            </a:r>
            <a:r>
              <a:rPr lang="en-US" sz="1600" dirty="0">
                <a:solidFill>
                  <a:srgbClr val="0077AA"/>
                </a:solidFill>
                <a:ea typeface="+mn-lt"/>
                <a:cs typeface="+mn-lt"/>
              </a:rPr>
              <a:t>*</a:t>
            </a:r>
            <a:r>
              <a:rPr lang="en-US" sz="1600" dirty="0">
                <a:solidFill>
                  <a:srgbClr val="999999"/>
                </a:solidFill>
                <a:ea typeface="+mn-lt"/>
                <a:cs typeface="+mn-lt"/>
              </a:rPr>
              <a:t>"</a:t>
            </a:r>
            <a:r>
              <a:rPr lang="en-US" sz="1600" dirty="0">
                <a:solidFill>
                  <a:srgbClr val="990055"/>
                </a:solidFill>
                <a:ea typeface="+mn-lt"/>
                <a:cs typeface="+mn-lt"/>
              </a:rPr>
              <a:t> </a:t>
            </a:r>
            <a:r>
              <a:rPr lang="en-US" sz="1600" dirty="0">
                <a:solidFill>
                  <a:srgbClr val="669900"/>
                </a:solidFill>
                <a:ea typeface="+mn-lt"/>
                <a:cs typeface="+mn-lt"/>
              </a:rPr>
              <a:t>element</a:t>
            </a:r>
            <a:r>
              <a:rPr lang="en-US" sz="1600" dirty="0">
                <a:solidFill>
                  <a:srgbClr val="999999"/>
                </a:solidFill>
                <a:ea typeface="+mn-lt"/>
                <a:cs typeface="+mn-lt"/>
              </a:rPr>
              <a:t>={&lt;</a:t>
            </a:r>
            <a:r>
              <a:rPr lang="en-US" sz="1600" dirty="0" err="1">
                <a:solidFill>
                  <a:srgbClr val="DD4A68"/>
                </a:solidFill>
                <a:ea typeface="+mn-lt"/>
                <a:cs typeface="+mn-lt"/>
              </a:rPr>
              <a:t>NoPage</a:t>
            </a:r>
            <a:r>
              <a:rPr lang="en-US" sz="1600" dirty="0">
                <a:solidFill>
                  <a:srgbClr val="990055"/>
                </a:solidFill>
                <a:ea typeface="+mn-lt"/>
                <a:cs typeface="+mn-lt"/>
              </a:rPr>
              <a:t> </a:t>
            </a:r>
            <a:r>
              <a:rPr lang="en-US" sz="1600" dirty="0">
                <a:solidFill>
                  <a:srgbClr val="999999"/>
                </a:solidFill>
                <a:ea typeface="+mn-lt"/>
                <a:cs typeface="+mn-lt"/>
              </a:rPr>
              <a:t>/&gt;}</a:t>
            </a:r>
            <a:r>
              <a:rPr lang="en-US" sz="1600" dirty="0">
                <a:solidFill>
                  <a:srgbClr val="990055"/>
                </a:solidFill>
                <a:ea typeface="+mn-lt"/>
                <a:cs typeface="+mn-lt"/>
              </a:rPr>
              <a:t> </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DD4A68"/>
                </a:solidFill>
                <a:ea typeface="+mn-lt"/>
                <a:cs typeface="+mn-lt"/>
              </a:rPr>
              <a:t>Routes</a:t>
            </a:r>
            <a:r>
              <a:rPr lang="en-US" sz="1600" dirty="0">
                <a:solidFill>
                  <a:srgbClr val="999999"/>
                </a:solidFill>
                <a:ea typeface="+mn-lt"/>
                <a:cs typeface="+mn-lt"/>
              </a:rPr>
              <a:t>&gt;</a:t>
            </a:r>
            <a:r>
              <a:rPr lang="en-US" sz="1600" dirty="0">
                <a:ea typeface="+mn-lt"/>
                <a:cs typeface="+mn-lt"/>
              </a:rPr>
              <a:t>
    </a:t>
            </a:r>
            <a:r>
              <a:rPr lang="en-US" sz="1600" dirty="0">
                <a:solidFill>
                  <a:srgbClr val="999999"/>
                </a:solidFill>
                <a:ea typeface="+mn-lt"/>
                <a:cs typeface="+mn-lt"/>
              </a:rPr>
              <a:t>&lt;/</a:t>
            </a:r>
            <a:r>
              <a:rPr lang="en-US" sz="1600" dirty="0" err="1">
                <a:solidFill>
                  <a:srgbClr val="DD4A68"/>
                </a:solidFill>
                <a:ea typeface="+mn-lt"/>
                <a:cs typeface="+mn-lt"/>
              </a:rPr>
              <a:t>BrowserRouter</a:t>
            </a:r>
            <a:r>
              <a:rPr lang="en-US" sz="1600" dirty="0">
                <a:solidFill>
                  <a:srgbClr val="999999"/>
                </a:solidFill>
                <a:ea typeface="+mn-lt"/>
                <a:cs typeface="+mn-lt"/>
              </a:rPr>
              <a:t>&gt;</a:t>
            </a:r>
            <a:r>
              <a:rPr lang="en-US" sz="1600" dirty="0">
                <a:ea typeface="+mn-lt"/>
                <a:cs typeface="+mn-lt"/>
              </a:rPr>
              <a:t>
 </a:t>
            </a:r>
            <a:r>
              <a:rPr lang="en-US" sz="1600" dirty="0">
                <a:solidFill>
                  <a:srgbClr val="000000"/>
                </a:solidFill>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endParaRPr lang="en-US" sz="1600" dirty="0">
              <a:solidFill>
                <a:srgbClr val="000000"/>
              </a:solidFill>
              <a:ea typeface="+mn-lt"/>
              <a:cs typeface="+mn-lt"/>
            </a:endParaRPr>
          </a:p>
          <a:p>
            <a:pPr lvl="1"/>
            <a:endParaRPr lang="en-US" sz="1400" dirty="0">
              <a:solidFill>
                <a:srgbClr val="0077AA"/>
              </a:solidFill>
              <a:ea typeface="+mn-lt"/>
              <a:cs typeface="+mn-lt"/>
            </a:endParaRPr>
          </a:p>
          <a:p>
            <a:pPr marL="914400" lvl="1" indent="-457200">
              <a:lnSpc>
                <a:spcPct val="90000"/>
              </a:lnSpc>
              <a:spcBef>
                <a:spcPts val="500"/>
              </a:spcBef>
              <a:buAutoNum type="arabicPeriod"/>
            </a:pPr>
            <a:endParaRPr lang="en-US" sz="1400" dirty="0">
              <a:solidFill>
                <a:srgbClr val="0077AA"/>
              </a:solidFill>
              <a:latin typeface="Calibri"/>
              <a:ea typeface="+mn-lt"/>
              <a:cs typeface="Arial"/>
            </a:endParaRPr>
          </a:p>
          <a:p>
            <a:pPr marL="457200">
              <a:lnSpc>
                <a:spcPct val="90000"/>
              </a:lnSpc>
              <a:spcBef>
                <a:spcPts val="500"/>
              </a:spcBef>
            </a:pPr>
            <a:br>
              <a:rPr lang="en-US" sz="1400" dirty="0">
                <a:ea typeface="+mn-lt"/>
                <a:cs typeface="+mn-lt"/>
              </a:rPr>
            </a:br>
            <a:br>
              <a:rPr lang="en-US" sz="1100" dirty="0">
                <a:solidFill>
                  <a:srgbClr val="000000"/>
                </a:solidFill>
                <a:ea typeface="+mn-lt"/>
                <a:cs typeface="+mn-lt"/>
              </a:rPr>
            </a:br>
            <a:endParaRPr lang="en-US" sz="1400" dirty="0">
              <a:ea typeface="+mn-lt"/>
              <a:cs typeface="+mn-lt"/>
            </a:endParaRPr>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4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Calibri"/>
              <a:cs typeface="Arial"/>
            </a:endParaRPr>
          </a:p>
        </p:txBody>
      </p:sp>
    </p:spTree>
    <p:extLst>
      <p:ext uri="{BB962C8B-B14F-4D97-AF65-F5344CB8AC3E}">
        <p14:creationId xmlns:p14="http://schemas.microsoft.com/office/powerpoint/2010/main" val="2248564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63335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u="sng" dirty="0">
                <a:solidFill>
                  <a:srgbClr val="000000"/>
                </a:solidFill>
                <a:ea typeface="+mn-lt"/>
                <a:cs typeface="+mn-lt"/>
              </a:rPr>
              <a:t>Explained with Example: </a:t>
            </a:r>
          </a:p>
          <a:p>
            <a:pPr lvl="1"/>
            <a:r>
              <a:rPr lang="en-US" sz="1600" dirty="0">
                <a:solidFill>
                  <a:srgbClr val="000000"/>
                </a:solidFill>
                <a:ea typeface="+mn-lt"/>
                <a:cs typeface="+mn-lt"/>
              </a:rPr>
              <a:t>We</a:t>
            </a:r>
            <a:r>
              <a:rPr lang="en-US" sz="1600" dirty="0">
                <a:ea typeface="+mn-lt"/>
                <a:cs typeface="+mn-lt"/>
              </a:rPr>
              <a:t> wrap our content first with </a:t>
            </a:r>
            <a:r>
              <a:rPr lang="en-US" sz="1600" dirty="0">
                <a:solidFill>
                  <a:srgbClr val="000000"/>
                </a:solidFill>
                <a:ea typeface="+mn-lt"/>
                <a:cs typeface="+mn-lt"/>
              </a:rPr>
              <a:t>&lt;</a:t>
            </a:r>
            <a:r>
              <a:rPr lang="en-US" sz="1600" dirty="0" err="1">
                <a:solidFill>
                  <a:srgbClr val="000000"/>
                </a:solidFill>
                <a:ea typeface="+mn-lt"/>
                <a:cs typeface="+mn-lt"/>
              </a:rPr>
              <a:t>BrowserRouter</a:t>
            </a:r>
            <a:r>
              <a:rPr lang="en-US" sz="1600" dirty="0">
                <a:solidFill>
                  <a:srgbClr val="000000"/>
                </a:solidFill>
                <a:ea typeface="+mn-lt"/>
                <a:cs typeface="+mn-lt"/>
              </a:rPr>
              <a:t>&gt;.</a:t>
            </a:r>
            <a:endParaRPr lang="en-US" sz="1600">
              <a:ea typeface="Calibri"/>
              <a:cs typeface="Calibri"/>
            </a:endParaRPr>
          </a:p>
          <a:p>
            <a:pPr lvl="1"/>
            <a:r>
              <a:rPr lang="en-US" sz="1600" dirty="0">
                <a:solidFill>
                  <a:srgbClr val="000000"/>
                </a:solidFill>
                <a:ea typeface="+mn-lt"/>
                <a:cs typeface="+mn-lt"/>
              </a:rPr>
              <a:t>Then we define our </a:t>
            </a:r>
            <a:r>
              <a:rPr lang="en-US" sz="1600" dirty="0">
                <a:ea typeface="+mn-lt"/>
                <a:cs typeface="+mn-lt"/>
              </a:rPr>
              <a:t>&lt;</a:t>
            </a:r>
            <a:r>
              <a:rPr lang="en-US" sz="1600" dirty="0">
                <a:solidFill>
                  <a:srgbClr val="000000"/>
                </a:solidFill>
                <a:ea typeface="+mn-lt"/>
                <a:cs typeface="+mn-lt"/>
              </a:rPr>
              <a:t>Routes&gt;.</a:t>
            </a:r>
            <a:r>
              <a:rPr lang="en-US" sz="1600" dirty="0">
                <a:ea typeface="+mn-lt"/>
                <a:cs typeface="+mn-lt"/>
              </a:rPr>
              <a:t> </a:t>
            </a:r>
            <a:r>
              <a:rPr lang="en-US" sz="1600" dirty="0">
                <a:solidFill>
                  <a:srgbClr val="000000"/>
                </a:solidFill>
                <a:ea typeface="+mn-lt"/>
                <a:cs typeface="+mn-lt"/>
              </a:rPr>
              <a:t>An application </a:t>
            </a:r>
            <a:r>
              <a:rPr lang="en-US" sz="1600" dirty="0">
                <a:ea typeface="+mn-lt"/>
                <a:cs typeface="+mn-lt"/>
              </a:rPr>
              <a:t>can</a:t>
            </a:r>
            <a:r>
              <a:rPr lang="en-US" sz="1600" dirty="0">
                <a:solidFill>
                  <a:srgbClr val="000000"/>
                </a:solidFill>
                <a:ea typeface="+mn-lt"/>
                <a:cs typeface="+mn-lt"/>
              </a:rPr>
              <a:t> have multiple &lt;Routes&gt;. Our basic </a:t>
            </a:r>
            <a:r>
              <a:rPr lang="en-US" sz="1600" dirty="0">
                <a:ea typeface="+mn-lt"/>
                <a:cs typeface="+mn-lt"/>
              </a:rPr>
              <a:t>example </a:t>
            </a:r>
            <a:r>
              <a:rPr lang="en-US" sz="1600" dirty="0">
                <a:solidFill>
                  <a:srgbClr val="000000"/>
                </a:solidFill>
                <a:ea typeface="+mn-lt"/>
                <a:cs typeface="+mn-lt"/>
              </a:rPr>
              <a:t>only uses one.</a:t>
            </a:r>
          </a:p>
          <a:p>
            <a:pPr lvl="1"/>
            <a:r>
              <a:rPr lang="en-US" sz="1600" dirty="0">
                <a:solidFill>
                  <a:srgbClr val="000000"/>
                </a:solidFill>
                <a:ea typeface="+mn-lt"/>
                <a:cs typeface="+mn-lt"/>
              </a:rPr>
              <a:t>&lt;Route&gt;</a:t>
            </a:r>
            <a:r>
              <a:rPr lang="en-US" sz="1600" dirty="0">
                <a:ea typeface="+mn-lt"/>
                <a:cs typeface="+mn-lt"/>
              </a:rPr>
              <a:t>s can be nested. The first </a:t>
            </a:r>
            <a:r>
              <a:rPr lang="en-US" sz="1600" dirty="0">
                <a:solidFill>
                  <a:srgbClr val="000000"/>
                </a:solidFill>
                <a:ea typeface="+mn-lt"/>
                <a:cs typeface="+mn-lt"/>
              </a:rPr>
              <a:t>&lt;Route&gt; has a path of / and renders the Layout component.</a:t>
            </a:r>
            <a:endParaRPr lang="en-US" sz="1600">
              <a:cs typeface="Calibri"/>
            </a:endParaRPr>
          </a:p>
          <a:p>
            <a:pPr lvl="1"/>
            <a:r>
              <a:rPr lang="en-US" sz="1600" dirty="0">
                <a:solidFill>
                  <a:srgbClr val="000000"/>
                </a:solidFill>
                <a:ea typeface="+mn-lt"/>
                <a:cs typeface="+mn-lt"/>
              </a:rPr>
              <a:t>The nested &lt;Route&gt;s inherit and add to the parent route. So the blogs path is combined with the parent and becomes /blogs.</a:t>
            </a:r>
            <a:endParaRPr lang="en-US" sz="1600">
              <a:cs typeface="Calibri"/>
            </a:endParaRPr>
          </a:p>
          <a:p>
            <a:pPr lvl="1"/>
            <a:r>
              <a:rPr lang="en-US" sz="1600" dirty="0">
                <a:solidFill>
                  <a:srgbClr val="000000"/>
                </a:solidFill>
                <a:ea typeface="+mn-lt"/>
                <a:cs typeface="+mn-lt"/>
              </a:rPr>
              <a:t>The Home component route does not have a path but has an index attribute. That specifies this route as the default route for the parent route, which is /.</a:t>
            </a:r>
            <a:endParaRPr lang="en-US" sz="1600">
              <a:cs typeface="Calibri"/>
            </a:endParaRPr>
          </a:p>
          <a:p>
            <a:pPr lvl="1"/>
            <a:r>
              <a:rPr lang="en-US" sz="1600" dirty="0">
                <a:solidFill>
                  <a:srgbClr val="000000"/>
                </a:solidFill>
                <a:ea typeface="+mn-lt"/>
                <a:cs typeface="+mn-lt"/>
              </a:rPr>
              <a:t>Setting the path to * will act as a catch-all for any undefined URLs. This is great for a 404 error page.</a:t>
            </a:r>
            <a:endParaRPr lang="en-US" sz="1600" dirty="0"/>
          </a:p>
          <a:p>
            <a:pPr lvl="1"/>
            <a:endParaRPr lang="en-US" sz="1400" dirty="0">
              <a:solidFill>
                <a:srgbClr val="000000"/>
              </a:solidFill>
              <a:ea typeface="+mn-lt"/>
              <a:cs typeface="+mn-lt"/>
            </a:endParaRPr>
          </a:p>
          <a:p>
            <a:pPr lvl="1"/>
            <a:endParaRPr lang="en-US" sz="1400" dirty="0">
              <a:solidFill>
                <a:srgbClr val="0077AA"/>
              </a:solidFill>
              <a:ea typeface="+mn-lt"/>
              <a:cs typeface="+mn-lt"/>
            </a:endParaRPr>
          </a:p>
          <a:p>
            <a:pPr marL="914400" lvl="1" indent="-457200">
              <a:lnSpc>
                <a:spcPct val="90000"/>
              </a:lnSpc>
              <a:spcBef>
                <a:spcPts val="500"/>
              </a:spcBef>
              <a:buAutoNum type="arabicPeriod"/>
            </a:pPr>
            <a:endParaRPr lang="en-US" sz="1400" dirty="0">
              <a:solidFill>
                <a:srgbClr val="0077AA"/>
              </a:solidFill>
              <a:latin typeface="Calibri"/>
              <a:ea typeface="+mn-lt"/>
              <a:cs typeface="Arial"/>
            </a:endParaRPr>
          </a:p>
          <a:p>
            <a:pPr lvl="1"/>
            <a:r>
              <a:rPr lang="en-US" sz="1600" b="1" u="sng" dirty="0">
                <a:solidFill>
                  <a:srgbClr val="000000"/>
                </a:solidFill>
                <a:ea typeface="+mn-lt"/>
                <a:cs typeface="+mn-lt"/>
              </a:rPr>
              <a:t>Pages / Components</a:t>
            </a:r>
          </a:p>
          <a:p>
            <a:pPr lvl="1"/>
            <a:r>
              <a:rPr lang="en-US" sz="1600" dirty="0">
                <a:solidFill>
                  <a:srgbClr val="000000"/>
                </a:solidFill>
                <a:ea typeface="+mn-lt"/>
                <a:cs typeface="+mn-lt"/>
              </a:rPr>
              <a:t>The Layout component has &lt;Outlet&gt; and &lt;Link&gt; elements.</a:t>
            </a:r>
          </a:p>
          <a:p>
            <a:pPr lvl="1"/>
            <a:r>
              <a:rPr lang="en-US" sz="1600" dirty="0">
                <a:solidFill>
                  <a:srgbClr val="000000"/>
                </a:solidFill>
                <a:ea typeface="+mn-lt"/>
                <a:cs typeface="+mn-lt"/>
              </a:rPr>
              <a:t>The &lt;Outlet&gt; renders the current route selected.</a:t>
            </a:r>
          </a:p>
          <a:p>
            <a:pPr lvl="1"/>
            <a:r>
              <a:rPr lang="en-US" sz="1600" dirty="0">
                <a:solidFill>
                  <a:srgbClr val="000000"/>
                </a:solidFill>
                <a:ea typeface="+mn-lt"/>
                <a:cs typeface="+mn-lt"/>
              </a:rPr>
              <a:t>&lt;Link&gt; is used to set the URL and keep track of browsing history.</a:t>
            </a:r>
          </a:p>
          <a:p>
            <a:pPr lvl="1"/>
            <a:r>
              <a:rPr lang="en-US" sz="1600" dirty="0">
                <a:solidFill>
                  <a:srgbClr val="000000"/>
                </a:solidFill>
                <a:ea typeface="+mn-lt"/>
                <a:cs typeface="+mn-lt"/>
              </a:rPr>
              <a:t>Anytime we link to an internal path, we will use &lt;Link&gt; instead of &lt;a </a:t>
            </a:r>
            <a:r>
              <a:rPr lang="en-US" sz="1600" dirty="0" err="1">
                <a:solidFill>
                  <a:srgbClr val="000000"/>
                </a:solidFill>
                <a:ea typeface="+mn-lt"/>
                <a:cs typeface="+mn-lt"/>
              </a:rPr>
              <a:t>href</a:t>
            </a:r>
            <a:r>
              <a:rPr lang="en-US" sz="1600" dirty="0">
                <a:solidFill>
                  <a:srgbClr val="000000"/>
                </a:solidFill>
                <a:ea typeface="+mn-lt"/>
                <a:cs typeface="+mn-lt"/>
              </a:rPr>
              <a:t>=""&gt;.</a:t>
            </a:r>
          </a:p>
          <a:p>
            <a:pPr lvl="1"/>
            <a:r>
              <a:rPr lang="en-US" sz="1600" dirty="0">
                <a:solidFill>
                  <a:srgbClr val="000000"/>
                </a:solidFill>
                <a:ea typeface="+mn-lt"/>
                <a:cs typeface="+mn-lt"/>
              </a:rPr>
              <a:t>The "layout route" is a shared component that inserts common content on all pages, such as a navigation menu.</a:t>
            </a:r>
          </a:p>
          <a:p>
            <a:br>
              <a:rPr lang="en-US" dirty="0"/>
            </a:br>
            <a:endParaRPr lang="en-US" dirty="0"/>
          </a:p>
          <a:p>
            <a:pPr marL="457200">
              <a:lnSpc>
                <a:spcPct val="90000"/>
              </a:lnSpc>
              <a:spcBef>
                <a:spcPts val="500"/>
              </a:spcBef>
            </a:pPr>
            <a:br>
              <a:rPr lang="en-US" sz="1400" dirty="0">
                <a:ea typeface="+mn-lt"/>
                <a:cs typeface="+mn-lt"/>
              </a:rPr>
            </a:br>
            <a:br>
              <a:rPr lang="en-US" sz="1100" dirty="0">
                <a:solidFill>
                  <a:srgbClr val="000000"/>
                </a:solidFill>
                <a:ea typeface="+mn-lt"/>
                <a:cs typeface="+mn-lt"/>
              </a:rPr>
            </a:br>
            <a:endParaRPr lang="en-US" sz="1400">
              <a:ea typeface="+mn-lt"/>
              <a:cs typeface="+mn-lt"/>
            </a:endParaRPr>
          </a:p>
          <a:p>
            <a:pPr lvl="1"/>
            <a:endParaRPr lang="en-US" sz="1400" dirty="0">
              <a:ea typeface="+mn-lt"/>
              <a:cs typeface="+mn-lt"/>
            </a:endParaRPr>
          </a:p>
          <a:p>
            <a:pPr marL="914400" lvl="3">
              <a:lnSpc>
                <a:spcPct val="90000"/>
              </a:lnSpc>
              <a:spcBef>
                <a:spcPts val="500"/>
              </a:spcBef>
            </a:pPr>
            <a:endParaRPr lang="en-US" sz="1400" dirty="0">
              <a:solidFill>
                <a:srgbClr val="000000"/>
              </a:solidFill>
              <a:latin typeface="Calibri"/>
              <a:cs typeface="Calibri" panose="020F0502020204030204"/>
            </a:endParaRPr>
          </a:p>
          <a:p>
            <a:pPr marL="628650" lvl="2" indent="-171450">
              <a:lnSpc>
                <a:spcPct val="90000"/>
              </a:lnSpc>
              <a:spcBef>
                <a:spcPts val="500"/>
              </a:spcBef>
              <a:buFont typeface="Arial,Sans-Serif"/>
              <a:buChar char="•"/>
            </a:pPr>
            <a:endParaRPr lang="en-US" sz="14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Calibri"/>
              <a:cs typeface="Arial"/>
            </a:endParaRPr>
          </a:p>
        </p:txBody>
      </p:sp>
    </p:spTree>
    <p:extLst>
      <p:ext uri="{BB962C8B-B14F-4D97-AF65-F5344CB8AC3E}">
        <p14:creationId xmlns:p14="http://schemas.microsoft.com/office/powerpoint/2010/main" val="1488575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2600" dirty="0">
                <a:latin typeface="Arial"/>
                <a:cs typeface="Arial"/>
              </a:rPr>
            </a:br>
            <a:br>
              <a:rPr lang="en-US" sz="2600" dirty="0">
                <a:latin typeface="Arial"/>
                <a:cs typeface="Arial"/>
              </a:rPr>
            </a:br>
            <a:r>
              <a:rPr lang="en-US" sz="2600" dirty="0">
                <a:latin typeface="Calibri"/>
                <a:cs typeface="Calibri"/>
              </a:rPr>
              <a:t>React memo</a:t>
            </a:r>
          </a:p>
          <a:p>
            <a:endParaRPr lang="en-US" sz="2600">
              <a:latin typeface="Arial"/>
              <a:cs typeface="Arial"/>
            </a:endParaRPr>
          </a:p>
          <a:p>
            <a:pPr>
              <a:spcBef>
                <a:spcPts val="1000"/>
              </a:spcBef>
            </a:pPr>
            <a:endParaRPr lang="en-US" sz="2600">
              <a:latin typeface="Arial"/>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145473" y="1860111"/>
            <a:ext cx="10515600" cy="4825934"/>
          </a:xfrm>
        </p:spPr>
        <p:txBody>
          <a:bodyPr vert="horz" lIns="91440" tIns="45720" rIns="91440" bIns="45720" rtlCol="0" anchor="t">
            <a:normAutofit/>
          </a:bodyPr>
          <a:lstStyle/>
          <a:p>
            <a:pPr lvl="1">
              <a:buNone/>
            </a:pPr>
            <a:r>
              <a:rPr lang="en-US" sz="1600" dirty="0">
                <a:ea typeface="+mn-lt"/>
                <a:cs typeface="+mn-lt"/>
              </a:rPr>
              <a:t>Using </a:t>
            </a:r>
            <a:r>
              <a:rPr lang="en-US" sz="1600" dirty="0">
                <a:solidFill>
                  <a:srgbClr val="DC143C"/>
                </a:solidFill>
                <a:ea typeface="+mn-lt"/>
                <a:cs typeface="+mn-lt"/>
              </a:rPr>
              <a:t>memo</a:t>
            </a:r>
            <a:r>
              <a:rPr lang="en-US" sz="1600" dirty="0">
                <a:ea typeface="+mn-lt"/>
                <a:cs typeface="+mn-lt"/>
              </a:rPr>
              <a:t> will cause React to skip rendering a component if its props have not changed.</a:t>
            </a:r>
          </a:p>
          <a:p>
            <a:pPr lvl="1">
              <a:buNone/>
            </a:pPr>
            <a:r>
              <a:rPr lang="en-US" sz="1600" dirty="0">
                <a:ea typeface="+mn-lt"/>
                <a:cs typeface="+mn-lt"/>
              </a:rPr>
              <a:t>This can improve performance.</a:t>
            </a:r>
          </a:p>
          <a:p>
            <a:pPr lvl="1">
              <a:buNone/>
            </a:pPr>
            <a:endParaRPr lang="en-US" sz="1600" dirty="0">
              <a:ea typeface="+mn-lt"/>
              <a:cs typeface="+mn-lt"/>
            </a:endParaRPr>
          </a:p>
          <a:p>
            <a:pPr marL="457200" indent="0">
              <a:buNone/>
            </a:pPr>
            <a:br>
              <a:rPr lang="en-US" sz="1000" dirty="0"/>
            </a:br>
            <a:endParaRPr lang="en-US" sz="1600">
              <a:ea typeface="Calibri"/>
              <a:cs typeface="Calibri"/>
            </a:endParaRPr>
          </a:p>
          <a:p>
            <a:pPr marL="457200" lvl="2">
              <a:buNone/>
            </a:pPr>
            <a:endParaRPr lang="en-US" sz="1600" dirty="0">
              <a:latin typeface="Calibri"/>
              <a:ea typeface="Calibri"/>
              <a:cs typeface="Arial"/>
            </a:endParaRPr>
          </a:p>
          <a:p>
            <a:pPr marL="800100" lvl="2" indent="-342900">
              <a:buAutoNum type="arabicPeriod"/>
            </a:pPr>
            <a:endParaRPr lang="en-US" sz="1600" dirty="0">
              <a:latin typeface="Calibri"/>
              <a:ea typeface="Calibri"/>
              <a:cs typeface="Arial"/>
            </a:endParaRPr>
          </a:p>
          <a:p>
            <a:pPr marL="0" indent="0">
              <a:buNone/>
            </a:pPr>
            <a:endParaRPr lang="en-US" sz="1600" dirty="0">
              <a:latin typeface="Calibri"/>
              <a:ea typeface="Calibri"/>
              <a:cs typeface="Arial"/>
            </a:endParaRPr>
          </a:p>
          <a:p>
            <a:endParaRPr lang="en-US" sz="1600" dirty="0">
              <a:latin typeface="Calibri"/>
              <a:ea typeface="Calibri"/>
              <a:cs typeface="Calibri"/>
            </a:endParaRPr>
          </a:p>
        </p:txBody>
      </p:sp>
    </p:spTree>
    <p:extLst>
      <p:ext uri="{BB962C8B-B14F-4D97-AF65-F5344CB8AC3E}">
        <p14:creationId xmlns:p14="http://schemas.microsoft.com/office/powerpoint/2010/main" val="2062805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1</a:t>
            </a:r>
            <a:endParaRPr lang="en-US" dirty="0"/>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2600" dirty="0">
                <a:latin typeface="Arial"/>
                <a:cs typeface="Arial"/>
              </a:rPr>
            </a:br>
            <a:br>
              <a:rPr lang="en-US" sz="2600" dirty="0">
                <a:latin typeface="Arial"/>
                <a:cs typeface="Arial"/>
              </a:rPr>
            </a:br>
            <a:r>
              <a:rPr lang="en-US" sz="2600" dirty="0">
                <a:latin typeface="Calibri"/>
                <a:cs typeface="Calibri"/>
              </a:rPr>
              <a:t>React </a:t>
            </a:r>
            <a:r>
              <a:rPr lang="en-US" sz="2600" dirty="0" err="1">
                <a:latin typeface="Calibri"/>
                <a:cs typeface="Calibri"/>
              </a:rPr>
              <a:t>css</a:t>
            </a:r>
            <a:r>
              <a:rPr lang="en-US" sz="2600" dirty="0">
                <a:latin typeface="Calibri"/>
                <a:cs typeface="Calibri"/>
              </a:rPr>
              <a:t> styling</a:t>
            </a:r>
          </a:p>
          <a:p>
            <a:endParaRPr lang="en-US" sz="2600">
              <a:latin typeface="Arial"/>
              <a:cs typeface="Arial"/>
            </a:endParaRPr>
          </a:p>
          <a:p>
            <a:pPr>
              <a:spcBef>
                <a:spcPts val="1000"/>
              </a:spcBef>
            </a:pPr>
            <a:endParaRPr lang="en-US" sz="2600">
              <a:latin typeface="Arial"/>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145473" y="1860111"/>
            <a:ext cx="10515600" cy="4825934"/>
          </a:xfrm>
        </p:spPr>
        <p:txBody>
          <a:bodyPr vert="horz" lIns="91440" tIns="45720" rIns="91440" bIns="45720" rtlCol="0" anchor="t">
            <a:normAutofit fontScale="77500" lnSpcReduction="20000"/>
          </a:bodyPr>
          <a:lstStyle/>
          <a:p>
            <a:pPr lvl="1">
              <a:buNone/>
            </a:pPr>
            <a:r>
              <a:rPr lang="en-US" sz="1600" dirty="0">
                <a:ea typeface="+mn-lt"/>
                <a:cs typeface="+mn-lt"/>
              </a:rPr>
              <a:t>Three ways to style React </a:t>
            </a:r>
            <a:r>
              <a:rPr lang="en-US" sz="1600" dirty="0">
                <a:solidFill>
                  <a:srgbClr val="000000"/>
                </a:solidFill>
                <a:ea typeface="+mn-lt"/>
                <a:cs typeface="+mn-lt"/>
              </a:rPr>
              <a:t>with </a:t>
            </a:r>
            <a:r>
              <a:rPr lang="en-US" sz="1600" dirty="0">
                <a:ea typeface="+mn-lt"/>
                <a:cs typeface="+mn-lt"/>
              </a:rPr>
              <a:t>CSS:</a:t>
            </a:r>
            <a:endParaRPr lang="en-US" sz="1600">
              <a:ea typeface="+mn-lt"/>
              <a:cs typeface="+mn-lt"/>
            </a:endParaRPr>
          </a:p>
          <a:p>
            <a:pPr marL="800100" lvl="1" indent="-342900">
              <a:buAutoNum type="arabicPeriod"/>
            </a:pPr>
            <a:r>
              <a:rPr lang="en-US" sz="1600" dirty="0">
                <a:ea typeface="+mn-lt"/>
                <a:cs typeface="+mn-lt"/>
              </a:rPr>
              <a:t>Inline styling</a:t>
            </a:r>
            <a:endParaRPr lang="en-US" sz="1600">
              <a:cs typeface="Calibri"/>
            </a:endParaRPr>
          </a:p>
          <a:p>
            <a:pPr marL="800100" lvl="1" indent="-342900">
              <a:buAutoNum type="arabicPeriod"/>
            </a:pPr>
            <a:r>
              <a:rPr lang="en-US" sz="1600" dirty="0">
                <a:ea typeface="+mn-lt"/>
                <a:cs typeface="+mn-lt"/>
              </a:rPr>
              <a:t>CSS stylesheets</a:t>
            </a:r>
            <a:endParaRPr lang="en-US" sz="1600">
              <a:ea typeface="+mn-lt"/>
              <a:cs typeface="+mn-lt"/>
            </a:endParaRPr>
          </a:p>
          <a:p>
            <a:pPr marL="800100" lvl="1" indent="-342900">
              <a:buAutoNum type="arabicPeriod"/>
            </a:pPr>
            <a:r>
              <a:rPr lang="en-US" sz="1600" dirty="0">
                <a:ea typeface="+mn-lt"/>
                <a:cs typeface="+mn-lt"/>
              </a:rPr>
              <a:t>CSS Modules</a:t>
            </a:r>
          </a:p>
          <a:p>
            <a:pPr marL="800100" lvl="1" indent="-342900">
              <a:buAutoNum type="arabicPeriod"/>
            </a:pPr>
            <a:endParaRPr lang="en-US" sz="1600" b="1" u="sng" dirty="0">
              <a:ea typeface="+mn-lt"/>
              <a:cs typeface="+mn-lt"/>
            </a:endParaRPr>
          </a:p>
          <a:p>
            <a:pPr marL="457200" lvl="1" indent="0">
              <a:buNone/>
            </a:pPr>
            <a:r>
              <a:rPr lang="en-US" sz="1600" b="1" u="sng" dirty="0">
                <a:ea typeface="+mn-lt"/>
                <a:cs typeface="+mn-lt"/>
              </a:rPr>
              <a:t>1. Inline Styling</a:t>
            </a:r>
            <a:endParaRPr lang="en-US" dirty="0">
              <a:cs typeface="Calibri"/>
            </a:endParaRPr>
          </a:p>
          <a:p>
            <a:pPr marL="914400" lvl="2">
              <a:buNone/>
            </a:pPr>
            <a:r>
              <a:rPr lang="en-US" sz="1600" dirty="0">
                <a:ea typeface="+mn-lt"/>
                <a:cs typeface="+mn-lt"/>
              </a:rPr>
              <a:t>To style an element with the inline style attribute, the value must be a JavaScript object:</a:t>
            </a:r>
            <a:endParaRPr lang="en-US" sz="1600" dirty="0">
              <a:ea typeface="Calibri"/>
              <a:cs typeface="Calibri"/>
            </a:endParaRPr>
          </a:p>
          <a:p>
            <a:pPr marL="914400" lvl="2">
              <a:buNone/>
            </a:pPr>
            <a:r>
              <a:rPr lang="en-US" sz="1600" b="1" dirty="0">
                <a:ea typeface="+mn-lt"/>
                <a:cs typeface="+mn-lt"/>
              </a:rPr>
              <a:t>Example: </a:t>
            </a:r>
            <a:endParaRPr lang="en-US" sz="1600" b="1">
              <a:ea typeface="+mn-lt"/>
              <a:cs typeface="+mn-lt"/>
            </a:endParaRPr>
          </a:p>
          <a:p>
            <a:pPr marL="914400" lvl="2">
              <a:buNone/>
            </a:pPr>
            <a:r>
              <a:rPr lang="en-US" sz="1600" dirty="0">
                <a:ea typeface="+mn-lt"/>
                <a:cs typeface="+mn-lt"/>
              </a:rPr>
              <a:t>two sets of curly braces </a:t>
            </a:r>
            <a:r>
              <a:rPr lang="en-US" sz="1600" dirty="0">
                <a:solidFill>
                  <a:srgbClr val="C00000"/>
                </a:solidFill>
                <a:ea typeface="+mn-lt"/>
                <a:cs typeface="+mn-lt"/>
              </a:rPr>
              <a:t>{{}}</a:t>
            </a:r>
            <a:endParaRPr lang="en-US" sz="1600" dirty="0">
              <a:solidFill>
                <a:srgbClr val="000000"/>
              </a:solidFill>
              <a:cs typeface="Calibri"/>
            </a:endParaRPr>
          </a:p>
          <a:p>
            <a:pPr marL="914400" lvl="2">
              <a:buNone/>
            </a:pPr>
            <a:r>
              <a:rPr lang="en-US" sz="1600" dirty="0" err="1">
                <a:solidFill>
                  <a:srgbClr val="000000"/>
                </a:solidFill>
              </a:rPr>
              <a:t>camelCased</a:t>
            </a:r>
            <a:r>
              <a:rPr lang="en-US" sz="1600" dirty="0">
                <a:solidFill>
                  <a:srgbClr val="000000"/>
                </a:solidFill>
              </a:rPr>
              <a:t> Property Names</a:t>
            </a:r>
            <a:endParaRPr lang="en-US" sz="1600" dirty="0">
              <a:solidFill>
                <a:srgbClr val="000000"/>
              </a:solidFill>
              <a:cs typeface="Calibri"/>
            </a:endParaRPr>
          </a:p>
          <a:p>
            <a:pPr marL="914400" lvl="2">
              <a:buNone/>
            </a:pPr>
            <a:endParaRPr lang="en-US" sz="1600" dirty="0">
              <a:solidFill>
                <a:srgbClr val="C00000"/>
              </a:solidFill>
              <a:ea typeface="+mn-lt"/>
              <a:cs typeface="+mn-lt"/>
            </a:endParaRPr>
          </a:p>
          <a:p>
            <a:pPr marL="914400" lvl="2">
              <a:buNone/>
            </a:pPr>
            <a:r>
              <a:rPr lang="en-US" sz="1600" dirty="0">
                <a:ea typeface="+mn-lt"/>
                <a:cs typeface="+mn-lt"/>
              </a:rPr>
              <a:t>Insert an object with the styling information:</a:t>
            </a:r>
            <a:endParaRPr lang="en-US" sz="1600">
              <a:ea typeface="+mn-lt"/>
              <a:cs typeface="+mn-lt"/>
            </a:endParaRPr>
          </a:p>
          <a:p>
            <a:pPr lvl="2">
              <a:buNone/>
            </a:pPr>
            <a:r>
              <a:rPr lang="en-US" sz="1600" dirty="0">
                <a:solidFill>
                  <a:schemeClr val="accent1"/>
                </a:solidFill>
                <a:ea typeface="+mn-lt"/>
                <a:cs typeface="+mn-lt"/>
              </a:rPr>
              <a:t>const Header = () =&gt; {
  return (
    &lt;&gt;
      &lt;h1 </a:t>
            </a:r>
            <a:r>
              <a:rPr lang="en-US" sz="1600" dirty="0">
                <a:solidFill>
                  <a:srgbClr val="C00000"/>
                </a:solidFill>
                <a:ea typeface="+mn-lt"/>
                <a:cs typeface="+mn-lt"/>
              </a:rPr>
              <a:t>style</a:t>
            </a:r>
            <a:r>
              <a:rPr lang="en-US" sz="1600" dirty="0">
                <a:solidFill>
                  <a:schemeClr val="accent1"/>
                </a:solidFill>
                <a:ea typeface="+mn-lt"/>
                <a:cs typeface="+mn-lt"/>
              </a:rPr>
              <a:t>=</a:t>
            </a:r>
            <a:r>
              <a:rPr lang="en-US" sz="1600" dirty="0">
                <a:solidFill>
                  <a:srgbClr val="C00000"/>
                </a:solidFill>
                <a:ea typeface="+mn-lt"/>
                <a:cs typeface="+mn-lt"/>
              </a:rPr>
              <a:t>{{color: </a:t>
            </a:r>
            <a:r>
              <a:rPr lang="en-US" sz="1600" dirty="0">
                <a:solidFill>
                  <a:schemeClr val="accent1"/>
                </a:solidFill>
                <a:ea typeface="+mn-lt"/>
                <a:cs typeface="+mn-lt"/>
              </a:rPr>
              <a:t>"red"</a:t>
            </a:r>
            <a:r>
              <a:rPr lang="en-US" sz="1600" dirty="0">
                <a:solidFill>
                  <a:srgbClr val="C00000"/>
                </a:solidFill>
                <a:ea typeface="+mn-lt"/>
                <a:cs typeface="+mn-lt"/>
              </a:rPr>
              <a:t>}}</a:t>
            </a:r>
            <a:r>
              <a:rPr lang="en-US" sz="1600" dirty="0">
                <a:solidFill>
                  <a:schemeClr val="accent1"/>
                </a:solidFill>
                <a:ea typeface="+mn-lt"/>
                <a:cs typeface="+mn-lt"/>
              </a:rPr>
              <a:t>&gt;Hello Style!&lt;/h1&gt;
      &lt;p&gt;Add a little style!&lt;/p&gt;
    &lt;/&gt;
  );
}</a:t>
            </a:r>
          </a:p>
          <a:p>
            <a:pPr lvl="1">
              <a:buNone/>
            </a:pPr>
            <a:endParaRPr lang="en-US" sz="1600" dirty="0">
              <a:ea typeface="+mn-lt"/>
              <a:cs typeface="+mn-lt"/>
            </a:endParaRPr>
          </a:p>
          <a:p>
            <a:pPr marL="457200" indent="0">
              <a:buNone/>
            </a:pPr>
            <a:br>
              <a:rPr lang="en-US" sz="1000" dirty="0"/>
            </a:br>
            <a:endParaRPr lang="en-US" sz="1600">
              <a:ea typeface="Calibri"/>
              <a:cs typeface="Calibri"/>
            </a:endParaRPr>
          </a:p>
          <a:p>
            <a:pPr marL="457200" lvl="2">
              <a:buNone/>
            </a:pPr>
            <a:endParaRPr lang="en-US" sz="1600" dirty="0">
              <a:latin typeface="Calibri"/>
              <a:ea typeface="Calibri"/>
              <a:cs typeface="Arial"/>
            </a:endParaRPr>
          </a:p>
          <a:p>
            <a:pPr marL="800100" lvl="2" indent="-342900">
              <a:buAutoNum type="arabicPeriod"/>
            </a:pPr>
            <a:endParaRPr lang="en-US" sz="1600" dirty="0">
              <a:latin typeface="Calibri"/>
              <a:ea typeface="Calibri"/>
              <a:cs typeface="Arial"/>
            </a:endParaRPr>
          </a:p>
          <a:p>
            <a:pPr marL="0" indent="0">
              <a:buNone/>
            </a:pPr>
            <a:endParaRPr lang="en-US" sz="1600" dirty="0">
              <a:latin typeface="Calibri"/>
              <a:ea typeface="Calibri"/>
              <a:cs typeface="Arial"/>
            </a:endParaRPr>
          </a:p>
          <a:p>
            <a:endParaRPr lang="en-US" sz="1600" dirty="0">
              <a:latin typeface="Calibri"/>
              <a:ea typeface="Calibri"/>
              <a:cs typeface="Calibri"/>
            </a:endParaRPr>
          </a:p>
        </p:txBody>
      </p:sp>
    </p:spTree>
    <p:extLst>
      <p:ext uri="{BB962C8B-B14F-4D97-AF65-F5344CB8AC3E}">
        <p14:creationId xmlns:p14="http://schemas.microsoft.com/office/powerpoint/2010/main" val="2401329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62796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ea typeface="+mn-lt"/>
                <a:cs typeface="+mn-lt"/>
              </a:rPr>
              <a:t>JavaScript Object:</a:t>
            </a:r>
            <a:endParaRPr lang="en-US" sz="1600" b="1" u="sng" dirty="0">
              <a:ea typeface="Calibri"/>
              <a:cs typeface="Calibri"/>
            </a:endParaRPr>
          </a:p>
          <a:p>
            <a:pPr lvl="1"/>
            <a:r>
              <a:rPr lang="en-US" sz="1600" dirty="0">
                <a:solidFill>
                  <a:srgbClr val="000000"/>
                </a:solidFill>
                <a:ea typeface="+mn-lt"/>
                <a:cs typeface="+mn-lt"/>
              </a:rPr>
              <a:t>You can also create an object with styling information, and refer to it in the style attribute:</a:t>
            </a:r>
          </a:p>
          <a:p>
            <a:pPr lvl="1"/>
            <a:endParaRPr lang="en-US" sz="1600" dirty="0">
              <a:solidFill>
                <a:srgbClr val="000000"/>
              </a:solidFill>
              <a:ea typeface="+mn-lt"/>
              <a:cs typeface="+mn-lt"/>
            </a:endParaRPr>
          </a:p>
          <a:p>
            <a:pPr marL="914400" lvl="1" indent="-457200">
              <a:lnSpc>
                <a:spcPct val="90000"/>
              </a:lnSpc>
              <a:spcBef>
                <a:spcPts val="500"/>
              </a:spcBef>
              <a:buAutoNum type="arabicPeriod"/>
            </a:pPr>
            <a:endParaRPr lang="en-US" sz="1600" dirty="0">
              <a:solidFill>
                <a:srgbClr val="0077AA"/>
              </a:solidFill>
              <a:latin typeface="Calibri"/>
              <a:ea typeface="+mn-lt"/>
              <a:cs typeface="Arial"/>
            </a:endParaRPr>
          </a:p>
          <a:p>
            <a:pPr lvl="1">
              <a:lnSpc>
                <a:spcPct val="90000"/>
              </a:lnSpc>
              <a:spcBef>
                <a:spcPts val="500"/>
              </a:spcBef>
            </a:pPr>
            <a:r>
              <a:rPr lang="en-US" sz="1600" dirty="0">
                <a:solidFill>
                  <a:srgbClr val="0077AA"/>
                </a:solidFill>
                <a:ea typeface="+mn-lt"/>
                <a:cs typeface="+mn-lt"/>
              </a:rPr>
              <a:t>const</a:t>
            </a:r>
            <a:r>
              <a:rPr lang="en-US" sz="1600" dirty="0">
                <a:ea typeface="+mn-lt"/>
                <a:cs typeface="+mn-lt"/>
              </a:rPr>
              <a:t> </a:t>
            </a:r>
            <a:r>
              <a:rPr lang="en-US" sz="1600" dirty="0">
                <a:solidFill>
                  <a:srgbClr val="DD4A68"/>
                </a:solidFill>
                <a:ea typeface="+mn-lt"/>
                <a:cs typeface="+mn-lt"/>
              </a:rPr>
              <a:t>Users</a:t>
            </a:r>
            <a:r>
              <a:rPr lang="en-US" sz="1600" dirty="0">
                <a:solidFill>
                  <a:srgbClr val="9A6E3A"/>
                </a:solidFill>
                <a:ea typeface="+mn-lt"/>
                <a:cs typeface="+mn-lt"/>
              </a:rPr>
              <a: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A6E3A"/>
                </a:solidFill>
                <a:ea typeface="+mn-lt"/>
                <a:cs typeface="+mn-lt"/>
              </a:rPr>
              <a:t>=&gt;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const</a:t>
            </a:r>
            <a:r>
              <a:rPr lang="en-US" sz="1600" dirty="0">
                <a:ea typeface="+mn-lt"/>
                <a:cs typeface="+mn-lt"/>
              </a:rPr>
              <a:t> </a:t>
            </a:r>
            <a:r>
              <a:rPr lang="en-US" sz="1600" dirty="0" err="1">
                <a:ea typeface="+mn-lt"/>
                <a:cs typeface="+mn-lt"/>
              </a:rPr>
              <a:t>headStyle</a:t>
            </a:r>
            <a:r>
              <a:rPr lang="en-US" sz="1600" dirty="0">
                <a:ea typeface="+mn-lt"/>
                <a:cs typeface="+mn-lt"/>
              </a:rPr>
              <a:t> </a:t>
            </a:r>
            <a:r>
              <a:rPr lang="en-US" sz="1600" dirty="0">
                <a:solidFill>
                  <a:srgbClr val="9A6E3A"/>
                </a:solidFill>
                <a:ea typeface="+mn-lt"/>
                <a:cs typeface="+mn-lt"/>
              </a:rPr>
              <a: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0055"/>
                </a:solidFill>
                <a:ea typeface="+mn-lt"/>
                <a:cs typeface="+mn-lt"/>
              </a:rPr>
              <a:t>color</a:t>
            </a:r>
            <a:r>
              <a:rPr lang="en-US" sz="1600" dirty="0">
                <a:solidFill>
                  <a:srgbClr val="9A6E3A"/>
                </a:solidFill>
                <a:ea typeface="+mn-lt"/>
                <a:cs typeface="+mn-lt"/>
              </a:rPr>
              <a:t>:</a:t>
            </a:r>
            <a:r>
              <a:rPr lang="en-US" sz="1600" dirty="0">
                <a:ea typeface="+mn-lt"/>
                <a:cs typeface="+mn-lt"/>
              </a:rPr>
              <a:t> </a:t>
            </a:r>
            <a:r>
              <a:rPr lang="en-US" sz="1600" dirty="0">
                <a:solidFill>
                  <a:srgbClr val="669900"/>
                </a:solidFill>
                <a:ea typeface="+mn-lt"/>
                <a:cs typeface="+mn-lt"/>
              </a:rPr>
              <a:t>"white"</a:t>
            </a:r>
            <a:r>
              <a:rPr lang="en-US" sz="1600" dirty="0">
                <a:solidFill>
                  <a:srgbClr val="999999"/>
                </a:solidFill>
                <a:ea typeface="+mn-lt"/>
                <a:cs typeface="+mn-lt"/>
              </a:rPr>
              <a:t>,</a:t>
            </a:r>
            <a:r>
              <a:rPr lang="en-US" sz="1600" dirty="0">
                <a:ea typeface="+mn-lt"/>
                <a:cs typeface="+mn-lt"/>
              </a:rPr>
              <a:t>
    </a:t>
            </a:r>
            <a:r>
              <a:rPr lang="en-US" sz="1600" dirty="0" err="1">
                <a:solidFill>
                  <a:srgbClr val="990055"/>
                </a:solidFill>
                <a:ea typeface="+mn-lt"/>
                <a:cs typeface="+mn-lt"/>
              </a:rPr>
              <a:t>backgroundColor</a:t>
            </a:r>
            <a:r>
              <a:rPr lang="en-US" sz="1600" dirty="0">
                <a:solidFill>
                  <a:srgbClr val="9A6E3A"/>
                </a:solidFill>
                <a:ea typeface="+mn-lt"/>
                <a:cs typeface="+mn-lt"/>
              </a:rPr>
              <a:t>:</a:t>
            </a:r>
            <a:r>
              <a:rPr lang="en-US" sz="1600" dirty="0">
                <a:ea typeface="+mn-lt"/>
                <a:cs typeface="+mn-lt"/>
              </a:rPr>
              <a:t> </a:t>
            </a:r>
            <a:r>
              <a:rPr lang="en-US" sz="1600" dirty="0">
                <a:solidFill>
                  <a:srgbClr val="669900"/>
                </a:solidFill>
                <a:ea typeface="+mn-lt"/>
                <a:cs typeface="+mn-lt"/>
              </a:rPr>
              <a:t>"</a:t>
            </a:r>
            <a:r>
              <a:rPr lang="en-US" sz="1600" dirty="0" err="1">
                <a:solidFill>
                  <a:srgbClr val="669900"/>
                </a:solidFill>
                <a:ea typeface="+mn-lt"/>
                <a:cs typeface="+mn-lt"/>
              </a:rPr>
              <a:t>DodgerBlue</a:t>
            </a:r>
            <a:r>
              <a:rPr lang="en-US" sz="1600" dirty="0">
                <a:solidFill>
                  <a:srgbClr val="669900"/>
                </a:solidFill>
                <a:ea typeface="+mn-lt"/>
                <a:cs typeface="+mn-lt"/>
              </a:rPr>
              <a:t>"</a:t>
            </a:r>
            <a:r>
              <a:rPr lang="en-US" sz="1600" dirty="0">
                <a:solidFill>
                  <a:srgbClr val="999999"/>
                </a:solidFill>
                <a:ea typeface="+mn-lt"/>
                <a:cs typeface="+mn-lt"/>
              </a:rPr>
              <a:t>,</a:t>
            </a:r>
            <a:r>
              <a:rPr lang="en-US" sz="1600" dirty="0">
                <a:ea typeface="+mn-lt"/>
                <a:cs typeface="+mn-lt"/>
              </a:rPr>
              <a:t>
    </a:t>
            </a:r>
            <a:r>
              <a:rPr lang="en-US" sz="1600" dirty="0">
                <a:solidFill>
                  <a:srgbClr val="990055"/>
                </a:solidFill>
                <a:ea typeface="+mn-lt"/>
                <a:cs typeface="+mn-lt"/>
              </a:rPr>
              <a:t>padding</a:t>
            </a:r>
            <a:r>
              <a:rPr lang="en-US" sz="1600" dirty="0">
                <a:solidFill>
                  <a:srgbClr val="9A6E3A"/>
                </a:solidFill>
                <a:ea typeface="+mn-lt"/>
                <a:cs typeface="+mn-lt"/>
              </a:rPr>
              <a:t>:</a:t>
            </a:r>
            <a:r>
              <a:rPr lang="en-US" sz="1600" dirty="0">
                <a:ea typeface="+mn-lt"/>
                <a:cs typeface="+mn-lt"/>
              </a:rPr>
              <a:t> </a:t>
            </a:r>
            <a:r>
              <a:rPr lang="en-US" sz="1600" dirty="0">
                <a:solidFill>
                  <a:srgbClr val="669900"/>
                </a:solidFill>
                <a:ea typeface="+mn-lt"/>
                <a:cs typeface="+mn-lt"/>
              </a:rPr>
              <a:t>"10px"</a:t>
            </a:r>
            <a:r>
              <a:rPr lang="en-US" sz="1600" dirty="0">
                <a:solidFill>
                  <a:srgbClr val="999999"/>
                </a:solidFill>
                <a:ea typeface="+mn-lt"/>
                <a:cs typeface="+mn-lt"/>
              </a:rPr>
              <a:t>,</a:t>
            </a:r>
            <a:r>
              <a:rPr lang="en-US" sz="1600" dirty="0">
                <a:ea typeface="+mn-lt"/>
                <a:cs typeface="+mn-lt"/>
              </a:rPr>
              <a:t>
    </a:t>
            </a:r>
            <a:r>
              <a:rPr lang="en-US" sz="1600" dirty="0" err="1">
                <a:solidFill>
                  <a:srgbClr val="990055"/>
                </a:solidFill>
                <a:ea typeface="+mn-lt"/>
                <a:cs typeface="+mn-lt"/>
              </a:rPr>
              <a:t>fontFamily</a:t>
            </a:r>
            <a:r>
              <a:rPr lang="en-US" sz="1600" dirty="0">
                <a:solidFill>
                  <a:srgbClr val="9A6E3A"/>
                </a:solidFill>
                <a:ea typeface="+mn-lt"/>
                <a:cs typeface="+mn-lt"/>
              </a:rPr>
              <a:t>:</a:t>
            </a:r>
            <a:r>
              <a:rPr lang="en-US" sz="1600" dirty="0">
                <a:ea typeface="+mn-lt"/>
                <a:cs typeface="+mn-lt"/>
              </a:rPr>
              <a:t> </a:t>
            </a:r>
            <a:r>
              <a:rPr lang="en-US" sz="1600" dirty="0">
                <a:solidFill>
                  <a:srgbClr val="669900"/>
                </a:solidFill>
                <a:ea typeface="+mn-lt"/>
                <a:cs typeface="+mn-lt"/>
              </a:rPr>
              <a:t>"Sans-Serif"</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return</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&lt;&gt;</a:t>
            </a:r>
            <a:r>
              <a:rPr lang="en-US" sz="1600" dirty="0">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 </a:t>
            </a:r>
            <a:r>
              <a:rPr lang="en-US" sz="1600" dirty="0">
                <a:solidFill>
                  <a:srgbClr val="669900"/>
                </a:solidFill>
                <a:ea typeface="+mn-lt"/>
                <a:cs typeface="+mn-lt"/>
              </a:rPr>
              <a:t>style</a:t>
            </a:r>
            <a:r>
              <a:rPr lang="en-US" sz="1600" dirty="0">
                <a:solidFill>
                  <a:srgbClr val="999999"/>
                </a:solidFill>
                <a:ea typeface="+mn-lt"/>
                <a:cs typeface="+mn-lt"/>
              </a:rPr>
              <a:t>={</a:t>
            </a:r>
            <a:r>
              <a:rPr lang="en-US" sz="1600" dirty="0" err="1">
                <a:solidFill>
                  <a:srgbClr val="000000"/>
                </a:solidFill>
                <a:ea typeface="+mn-lt"/>
                <a:cs typeface="+mn-lt"/>
              </a:rPr>
              <a:t>headStyle</a:t>
            </a:r>
            <a:r>
              <a:rPr lang="en-US" sz="1600" dirty="0">
                <a:solidFill>
                  <a:srgbClr val="000000"/>
                </a:solidFill>
                <a:ea typeface="+mn-lt"/>
                <a:cs typeface="+mn-lt"/>
              </a:rPr>
              <a:t> </a:t>
            </a:r>
            <a:r>
              <a:rPr lang="en-US" sz="1600" dirty="0">
                <a:solidFill>
                  <a:srgbClr val="999999"/>
                </a:solidFill>
                <a:ea typeface="+mn-lt"/>
                <a:cs typeface="+mn-lt"/>
              </a:rPr>
              <a:t>}&gt;</a:t>
            </a:r>
            <a:r>
              <a:rPr lang="en-US" sz="1600" dirty="0">
                <a:ea typeface="+mn-lt"/>
                <a:cs typeface="+mn-lt"/>
              </a:rPr>
              <a:t>Inline Style Example with object!</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endParaRPr lang="en-US" sz="1600" dirty="0">
              <a:ea typeface="+mn-lt"/>
              <a:cs typeface="+mn-lt"/>
            </a:endParaRPr>
          </a:p>
          <a:p>
            <a:pPr lvl="1">
              <a:lnSpc>
                <a:spcPct val="90000"/>
              </a:lnSpc>
              <a:spcBef>
                <a:spcPts val="500"/>
              </a:spcBef>
            </a:pPr>
            <a:r>
              <a:rPr lang="en-US" sz="1600" dirty="0">
                <a:ea typeface="+mn-lt"/>
                <a:cs typeface="+mn-lt"/>
              </a:rPr>
              <a:t>    </a:t>
            </a:r>
            <a:r>
              <a:rPr lang="en-US" sz="1600" dirty="0">
                <a:solidFill>
                  <a:srgbClr val="999999"/>
                </a:solidFill>
                <a:ea typeface="+mn-lt"/>
                <a:cs typeface="+mn-lt"/>
              </a:rPr>
              <a:t>&lt;/&gt;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br>
              <a:rPr lang="en-US" sz="1600" dirty="0">
                <a:ea typeface="+mn-lt"/>
                <a:cs typeface="+mn-lt"/>
              </a:rPr>
            </a:br>
            <a:br>
              <a:rPr lang="en-US" sz="1600" dirty="0">
                <a:ea typeface="+mn-lt"/>
                <a:cs typeface="+mn-lt"/>
              </a:rPr>
            </a:br>
            <a:endParaRPr lang="en-US" sz="1600" dirty="0">
              <a:ea typeface="+mn-lt"/>
              <a:cs typeface="+mn-lt"/>
            </a:endParaRPr>
          </a:p>
          <a:p>
            <a:pPr lvl="2"/>
            <a:endParaRPr lang="en-US" sz="1600" dirty="0">
              <a:ea typeface="+mn-lt"/>
              <a:cs typeface="+mn-lt"/>
            </a:endParaRPr>
          </a:p>
          <a:p>
            <a:pPr marL="1371600" lvl="4">
              <a:lnSpc>
                <a:spcPct val="90000"/>
              </a:lnSpc>
              <a:spcBef>
                <a:spcPts val="500"/>
              </a:spcBef>
            </a:pPr>
            <a:endParaRPr lang="en-US" sz="1600" dirty="0">
              <a:solidFill>
                <a:srgbClr val="000000"/>
              </a:solidFill>
              <a:latin typeface="Calibri"/>
              <a:ea typeface="Calibri" panose="020F0502020204030204"/>
              <a:cs typeface="Calibri" panose="020F0502020204030204"/>
            </a:endParaRPr>
          </a:p>
          <a:p>
            <a:pPr marL="628650" lvl="2" indent="-171450">
              <a:lnSpc>
                <a:spcPct val="90000"/>
              </a:lnSpc>
              <a:spcBef>
                <a:spcPts val="500"/>
              </a:spcBef>
              <a:buFont typeface="Arial,Sans-Serif"/>
              <a:buChar char="•"/>
            </a:pPr>
            <a:endParaRPr lang="en-US" sz="14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Calibri"/>
              <a:cs typeface="Arial"/>
            </a:endParaRPr>
          </a:p>
        </p:txBody>
      </p:sp>
    </p:spTree>
    <p:extLst>
      <p:ext uri="{BB962C8B-B14F-4D97-AF65-F5344CB8AC3E}">
        <p14:creationId xmlns:p14="http://schemas.microsoft.com/office/powerpoint/2010/main" val="4172879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7240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rPr>
              <a:t>2. CSS Stylesheet</a:t>
            </a:r>
            <a:r>
              <a:rPr lang="en-US" sz="1600" b="1" dirty="0">
                <a:solidFill>
                  <a:srgbClr val="000000"/>
                </a:solidFill>
                <a:ea typeface="+mn-lt"/>
                <a:cs typeface="+mn-lt"/>
              </a:rPr>
              <a:t>:</a:t>
            </a:r>
            <a:endParaRPr lang="en-US" sz="1600" b="1" u="sng" dirty="0">
              <a:ea typeface="Calibri"/>
              <a:cs typeface="Calibri"/>
            </a:endParaRPr>
          </a:p>
          <a:p>
            <a:pPr lvl="1"/>
            <a:r>
              <a:rPr lang="en-US" sz="1600" dirty="0">
                <a:solidFill>
                  <a:srgbClr val="000000"/>
                </a:solidFill>
                <a:ea typeface="+mn-lt"/>
                <a:cs typeface="+mn-lt"/>
              </a:rPr>
              <a:t>You can write your CSS styling in a separate file, just save the file with the </a:t>
            </a:r>
            <a:r>
              <a:rPr lang="en-US" sz="1600" dirty="0">
                <a:solidFill>
                  <a:srgbClr val="DC143C"/>
                </a:solidFill>
                <a:ea typeface="+mn-lt"/>
                <a:cs typeface="+mn-lt"/>
              </a:rPr>
              <a:t>.</a:t>
            </a:r>
            <a:r>
              <a:rPr lang="en-US" sz="1600" dirty="0" err="1">
                <a:solidFill>
                  <a:srgbClr val="DC143C"/>
                </a:solidFill>
                <a:ea typeface="+mn-lt"/>
                <a:cs typeface="+mn-lt"/>
              </a:rPr>
              <a:t>css</a:t>
            </a:r>
            <a:r>
              <a:rPr lang="en-US" sz="1600" dirty="0">
                <a:solidFill>
                  <a:srgbClr val="000000"/>
                </a:solidFill>
                <a:ea typeface="+mn-lt"/>
                <a:cs typeface="+mn-lt"/>
              </a:rPr>
              <a:t> file extension, and import it in your application.:</a:t>
            </a:r>
            <a:endParaRPr lang="en-US" sz="1600" dirty="0">
              <a:cs typeface="Calibri"/>
            </a:endParaRPr>
          </a:p>
          <a:p>
            <a:pPr lvl="1"/>
            <a:r>
              <a:rPr lang="en-US" sz="1600" dirty="0">
                <a:solidFill>
                  <a:srgbClr val="000000"/>
                </a:solidFill>
                <a:ea typeface="+mn-lt"/>
                <a:cs typeface="+mn-lt"/>
              </a:rPr>
              <a:t>Create file App.css and Import the stylesheet in your application:</a:t>
            </a:r>
          </a:p>
          <a:p>
            <a:pPr lvl="1">
              <a:lnSpc>
                <a:spcPct val="90000"/>
              </a:lnSpc>
              <a:spcBef>
                <a:spcPts val="500"/>
              </a:spcBef>
            </a:pPr>
            <a:r>
              <a:rPr lang="en-US" sz="1600" dirty="0">
                <a:solidFill>
                  <a:schemeClr val="accent1"/>
                </a:solidFill>
                <a:ea typeface="+mn-lt"/>
                <a:cs typeface="+mn-lt"/>
              </a:rPr>
              <a:t>body {
  background-color: #282c34;
  color: white;
  padding: 40px;
  font-family: Sans-Serif;
  text-align: center;
}</a:t>
            </a:r>
            <a:br>
              <a:rPr lang="en-US" sz="1600" dirty="0">
                <a:solidFill>
                  <a:srgbClr val="000000"/>
                </a:solidFill>
                <a:ea typeface="+mn-lt"/>
                <a:cs typeface="+mn-lt"/>
              </a:rPr>
            </a:br>
            <a:endParaRPr lang="en-US" sz="1600" dirty="0">
              <a:solidFill>
                <a:srgbClr val="000000"/>
              </a:solidFill>
              <a:ea typeface="+mn-lt"/>
              <a:cs typeface="+mn-lt"/>
            </a:endParaRPr>
          </a:p>
          <a:p>
            <a:pPr lvl="1">
              <a:lnSpc>
                <a:spcPct val="90000"/>
              </a:lnSpc>
              <a:spcBef>
                <a:spcPts val="500"/>
              </a:spcBef>
            </a:pPr>
            <a:r>
              <a:rPr lang="en-US" sz="1600" dirty="0">
                <a:solidFill>
                  <a:srgbClr val="000000"/>
                </a:solidFill>
                <a:ea typeface="+mn-lt"/>
                <a:cs typeface="+mn-lt"/>
              </a:rPr>
              <a:t>import React from 'react';
import </a:t>
            </a:r>
            <a:r>
              <a:rPr lang="en-US" sz="1600" dirty="0" err="1">
                <a:solidFill>
                  <a:srgbClr val="000000"/>
                </a:solidFill>
                <a:ea typeface="+mn-lt"/>
                <a:cs typeface="+mn-lt"/>
              </a:rPr>
              <a:t>ReactDOM</a:t>
            </a:r>
            <a:r>
              <a:rPr lang="en-US" sz="1600" dirty="0">
                <a:solidFill>
                  <a:srgbClr val="000000"/>
                </a:solidFill>
                <a:ea typeface="+mn-lt"/>
                <a:cs typeface="+mn-lt"/>
              </a:rPr>
              <a:t> from 'react-</a:t>
            </a:r>
            <a:r>
              <a:rPr lang="en-US" sz="1600" dirty="0" err="1">
                <a:solidFill>
                  <a:srgbClr val="000000"/>
                </a:solidFill>
                <a:ea typeface="+mn-lt"/>
                <a:cs typeface="+mn-lt"/>
              </a:rPr>
              <a:t>dom</a:t>
            </a:r>
            <a:r>
              <a:rPr lang="en-US" sz="1600" dirty="0">
                <a:solidFill>
                  <a:srgbClr val="000000"/>
                </a:solidFill>
                <a:ea typeface="+mn-lt"/>
                <a:cs typeface="+mn-lt"/>
              </a:rPr>
              <a:t>/client';
import './App.css';
const User= () =&gt; {
  return (
    &lt;&gt;
      &lt;h1&gt;This is </a:t>
            </a:r>
            <a:r>
              <a:rPr lang="en-US" sz="1600" dirty="0" err="1">
                <a:solidFill>
                  <a:srgbClr val="000000"/>
                </a:solidFill>
                <a:ea typeface="+mn-lt"/>
                <a:cs typeface="+mn-lt"/>
              </a:rPr>
              <a:t>css</a:t>
            </a:r>
            <a:r>
              <a:rPr lang="en-US" sz="1600" dirty="0">
                <a:solidFill>
                  <a:srgbClr val="000000"/>
                </a:solidFill>
                <a:ea typeface="+mn-lt"/>
                <a:cs typeface="+mn-lt"/>
              </a:rPr>
              <a:t> stylesheet!&lt;/h1&gt;
      &lt;p&gt;Add a little style!.&lt;/p&gt;
    &lt;/&gt;
  );
}</a:t>
            </a:r>
          </a:p>
          <a:p>
            <a:pPr marL="1371600" lvl="4">
              <a:lnSpc>
                <a:spcPct val="90000"/>
              </a:lnSpc>
              <a:spcBef>
                <a:spcPts val="500"/>
              </a:spcBef>
            </a:pPr>
            <a:endParaRPr lang="en-US" sz="1600" dirty="0">
              <a:ea typeface="+mn-lt"/>
              <a:cs typeface="+mn-lt"/>
            </a:endParaRPr>
          </a:p>
          <a:p>
            <a:pPr marL="628650" lvl="2" indent="-171450">
              <a:lnSpc>
                <a:spcPct val="90000"/>
              </a:lnSpc>
              <a:spcBef>
                <a:spcPts val="500"/>
              </a:spcBef>
              <a:buFont typeface="Arial,Sans-Serif"/>
              <a:buChar char="•"/>
            </a:pPr>
            <a:endParaRPr lang="en-US" sz="1400" dirty="0">
              <a:solidFill>
                <a:srgbClr val="DC143C"/>
              </a:solidFill>
              <a:latin typeface="Calibri"/>
              <a:ea typeface="Calibri" panose="020F0502020204030204"/>
              <a:cs typeface="Calibri" panose="020F0502020204030204"/>
            </a:endParaRPr>
          </a:p>
          <a:p>
            <a:pPr lvl="1">
              <a:buFont typeface="Arial"/>
              <a:buChar char="•"/>
            </a:pPr>
            <a:endParaRPr lang="en-US" sz="1400" dirty="0">
              <a:solidFill>
                <a:srgbClr val="000000"/>
              </a:solidFill>
              <a:latin typeface="Calibri"/>
              <a:cs typeface="Arial"/>
            </a:endParaRPr>
          </a:p>
        </p:txBody>
      </p:sp>
    </p:spTree>
    <p:extLst>
      <p:ext uri="{BB962C8B-B14F-4D97-AF65-F5344CB8AC3E}">
        <p14:creationId xmlns:p14="http://schemas.microsoft.com/office/powerpoint/2010/main" val="1189741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6228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rPr>
              <a:t>3. CSS Modules:</a:t>
            </a:r>
            <a:endParaRPr lang="en-US" sz="1600" b="1" u="sng">
              <a:solidFill>
                <a:srgbClr val="000000"/>
              </a:solidFill>
            </a:endParaRPr>
          </a:p>
          <a:p>
            <a:pPr lvl="1"/>
            <a:r>
              <a:rPr lang="en-US" sz="1600" dirty="0">
                <a:solidFill>
                  <a:srgbClr val="1C1E21"/>
                </a:solidFill>
                <a:latin typeface="Calibri"/>
                <a:cs typeface="Calibri"/>
              </a:rPr>
              <a:t>CSS Modules let you use the same CSS class name in different files without worrying about naming clashes.</a:t>
            </a:r>
            <a:r>
              <a:rPr lang="en-US" sz="1600" dirty="0">
                <a:solidFill>
                  <a:srgbClr val="000000"/>
                </a:solidFill>
              </a:rPr>
              <a:t>:</a:t>
            </a:r>
            <a:endParaRPr lang="en-US" sz="1600" dirty="0">
              <a:solidFill>
                <a:srgbClr val="000000"/>
              </a:solidFill>
              <a:cs typeface="Calibri"/>
            </a:endParaRPr>
          </a:p>
          <a:p>
            <a:pPr lvl="1"/>
            <a:r>
              <a:rPr lang="en-US" sz="1600" dirty="0">
                <a:solidFill>
                  <a:srgbClr val="1C1E21"/>
                </a:solidFill>
                <a:latin typeface="Calibri"/>
                <a:cs typeface="Calibri"/>
              </a:rPr>
              <a:t>Button.module.css  </a:t>
            </a:r>
            <a:r>
              <a:rPr lang="en-US" sz="1600" dirty="0">
                <a:solidFill>
                  <a:schemeClr val="accent3"/>
                </a:solidFill>
                <a:latin typeface="Calibri"/>
                <a:cs typeface="Calibri"/>
              </a:rPr>
              <a:t>// file name</a:t>
            </a:r>
            <a:endParaRPr lang="en-US">
              <a:solidFill>
                <a:schemeClr val="accent3"/>
              </a:solidFill>
              <a:latin typeface="Calibri"/>
              <a:cs typeface="Calibri"/>
            </a:endParaRPr>
          </a:p>
          <a:p>
            <a:pPr lvl="1"/>
            <a:r>
              <a:rPr lang="en-US" sz="1600" dirty="0">
                <a:solidFill>
                  <a:srgbClr val="C792EA"/>
                </a:solidFill>
              </a:rPr>
              <a:t>.error</a:t>
            </a:r>
            <a:r>
              <a:rPr lang="en-US" sz="1600" dirty="0">
                <a:solidFill>
                  <a:srgbClr val="BFC7D5"/>
                </a:solidFill>
              </a:rPr>
              <a:t> </a:t>
            </a:r>
            <a:r>
              <a:rPr lang="en-US" sz="1600" dirty="0">
                <a:solidFill>
                  <a:srgbClr val="C792EA"/>
                </a:solidFill>
              </a:rPr>
              <a:t>{</a:t>
            </a:r>
            <a:br>
              <a:rPr lang="en-US" sz="1600" dirty="0">
                <a:ea typeface="+mn-lt"/>
                <a:cs typeface="+mn-lt"/>
              </a:rPr>
            </a:br>
            <a:r>
              <a:rPr lang="en-US" sz="1600" dirty="0">
                <a:solidFill>
                  <a:srgbClr val="C792EA"/>
                </a:solidFill>
              </a:rPr>
              <a:t> background-color:</a:t>
            </a:r>
            <a:r>
              <a:rPr lang="en-US" sz="1600" dirty="0">
                <a:solidFill>
                  <a:srgbClr val="BFC7D5"/>
                </a:solidFill>
              </a:rPr>
              <a:t> red</a:t>
            </a:r>
            <a:r>
              <a:rPr lang="en-US" sz="1600" dirty="0">
                <a:solidFill>
                  <a:srgbClr val="C792EA"/>
                </a:solidFill>
              </a:rPr>
              <a:t>;</a:t>
            </a:r>
            <a:br>
              <a:rPr lang="en-US" sz="1600" dirty="0">
                <a:ea typeface="+mn-lt"/>
                <a:cs typeface="+mn-lt"/>
              </a:rPr>
            </a:br>
            <a:r>
              <a:rPr lang="en-US" sz="1600" dirty="0">
                <a:solidFill>
                  <a:srgbClr val="C792EA"/>
                </a:solidFill>
              </a:rPr>
              <a:t>}</a:t>
            </a:r>
            <a:endParaRPr lang="en-US" sz="1600" dirty="0">
              <a:solidFill>
                <a:srgbClr val="C792EA"/>
              </a:solidFill>
              <a:cs typeface="Calibri"/>
            </a:endParaRPr>
          </a:p>
          <a:p>
            <a:pPr lvl="1"/>
            <a:endParaRPr lang="en-US" sz="1600" dirty="0">
              <a:solidFill>
                <a:srgbClr val="C792EA"/>
              </a:solidFill>
            </a:endParaRPr>
          </a:p>
          <a:p>
            <a:pPr lvl="1"/>
            <a:r>
              <a:rPr lang="en-US" sz="1600" dirty="0">
                <a:solidFill>
                  <a:srgbClr val="1C1E21"/>
                </a:solidFill>
                <a:latin typeface="Calibri"/>
                <a:cs typeface="Calibri"/>
              </a:rPr>
              <a:t>another-stylesheet.css  </a:t>
            </a:r>
            <a:r>
              <a:rPr lang="en-US" sz="1600" dirty="0">
                <a:solidFill>
                  <a:schemeClr val="accent3"/>
                </a:solidFill>
                <a:latin typeface="Calibri"/>
                <a:cs typeface="Calibri"/>
              </a:rPr>
              <a:t>// fine name</a:t>
            </a:r>
            <a:endParaRPr lang="en-US" sz="1600">
              <a:solidFill>
                <a:schemeClr val="accent3"/>
              </a:solidFill>
              <a:latin typeface="Calibri"/>
              <a:cs typeface="Calibri"/>
            </a:endParaRPr>
          </a:p>
          <a:p>
            <a:pPr lvl="1"/>
            <a:r>
              <a:rPr lang="en-US" sz="1600" dirty="0">
                <a:solidFill>
                  <a:srgbClr val="C792EA"/>
                </a:solidFill>
              </a:rPr>
              <a:t>.error</a:t>
            </a:r>
            <a:r>
              <a:rPr lang="en-US" sz="1600" dirty="0">
                <a:solidFill>
                  <a:srgbClr val="BFC7D5"/>
                </a:solidFill>
              </a:rPr>
              <a:t> </a:t>
            </a:r>
            <a:r>
              <a:rPr lang="en-US" sz="1600" dirty="0">
                <a:solidFill>
                  <a:srgbClr val="C792EA"/>
                </a:solidFill>
              </a:rPr>
              <a:t>{</a:t>
            </a:r>
            <a:br>
              <a:rPr lang="en-US" sz="1600" dirty="0">
                <a:ea typeface="+mn-lt"/>
                <a:cs typeface="+mn-lt"/>
              </a:rPr>
            </a:br>
            <a:r>
              <a:rPr lang="en-US" sz="1600" dirty="0">
                <a:solidFill>
                  <a:srgbClr val="C792EA"/>
                </a:solidFill>
              </a:rPr>
              <a:t> color:</a:t>
            </a:r>
            <a:r>
              <a:rPr lang="en-US" sz="1600" dirty="0">
                <a:solidFill>
                  <a:srgbClr val="BFC7D5"/>
                </a:solidFill>
              </a:rPr>
              <a:t> red</a:t>
            </a:r>
            <a:r>
              <a:rPr lang="en-US" sz="1600" dirty="0">
                <a:solidFill>
                  <a:srgbClr val="C792EA"/>
                </a:solidFill>
              </a:rPr>
              <a:t>;</a:t>
            </a:r>
            <a:br>
              <a:rPr lang="en-US" sz="1600" dirty="0">
                <a:ea typeface="+mn-lt"/>
                <a:cs typeface="+mn-lt"/>
              </a:rPr>
            </a:br>
            <a:r>
              <a:rPr lang="en-US" sz="1600" dirty="0">
                <a:solidFill>
                  <a:srgbClr val="C792EA"/>
                </a:solidFill>
              </a:rPr>
              <a:t>}</a:t>
            </a:r>
            <a:endParaRPr lang="en-US" sz="1600" dirty="0">
              <a:solidFill>
                <a:srgbClr val="C792EA"/>
              </a:solidFill>
              <a:cs typeface="Calibri"/>
            </a:endParaRPr>
          </a:p>
          <a:p>
            <a:pPr lvl="1"/>
            <a:endParaRPr lang="en-US" sz="1600" dirty="0">
              <a:solidFill>
                <a:srgbClr val="C792EA"/>
              </a:solidFill>
            </a:endParaRPr>
          </a:p>
          <a:p>
            <a:pPr lvl="1"/>
            <a:r>
              <a:rPr lang="en-US" sz="1600" dirty="0">
                <a:solidFill>
                  <a:srgbClr val="1C1E21"/>
                </a:solidFill>
                <a:latin typeface="Calibri"/>
                <a:cs typeface="Calibri"/>
              </a:rPr>
              <a:t>Button.js  </a:t>
            </a:r>
            <a:r>
              <a:rPr lang="en-US" sz="1600" dirty="0">
                <a:solidFill>
                  <a:schemeClr val="accent3"/>
                </a:solidFill>
                <a:latin typeface="Calibri"/>
                <a:cs typeface="Calibri"/>
              </a:rPr>
              <a:t>// fine name</a:t>
            </a:r>
          </a:p>
          <a:p>
            <a:pPr lvl="1"/>
            <a:r>
              <a:rPr lang="en-US" sz="1600" i="1" dirty="0">
                <a:solidFill>
                  <a:srgbClr val="BFC7D5"/>
                </a:solidFill>
              </a:rPr>
              <a:t>import</a:t>
            </a:r>
            <a:r>
              <a:rPr lang="en-US" sz="1600" dirty="0">
                <a:solidFill>
                  <a:srgbClr val="BFC7D5"/>
                </a:solidFill>
              </a:rPr>
              <a:t> React</a:t>
            </a:r>
            <a:r>
              <a:rPr lang="en-US" sz="1600" dirty="0">
                <a:solidFill>
                  <a:srgbClr val="C792EA"/>
                </a:solidFill>
              </a:rPr>
              <a:t>,</a:t>
            </a:r>
            <a:r>
              <a:rPr lang="en-US" sz="1600" dirty="0">
                <a:solidFill>
                  <a:srgbClr val="BFC7D5"/>
                </a:solidFill>
              </a:rPr>
              <a:t> </a:t>
            </a:r>
            <a:r>
              <a:rPr lang="en-US" sz="1600" dirty="0">
                <a:solidFill>
                  <a:srgbClr val="C792EA"/>
                </a:solidFill>
              </a:rPr>
              <a:t>{</a:t>
            </a:r>
            <a:r>
              <a:rPr lang="en-US" sz="1600" dirty="0">
                <a:solidFill>
                  <a:srgbClr val="BFC7D5"/>
                </a:solidFill>
              </a:rPr>
              <a:t> Component </a:t>
            </a:r>
            <a:r>
              <a:rPr lang="en-US" sz="1600" dirty="0">
                <a:solidFill>
                  <a:srgbClr val="C792EA"/>
                </a:solidFill>
              </a:rPr>
              <a:t>}</a:t>
            </a:r>
            <a:r>
              <a:rPr lang="en-US" sz="1600" dirty="0">
                <a:solidFill>
                  <a:srgbClr val="BFC7D5"/>
                </a:solidFill>
              </a:rPr>
              <a:t> </a:t>
            </a:r>
            <a:r>
              <a:rPr lang="en-US" sz="1600" i="1" dirty="0">
                <a:solidFill>
                  <a:srgbClr val="BFC7D5"/>
                </a:solidFill>
              </a:rPr>
              <a:t>from</a:t>
            </a:r>
            <a:r>
              <a:rPr lang="en-US" sz="1600" dirty="0">
                <a:solidFill>
                  <a:srgbClr val="BFC7D5"/>
                </a:solidFill>
              </a:rPr>
              <a:t> </a:t>
            </a:r>
            <a:r>
              <a:rPr lang="en-US" sz="1600" dirty="0">
                <a:solidFill>
                  <a:srgbClr val="C3E88D"/>
                </a:solidFill>
              </a:rPr>
              <a:t>'react'</a:t>
            </a:r>
            <a:r>
              <a:rPr lang="en-US" sz="1600" dirty="0">
                <a:solidFill>
                  <a:srgbClr val="C792EA"/>
                </a:solidFill>
              </a:rPr>
              <a:t>;</a:t>
            </a:r>
            <a:br>
              <a:rPr lang="en-US" sz="1600" dirty="0">
                <a:ea typeface="+mn-lt"/>
                <a:cs typeface="+mn-lt"/>
              </a:rPr>
            </a:br>
            <a:r>
              <a:rPr lang="en-US" sz="1600" dirty="0">
                <a:solidFill>
                  <a:srgbClr val="C792EA"/>
                </a:solidFill>
              </a:rPr>
              <a:t>import</a:t>
            </a:r>
            <a:r>
              <a:rPr lang="en-US" sz="1600" dirty="0">
                <a:solidFill>
                  <a:srgbClr val="BFC7D5"/>
                </a:solidFill>
              </a:rPr>
              <a:t> styles </a:t>
            </a:r>
            <a:r>
              <a:rPr lang="en-US" sz="1600" i="1" dirty="0">
                <a:solidFill>
                  <a:srgbClr val="BFC7D5"/>
                </a:solidFill>
              </a:rPr>
              <a:t>from</a:t>
            </a:r>
            <a:r>
              <a:rPr lang="en-US" sz="1600" dirty="0">
                <a:solidFill>
                  <a:srgbClr val="BFC7D5"/>
                </a:solidFill>
              </a:rPr>
              <a:t> </a:t>
            </a:r>
            <a:r>
              <a:rPr lang="en-US" sz="1600" dirty="0">
                <a:solidFill>
                  <a:srgbClr val="C3E88D"/>
                </a:solidFill>
              </a:rPr>
              <a:t>'./Button.module.css'</a:t>
            </a:r>
            <a:r>
              <a:rPr lang="en-US" sz="1600" dirty="0">
                <a:solidFill>
                  <a:srgbClr val="C792EA"/>
                </a:solidFill>
              </a:rPr>
              <a:t>;</a:t>
            </a:r>
            <a:r>
              <a:rPr lang="en-US" sz="1600" dirty="0">
                <a:solidFill>
                  <a:schemeClr val="accent3"/>
                </a:solidFill>
                <a:latin typeface="Calibri"/>
                <a:cs typeface="Calibri"/>
              </a:rPr>
              <a:t> // Import </a:t>
            </a:r>
            <a:r>
              <a:rPr lang="en-US" sz="1600" dirty="0" err="1">
                <a:solidFill>
                  <a:schemeClr val="accent3"/>
                </a:solidFill>
                <a:latin typeface="Calibri"/>
                <a:cs typeface="Calibri"/>
              </a:rPr>
              <a:t>css</a:t>
            </a:r>
            <a:r>
              <a:rPr lang="en-US" sz="1600" dirty="0">
                <a:solidFill>
                  <a:schemeClr val="accent3"/>
                </a:solidFill>
                <a:latin typeface="Calibri"/>
                <a:cs typeface="Calibri"/>
              </a:rPr>
              <a:t> modules stylesheet as styles</a:t>
            </a:r>
            <a:br>
              <a:rPr lang="en-US" sz="1600" dirty="0">
                <a:latin typeface="Calibri"/>
              </a:rPr>
            </a:br>
            <a:r>
              <a:rPr lang="en-US" sz="1600" i="1" dirty="0">
                <a:solidFill>
                  <a:srgbClr val="697098"/>
                </a:solidFill>
              </a:rPr>
              <a:t>import</a:t>
            </a:r>
            <a:r>
              <a:rPr lang="en-US" sz="1600" dirty="0">
                <a:solidFill>
                  <a:srgbClr val="BFC7D5"/>
                </a:solidFill>
              </a:rPr>
              <a:t> </a:t>
            </a:r>
            <a:r>
              <a:rPr lang="en-US" sz="1600" dirty="0">
                <a:solidFill>
                  <a:srgbClr val="C3E88D"/>
                </a:solidFill>
              </a:rPr>
              <a:t>'./another-stylesheet.css'</a:t>
            </a:r>
            <a:r>
              <a:rPr lang="en-US" sz="1600" dirty="0">
                <a:solidFill>
                  <a:srgbClr val="C792EA"/>
                </a:solidFill>
              </a:rPr>
              <a:t>; </a:t>
            </a:r>
            <a:r>
              <a:rPr lang="en-US" sz="1600" dirty="0">
                <a:solidFill>
                  <a:schemeClr val="accent3"/>
                </a:solidFill>
                <a:latin typeface="Calibri"/>
                <a:cs typeface="Calibri"/>
              </a:rPr>
              <a:t> // Import regular styleshee</a:t>
            </a:r>
            <a:r>
              <a:rPr lang="en-US" sz="1600" i="1" dirty="0">
                <a:solidFill>
                  <a:srgbClr val="697098"/>
                </a:solidFill>
              </a:rPr>
              <a:t>t</a:t>
            </a:r>
            <a:br>
              <a:rPr lang="en-US" sz="1600" i="1" dirty="0">
                <a:ea typeface="+mn-lt"/>
                <a:cs typeface="+mn-lt"/>
              </a:rPr>
            </a:br>
            <a:br>
              <a:rPr lang="en-US" sz="1600" i="1" dirty="0">
                <a:ea typeface="+mn-lt"/>
                <a:cs typeface="+mn-lt"/>
              </a:rPr>
            </a:br>
            <a:r>
              <a:rPr lang="en-US" sz="1600" i="1" dirty="0">
                <a:solidFill>
                  <a:srgbClr val="697098"/>
                </a:solidFill>
              </a:rPr>
              <a:t>function </a:t>
            </a:r>
            <a:r>
              <a:rPr lang="en-US" sz="1600" dirty="0">
                <a:solidFill>
                  <a:srgbClr val="FFCB6B"/>
                </a:solidFill>
              </a:rPr>
              <a:t>Button</a:t>
            </a:r>
            <a:r>
              <a:rPr lang="en-US" sz="1600" dirty="0">
                <a:solidFill>
                  <a:srgbClr val="BFC7D5"/>
                </a:solidFill>
              </a:rPr>
              <a:t> () </a:t>
            </a:r>
            <a:r>
              <a:rPr lang="en-US" sz="1600" dirty="0">
                <a:solidFill>
                  <a:srgbClr val="C792EA"/>
                </a:solidFill>
              </a:rPr>
              <a:t>{</a:t>
            </a:r>
            <a:br>
              <a:rPr lang="en-US" sz="1600" dirty="0">
                <a:ea typeface="+mn-lt"/>
                <a:cs typeface="+mn-lt"/>
              </a:rPr>
            </a:br>
            <a:r>
              <a:rPr lang="en-US" sz="1600" dirty="0">
                <a:solidFill>
                  <a:srgbClr val="C792EA"/>
                </a:solidFill>
              </a:rPr>
              <a:t> </a:t>
            </a:r>
            <a:r>
              <a:rPr lang="en-US" sz="1600" dirty="0">
                <a:solidFill>
                  <a:srgbClr val="82AAFF"/>
                </a:solidFill>
              </a:rPr>
              <a:t>render</a:t>
            </a:r>
            <a:r>
              <a:rPr lang="en-US" sz="1600" dirty="0">
                <a:solidFill>
                  <a:srgbClr val="BFC7D5"/>
                </a:solidFill>
              </a:rPr>
              <a:t> (</a:t>
            </a:r>
            <a:br>
              <a:rPr lang="en-US" sz="1600" dirty="0">
                <a:ea typeface="+mn-lt"/>
                <a:cs typeface="+mn-lt"/>
              </a:rPr>
            </a:br>
            <a:r>
              <a:rPr lang="en-US" sz="1600" dirty="0">
                <a:solidFill>
                  <a:srgbClr val="C792EA"/>
                </a:solidFill>
              </a:rPr>
              <a:t> </a:t>
            </a:r>
            <a:r>
              <a:rPr lang="en-US" sz="1600" dirty="0">
                <a:solidFill>
                  <a:schemeClr val="accent3"/>
                </a:solidFill>
                <a:latin typeface="Calibri"/>
                <a:cs typeface="Calibri"/>
              </a:rPr>
              <a:t>// reference as a </a:t>
            </a:r>
            <a:r>
              <a:rPr lang="en-US" sz="1600" dirty="0" err="1">
                <a:solidFill>
                  <a:schemeClr val="accent3"/>
                </a:solidFill>
                <a:latin typeface="Calibri"/>
                <a:cs typeface="Calibri"/>
              </a:rPr>
              <a:t>js</a:t>
            </a:r>
            <a:r>
              <a:rPr lang="en-US" sz="1600" dirty="0">
                <a:solidFill>
                  <a:schemeClr val="accent3"/>
                </a:solidFill>
                <a:latin typeface="Calibri"/>
                <a:cs typeface="Calibri"/>
              </a:rPr>
              <a:t> object</a:t>
            </a:r>
            <a:br>
              <a:rPr lang="en-US" sz="1600" dirty="0">
                <a:latin typeface="Calibri"/>
              </a:rPr>
            </a:br>
            <a:r>
              <a:rPr lang="en-US" sz="1600" i="1" dirty="0">
                <a:solidFill>
                  <a:srgbClr val="697098"/>
                </a:solidFill>
              </a:rPr>
              <a:t> </a:t>
            </a:r>
            <a:r>
              <a:rPr lang="en-US" sz="1600" i="1" dirty="0">
                <a:solidFill>
                  <a:srgbClr val="BFC7D5"/>
                </a:solidFill>
              </a:rPr>
              <a:t>return</a:t>
            </a:r>
            <a:r>
              <a:rPr lang="en-US" sz="1600" dirty="0">
                <a:solidFill>
                  <a:srgbClr val="BFC7D5"/>
                </a:solidFill>
              </a:rPr>
              <a:t> </a:t>
            </a:r>
            <a:r>
              <a:rPr lang="en-US" sz="1600" dirty="0">
                <a:solidFill>
                  <a:srgbClr val="89DDFF"/>
                </a:solidFill>
              </a:rPr>
              <a:t>&lt;</a:t>
            </a:r>
            <a:r>
              <a:rPr lang="en-US" sz="1600" dirty="0">
                <a:solidFill>
                  <a:srgbClr val="BFC7D5"/>
                </a:solidFill>
              </a:rPr>
              <a:t>button </a:t>
            </a:r>
            <a:r>
              <a:rPr lang="en-US" sz="1600" dirty="0" err="1">
                <a:solidFill>
                  <a:srgbClr val="BFC7D5"/>
                </a:solidFill>
              </a:rPr>
              <a:t>className</a:t>
            </a:r>
            <a:r>
              <a:rPr lang="en-US" sz="1600" dirty="0">
                <a:solidFill>
                  <a:srgbClr val="89DDFF"/>
                </a:solidFill>
              </a:rPr>
              <a:t>=</a:t>
            </a:r>
            <a:r>
              <a:rPr lang="en-US" sz="1600" dirty="0">
                <a:solidFill>
                  <a:srgbClr val="C792EA"/>
                </a:solidFill>
              </a:rPr>
              <a:t>{</a:t>
            </a:r>
            <a:r>
              <a:rPr lang="en-US" sz="1600" dirty="0" err="1">
                <a:solidFill>
                  <a:srgbClr val="BFC7D5"/>
                </a:solidFill>
              </a:rPr>
              <a:t>styles</a:t>
            </a:r>
            <a:r>
              <a:rPr lang="en-US" sz="1600" dirty="0" err="1">
                <a:solidFill>
                  <a:srgbClr val="C792EA"/>
                </a:solidFill>
              </a:rPr>
              <a:t>.</a:t>
            </a:r>
            <a:r>
              <a:rPr lang="en-US" sz="1600" dirty="0" err="1">
                <a:solidFill>
                  <a:srgbClr val="BFC7D5"/>
                </a:solidFill>
              </a:rPr>
              <a:t>error</a:t>
            </a:r>
            <a:r>
              <a:rPr lang="en-US" sz="1600" dirty="0">
                <a:solidFill>
                  <a:srgbClr val="C792EA"/>
                </a:solidFill>
              </a:rPr>
              <a:t>}</a:t>
            </a:r>
            <a:r>
              <a:rPr lang="en-US" sz="1600" dirty="0">
                <a:solidFill>
                  <a:srgbClr val="89DDFF"/>
                </a:solidFill>
              </a:rPr>
              <a:t>&gt;</a:t>
            </a:r>
            <a:r>
              <a:rPr lang="en-US" sz="1600" dirty="0">
                <a:solidFill>
                  <a:srgbClr val="FFCB6B"/>
                </a:solidFill>
              </a:rPr>
              <a:t>Error</a:t>
            </a:r>
            <a:r>
              <a:rPr lang="en-US" sz="1600" dirty="0">
                <a:solidFill>
                  <a:srgbClr val="BFC7D5"/>
                </a:solidFill>
              </a:rPr>
              <a:t> Button</a:t>
            </a:r>
            <a:r>
              <a:rPr lang="en-US" sz="1600" dirty="0">
                <a:solidFill>
                  <a:srgbClr val="89DDFF"/>
                </a:solidFill>
              </a:rPr>
              <a:t>&lt;/</a:t>
            </a:r>
            <a:r>
              <a:rPr lang="en-US" sz="1600" dirty="0">
                <a:solidFill>
                  <a:srgbClr val="BFC7D5"/>
                </a:solidFill>
              </a:rPr>
              <a:t>button</a:t>
            </a:r>
            <a:r>
              <a:rPr lang="en-US" sz="1600" dirty="0">
                <a:solidFill>
                  <a:srgbClr val="89DDFF"/>
                </a:solidFill>
              </a:rPr>
              <a:t>&gt;</a:t>
            </a:r>
            <a:r>
              <a:rPr lang="en-US" sz="1600" dirty="0">
                <a:solidFill>
                  <a:srgbClr val="C792EA"/>
                </a:solidFill>
              </a:rPr>
              <a:t>;</a:t>
            </a:r>
            <a:br>
              <a:rPr lang="en-US" sz="1600" dirty="0">
                <a:ea typeface="+mn-lt"/>
                <a:cs typeface="+mn-lt"/>
              </a:rPr>
            </a:br>
            <a:r>
              <a:rPr lang="en-US" sz="1600" dirty="0">
                <a:solidFill>
                  <a:srgbClr val="C792EA"/>
                </a:solidFill>
              </a:rPr>
              <a:t>)</a:t>
            </a:r>
            <a:br>
              <a:rPr lang="en-US" sz="1600" dirty="0">
                <a:ea typeface="+mn-lt"/>
                <a:cs typeface="+mn-lt"/>
              </a:rPr>
            </a:br>
            <a:r>
              <a:rPr lang="en-US" sz="1600" dirty="0">
                <a:solidFill>
                  <a:srgbClr val="C792EA"/>
                </a:solidFill>
              </a:rPr>
              <a:t>}</a:t>
            </a:r>
            <a:endParaRPr lang="en-US" sz="1600">
              <a:cs typeface="Calibri"/>
            </a:endParaRPr>
          </a:p>
          <a:p>
            <a:pPr lvl="2">
              <a:lnSpc>
                <a:spcPct val="90000"/>
              </a:lnSpc>
              <a:spcBef>
                <a:spcPts val="500"/>
              </a:spcBef>
            </a:pPr>
            <a:endParaRPr lang="en-US" sz="1400" dirty="0">
              <a:solidFill>
                <a:srgbClr val="DC143C"/>
              </a:solidFill>
              <a:latin typeface="Calibri"/>
              <a:cs typeface="Calibri" panose="020F0502020204030204"/>
            </a:endParaRPr>
          </a:p>
          <a:p>
            <a:pPr lvl="1">
              <a:buFont typeface="Arial"/>
              <a:buChar char="•"/>
            </a:pPr>
            <a:endParaRPr lang="en-US" sz="1400" dirty="0">
              <a:solidFill>
                <a:srgbClr val="000000"/>
              </a:solidFill>
              <a:latin typeface="Calibri"/>
              <a:cs typeface="Arial"/>
            </a:endParaRPr>
          </a:p>
        </p:txBody>
      </p:sp>
    </p:spTree>
    <p:extLst>
      <p:ext uri="{BB962C8B-B14F-4D97-AF65-F5344CB8AC3E}">
        <p14:creationId xmlns:p14="http://schemas.microsoft.com/office/powerpoint/2010/main" val="3653807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72BCA1-E1FA-3DDB-4314-99D7B0BE5839}"/>
              </a:ext>
            </a:extLst>
          </p:cNvPr>
          <p:cNvSpPr>
            <a:spLocks noGrp="1"/>
          </p:cNvSpPr>
          <p:nvPr>
            <p:ph type="title"/>
          </p:nvPr>
        </p:nvSpPr>
        <p:spPr>
          <a:xfrm>
            <a:off x="838200" y="365125"/>
            <a:ext cx="10515600" cy="1325563"/>
          </a:xfrm>
        </p:spPr>
        <p:txBody>
          <a:bodyPr>
            <a:normAutofit/>
          </a:bodyPr>
          <a:lstStyle/>
          <a:p>
            <a:br>
              <a:rPr lang="en-US" sz="2600" dirty="0">
                <a:latin typeface="Arial"/>
                <a:cs typeface="Arial"/>
              </a:rPr>
            </a:br>
            <a:br>
              <a:rPr lang="en-US" sz="2600" dirty="0">
                <a:latin typeface="Arial"/>
                <a:cs typeface="Arial"/>
              </a:rPr>
            </a:br>
            <a:r>
              <a:rPr lang="en-US" sz="2600" dirty="0">
                <a:latin typeface="Calibri"/>
                <a:cs typeface="Calibri"/>
              </a:rPr>
              <a:t>React Hooks</a:t>
            </a:r>
          </a:p>
          <a:p>
            <a:endParaRPr lang="en-US" sz="2600">
              <a:latin typeface="Arial"/>
              <a:cs typeface="Arial"/>
            </a:endParaRPr>
          </a:p>
          <a:p>
            <a:pPr>
              <a:spcBef>
                <a:spcPts val="1000"/>
              </a:spcBef>
            </a:pPr>
            <a:endParaRPr lang="en-US" sz="2600">
              <a:latin typeface="Arial"/>
              <a:cs typeface="Calibri Light"/>
            </a:endParaRPr>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4052F4F-6AF7-1B39-ED2E-254369AAE41C}"/>
              </a:ext>
            </a:extLst>
          </p:cNvPr>
          <p:cNvSpPr>
            <a:spLocks noGrp="1"/>
          </p:cNvSpPr>
          <p:nvPr>
            <p:ph idx="1"/>
          </p:nvPr>
        </p:nvSpPr>
        <p:spPr>
          <a:xfrm>
            <a:off x="145473" y="1860111"/>
            <a:ext cx="10515600" cy="5598666"/>
          </a:xfrm>
        </p:spPr>
        <p:txBody>
          <a:bodyPr vert="horz" lIns="91440" tIns="45720" rIns="91440" bIns="45720" rtlCol="0" anchor="t">
            <a:normAutofit/>
          </a:bodyPr>
          <a:lstStyle/>
          <a:p>
            <a:pPr lvl="1">
              <a:buNone/>
            </a:pPr>
            <a:r>
              <a:rPr lang="en-US" sz="1600" i="1" dirty="0">
                <a:ea typeface="+mn-lt"/>
                <a:cs typeface="+mn-lt"/>
              </a:rPr>
              <a:t>Hooks</a:t>
            </a:r>
            <a:r>
              <a:rPr lang="en-US" sz="1600" dirty="0">
                <a:ea typeface="+mn-lt"/>
                <a:cs typeface="+mn-lt"/>
              </a:rPr>
              <a:t> are a new addition in React 16.8. They let you use state and other React features without writing a class.</a:t>
            </a:r>
          </a:p>
          <a:p>
            <a:pPr lvl="1">
              <a:buNone/>
            </a:pPr>
            <a:endParaRPr lang="en-US" sz="1600" dirty="0">
              <a:ea typeface="+mn-lt"/>
              <a:cs typeface="+mn-lt"/>
            </a:endParaRPr>
          </a:p>
          <a:p>
            <a:pPr lvl="1">
              <a:buNone/>
            </a:pPr>
            <a:r>
              <a:rPr lang="en-US" sz="1600" b="1" dirty="0">
                <a:ea typeface="+mn-lt"/>
                <a:cs typeface="+mn-lt"/>
              </a:rPr>
              <a:t>Example: </a:t>
            </a:r>
          </a:p>
          <a:p>
            <a:pPr lvl="1">
              <a:buNone/>
            </a:pPr>
            <a:r>
              <a:rPr lang="en-US" sz="1600" dirty="0">
                <a:ea typeface="+mn-lt"/>
                <a:cs typeface="+mn-lt"/>
              </a:rPr>
              <a:t>You must </a:t>
            </a:r>
            <a:r>
              <a:rPr lang="en-US" sz="1600" dirty="0">
                <a:solidFill>
                  <a:srgbClr val="DC143C"/>
                </a:solidFill>
                <a:ea typeface="+mn-lt"/>
                <a:cs typeface="+mn-lt"/>
              </a:rPr>
              <a:t>import</a:t>
            </a:r>
            <a:r>
              <a:rPr lang="en-US" sz="1600" dirty="0">
                <a:ea typeface="+mn-lt"/>
                <a:cs typeface="+mn-lt"/>
              </a:rPr>
              <a:t> Hooks from </a:t>
            </a:r>
            <a:r>
              <a:rPr lang="en-US" sz="1600" dirty="0">
                <a:solidFill>
                  <a:srgbClr val="DC143C"/>
                </a:solidFill>
                <a:ea typeface="+mn-lt"/>
                <a:cs typeface="+mn-lt"/>
              </a:rPr>
              <a:t>react</a:t>
            </a:r>
            <a:r>
              <a:rPr lang="en-US" sz="1600" dirty="0">
                <a:ea typeface="+mn-lt"/>
                <a:cs typeface="+mn-lt"/>
              </a:rPr>
              <a:t>.</a:t>
            </a:r>
          </a:p>
          <a:p>
            <a:pPr lvl="1">
              <a:buNone/>
            </a:pPr>
            <a:r>
              <a:rPr lang="en-US" sz="1600" dirty="0">
                <a:ea typeface="+mn-lt"/>
                <a:cs typeface="+mn-lt"/>
              </a:rPr>
              <a:t>Here we are using the </a:t>
            </a:r>
            <a:r>
              <a:rPr lang="en-US" sz="1600" err="1">
                <a:solidFill>
                  <a:srgbClr val="DC143C"/>
                </a:solidFill>
                <a:ea typeface="+mn-lt"/>
                <a:cs typeface="+mn-lt"/>
              </a:rPr>
              <a:t>useState</a:t>
            </a:r>
            <a:r>
              <a:rPr lang="en-US" sz="1600" dirty="0">
                <a:ea typeface="+mn-lt"/>
                <a:cs typeface="+mn-lt"/>
              </a:rPr>
              <a:t> Hook to keep track of the application state.</a:t>
            </a:r>
            <a:endParaRPr lang="en-US" sz="1600" dirty="0">
              <a:cs typeface="Calibri"/>
            </a:endParaRPr>
          </a:p>
          <a:p>
            <a:pPr lvl="1">
              <a:buNone/>
            </a:pPr>
            <a:r>
              <a:rPr lang="en-US" sz="1600" dirty="0">
                <a:ea typeface="+mn-lt"/>
                <a:cs typeface="+mn-lt"/>
              </a:rPr>
              <a:t>State generally refers to application data or properties that need to be tracked.</a:t>
            </a:r>
            <a:endParaRPr lang="en-US" sz="1600" dirty="0"/>
          </a:p>
          <a:p>
            <a:pPr lvl="1">
              <a:buNone/>
            </a:pPr>
            <a:endParaRPr lang="en-US" sz="1600" dirty="0">
              <a:ea typeface="+mn-lt"/>
              <a:cs typeface="+mn-lt"/>
            </a:endParaRPr>
          </a:p>
          <a:p>
            <a:pPr lvl="1">
              <a:buNone/>
            </a:pPr>
            <a:r>
              <a:rPr lang="en-US" sz="1600" b="1" dirty="0"/>
              <a:t>Hook Rules:</a:t>
            </a:r>
            <a:endParaRPr lang="en-US" sz="1600" b="1" dirty="0">
              <a:cs typeface="Calibri"/>
            </a:endParaRPr>
          </a:p>
          <a:p>
            <a:pPr lvl="1">
              <a:buNone/>
            </a:pPr>
            <a:r>
              <a:rPr lang="en-US" sz="1600" dirty="0">
                <a:ea typeface="+mn-lt"/>
                <a:cs typeface="+mn-lt"/>
              </a:rPr>
              <a:t>There are 3 rules for hooks:</a:t>
            </a:r>
            <a:endParaRPr lang="en-US" sz="1600" dirty="0">
              <a:cs typeface="Calibri" panose="020F0502020204030204"/>
            </a:endParaRPr>
          </a:p>
          <a:p>
            <a:pPr marL="1028700" lvl="2" indent="-342900">
              <a:buAutoNum type="arabicPeriod"/>
            </a:pPr>
            <a:r>
              <a:rPr lang="en-US" sz="1600" dirty="0">
                <a:ea typeface="+mn-lt"/>
                <a:cs typeface="+mn-lt"/>
              </a:rPr>
              <a:t>Hooks can only be called inside React function components.</a:t>
            </a:r>
            <a:endParaRPr lang="en-US" sz="1600" dirty="0">
              <a:cs typeface="Calibri" panose="020F0502020204030204"/>
            </a:endParaRPr>
          </a:p>
          <a:p>
            <a:pPr marL="1028700" lvl="2" indent="-342900">
              <a:buAutoNum type="arabicPeriod"/>
            </a:pPr>
            <a:r>
              <a:rPr lang="en-US" sz="1600" dirty="0">
                <a:ea typeface="+mn-lt"/>
                <a:cs typeface="+mn-lt"/>
              </a:rPr>
              <a:t>Hooks can only be called at the top level of a component.</a:t>
            </a:r>
            <a:endParaRPr lang="en-US" sz="1600" dirty="0">
              <a:cs typeface="Calibri" panose="020F0502020204030204"/>
            </a:endParaRPr>
          </a:p>
          <a:p>
            <a:pPr marL="1028700" lvl="2" indent="-342900">
              <a:buAutoNum type="arabicPeriod"/>
            </a:pPr>
            <a:r>
              <a:rPr lang="en-US" sz="1600" dirty="0">
                <a:ea typeface="+mn-lt"/>
                <a:cs typeface="+mn-lt"/>
              </a:rPr>
              <a:t>Hooks cannot be conditional</a:t>
            </a:r>
            <a:endParaRPr lang="en-US" sz="1600" dirty="0">
              <a:cs typeface="Calibri"/>
            </a:endParaRPr>
          </a:p>
          <a:p>
            <a:pPr lvl="1">
              <a:buNone/>
            </a:pPr>
            <a:endParaRPr lang="en-US" sz="1600" dirty="0">
              <a:cs typeface="Calibri"/>
            </a:endParaRPr>
          </a:p>
          <a:p>
            <a:pPr marL="457200" lvl="1" indent="0">
              <a:buNone/>
            </a:pPr>
            <a:endParaRPr lang="en-US" sz="1600" dirty="0">
              <a:ea typeface="+mn-lt"/>
              <a:cs typeface="+mn-lt"/>
            </a:endParaRPr>
          </a:p>
          <a:p>
            <a:pPr marL="457200" indent="0">
              <a:buNone/>
            </a:pPr>
            <a:br>
              <a:rPr lang="en-US" sz="1600" dirty="0">
                <a:ea typeface="+mn-lt"/>
                <a:cs typeface="+mn-lt"/>
              </a:rPr>
            </a:br>
            <a:endParaRPr lang="en-US" sz="1600">
              <a:ea typeface="+mn-lt"/>
              <a:cs typeface="+mn-lt"/>
            </a:endParaRPr>
          </a:p>
          <a:p>
            <a:pPr marL="457200" lvl="2">
              <a:buNone/>
            </a:pPr>
            <a:endParaRPr lang="en-US" sz="1600" dirty="0">
              <a:latin typeface="Calibri"/>
              <a:cs typeface="Arial"/>
            </a:endParaRPr>
          </a:p>
          <a:p>
            <a:pPr marL="800100" lvl="2" indent="-342900">
              <a:buAutoNum type="arabicPeriod"/>
            </a:pPr>
            <a:endParaRPr lang="en-US" sz="1600" dirty="0">
              <a:latin typeface="Calibri"/>
              <a:cs typeface="Arial"/>
            </a:endParaRPr>
          </a:p>
          <a:p>
            <a:pPr marL="0" indent="0">
              <a:buNone/>
            </a:pPr>
            <a:endParaRPr lang="en-US" sz="1600" dirty="0">
              <a:latin typeface="Calibri"/>
              <a:cs typeface="Arial"/>
            </a:endParaRPr>
          </a:p>
          <a:p>
            <a:endParaRPr lang="en-US" sz="1600" dirty="0">
              <a:latin typeface="Calibri"/>
              <a:cs typeface="Calibri"/>
            </a:endParaRPr>
          </a:p>
        </p:txBody>
      </p:sp>
    </p:spTree>
    <p:extLst>
      <p:ext uri="{BB962C8B-B14F-4D97-AF65-F5344CB8AC3E}">
        <p14:creationId xmlns:p14="http://schemas.microsoft.com/office/powerpoint/2010/main" val="39247433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90912" y="550055"/>
            <a:ext cx="11769519" cy="58344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u="sng" dirty="0">
                <a:ea typeface="+mn-lt"/>
                <a:cs typeface="+mn-lt"/>
              </a:rPr>
              <a:t>Categories of Hooks:</a:t>
            </a:r>
          </a:p>
          <a:p>
            <a:endParaRPr lang="en-US" sz="1600" b="1" u="sng" dirty="0">
              <a:ea typeface="+mn-lt"/>
              <a:cs typeface="+mn-lt"/>
            </a:endParaRPr>
          </a:p>
          <a:p>
            <a:r>
              <a:rPr lang="en-US" sz="1600" b="1" dirty="0">
                <a:ea typeface="+mn-lt"/>
                <a:cs typeface="+mn-lt"/>
              </a:rPr>
              <a:t>Basic Hooks</a:t>
            </a:r>
            <a:endParaRPr lang="en-US" b="1" dirty="0"/>
          </a:p>
          <a:p>
            <a:pPr lvl="1"/>
            <a:r>
              <a:rPr lang="en-US" sz="1600" err="1">
                <a:latin typeface="Calibri"/>
                <a:cs typeface="Calibri"/>
              </a:rPr>
              <a:t>useState</a:t>
            </a:r>
            <a:endParaRPr lang="en-US" sz="1600">
              <a:latin typeface="Calibri"/>
              <a:cs typeface="Calibri"/>
            </a:endParaRPr>
          </a:p>
          <a:p>
            <a:pPr lvl="1"/>
            <a:r>
              <a:rPr lang="en-US" sz="1600" err="1">
                <a:latin typeface="Calibri"/>
                <a:ea typeface="+mn-lt"/>
                <a:cs typeface="+mn-lt"/>
              </a:rPr>
              <a:t>useEffect</a:t>
            </a:r>
            <a:endParaRPr lang="en-US" sz="1600">
              <a:latin typeface="Calibri"/>
              <a:cs typeface="Calibri"/>
            </a:endParaRPr>
          </a:p>
          <a:p>
            <a:pPr lvl="1"/>
            <a:r>
              <a:rPr lang="en-US" sz="1600" err="1">
                <a:latin typeface="Calibri"/>
                <a:ea typeface="+mn-lt"/>
                <a:cs typeface="+mn-lt"/>
              </a:rPr>
              <a:t>useContext</a:t>
            </a:r>
            <a:endParaRPr lang="en-US" b="1" err="1">
              <a:latin typeface="Calibri"/>
              <a:cs typeface="Calibri" panose="020F0502020204030204"/>
            </a:endParaRPr>
          </a:p>
          <a:p>
            <a:r>
              <a:rPr lang="en-US" sz="1600" b="1" dirty="0">
                <a:ea typeface="+mn-lt"/>
                <a:cs typeface="+mn-lt"/>
              </a:rPr>
              <a:t>Additional Hooks</a:t>
            </a:r>
            <a:endParaRPr lang="en-US" b="1" dirty="0"/>
          </a:p>
          <a:p>
            <a:pPr lvl="1"/>
            <a:r>
              <a:rPr lang="en-US" sz="1600" u="sng" dirty="0">
                <a:ea typeface="+mn-lt"/>
                <a:cs typeface="+mn-lt"/>
                <a:hlinkClick r:id="rId2">
                  <a:extLst>
                    <a:ext uri="{A12FA001-AC4F-418D-AE19-62706E023703}">
                      <ahyp:hlinkClr xmlns:ahyp="http://schemas.microsoft.com/office/drawing/2018/hyperlinkcolor" val="tx"/>
                    </a:ext>
                  </a:extLst>
                </a:hlinkClick>
              </a:rPr>
              <a:t>useReducer</a:t>
            </a:r>
            <a:endParaRPr lang="en-US" sz="1600" u="sng">
              <a:cs typeface="Calibri"/>
            </a:endParaRPr>
          </a:p>
          <a:p>
            <a:pPr lvl="1"/>
            <a:r>
              <a:rPr lang="en-US" sz="1600" u="sng" dirty="0">
                <a:ea typeface="+mn-lt"/>
                <a:cs typeface="+mn-lt"/>
                <a:hlinkClick r:id="rId3">
                  <a:extLst>
                    <a:ext uri="{A12FA001-AC4F-418D-AE19-62706E023703}">
                      <ahyp:hlinkClr xmlns:ahyp="http://schemas.microsoft.com/office/drawing/2018/hyperlinkcolor" val="tx"/>
                    </a:ext>
                  </a:extLst>
                </a:hlinkClick>
              </a:rPr>
              <a:t>useCallback</a:t>
            </a:r>
            <a:endParaRPr lang="en-US" sz="1600" u="sng">
              <a:cs typeface="Calibri"/>
            </a:endParaRPr>
          </a:p>
          <a:p>
            <a:pPr lvl="1"/>
            <a:r>
              <a:rPr lang="en-US" sz="1600" u="sng" dirty="0">
                <a:ea typeface="+mn-lt"/>
                <a:cs typeface="+mn-lt"/>
                <a:hlinkClick r:id="rId4">
                  <a:extLst>
                    <a:ext uri="{A12FA001-AC4F-418D-AE19-62706E023703}">
                      <ahyp:hlinkClr xmlns:ahyp="http://schemas.microsoft.com/office/drawing/2018/hyperlinkcolor" val="tx"/>
                    </a:ext>
                  </a:extLst>
                </a:hlinkClick>
              </a:rPr>
              <a:t>useMemo</a:t>
            </a:r>
            <a:endParaRPr lang="en-US" sz="1600" u="sng">
              <a:cs typeface="Calibri"/>
            </a:endParaRPr>
          </a:p>
          <a:p>
            <a:pPr lvl="1"/>
            <a:r>
              <a:rPr lang="en-US" sz="1600" u="sng" dirty="0">
                <a:ea typeface="+mn-lt"/>
                <a:cs typeface="+mn-lt"/>
                <a:hlinkClick r:id="rId5">
                  <a:extLst>
                    <a:ext uri="{A12FA001-AC4F-418D-AE19-62706E023703}">
                      <ahyp:hlinkClr xmlns:ahyp="http://schemas.microsoft.com/office/drawing/2018/hyperlinkcolor" val="tx"/>
                    </a:ext>
                  </a:extLst>
                </a:hlinkClick>
              </a:rPr>
              <a:t>useRef</a:t>
            </a:r>
            <a:endParaRPr lang="en-US" sz="1600" u="sng">
              <a:cs typeface="Calibri"/>
            </a:endParaRPr>
          </a:p>
          <a:p>
            <a:pPr lvl="1"/>
            <a:r>
              <a:rPr lang="en-US" sz="1600" u="sng" dirty="0">
                <a:ea typeface="+mn-lt"/>
                <a:cs typeface="+mn-lt"/>
                <a:hlinkClick r:id="rId6">
                  <a:extLst>
                    <a:ext uri="{A12FA001-AC4F-418D-AE19-62706E023703}">
                      <ahyp:hlinkClr xmlns:ahyp="http://schemas.microsoft.com/office/drawing/2018/hyperlinkcolor" val="tx"/>
                    </a:ext>
                  </a:extLst>
                </a:hlinkClick>
              </a:rPr>
              <a:t>useImperativeHandle</a:t>
            </a:r>
            <a:endParaRPr lang="en-US" sz="1600" u="sng">
              <a:cs typeface="Calibri"/>
            </a:endParaRPr>
          </a:p>
          <a:p>
            <a:pPr lvl="1"/>
            <a:r>
              <a:rPr lang="en-US" sz="1600" u="sng" dirty="0">
                <a:ea typeface="+mn-lt"/>
                <a:cs typeface="+mn-lt"/>
                <a:hlinkClick r:id="rId7">
                  <a:extLst>
                    <a:ext uri="{A12FA001-AC4F-418D-AE19-62706E023703}">
                      <ahyp:hlinkClr xmlns:ahyp="http://schemas.microsoft.com/office/drawing/2018/hyperlinkcolor" val="tx"/>
                    </a:ext>
                  </a:extLst>
                </a:hlinkClick>
              </a:rPr>
              <a:t>useLayoutEffect</a:t>
            </a:r>
            <a:endParaRPr lang="en-US" sz="1600" u="sng">
              <a:cs typeface="Calibri"/>
            </a:endParaRPr>
          </a:p>
          <a:p>
            <a:pPr lvl="1"/>
            <a:r>
              <a:rPr lang="en-US" sz="1600" u="sng" dirty="0">
                <a:ea typeface="+mn-lt"/>
                <a:cs typeface="+mn-lt"/>
                <a:hlinkClick r:id="rId8">
                  <a:extLst>
                    <a:ext uri="{A12FA001-AC4F-418D-AE19-62706E023703}">
                      <ahyp:hlinkClr xmlns:ahyp="http://schemas.microsoft.com/office/drawing/2018/hyperlinkcolor" val="tx"/>
                    </a:ext>
                  </a:extLst>
                </a:hlinkClick>
              </a:rPr>
              <a:t>useDebugValue</a:t>
            </a:r>
            <a:endParaRPr lang="en-US" sz="1600" u="sng">
              <a:cs typeface="Calibri"/>
            </a:endParaRPr>
          </a:p>
          <a:p>
            <a:pPr lvl="1"/>
            <a:r>
              <a:rPr lang="en-US" sz="1600" u="sng" dirty="0">
                <a:ea typeface="+mn-lt"/>
                <a:cs typeface="+mn-lt"/>
                <a:hlinkClick r:id="rId9">
                  <a:extLst>
                    <a:ext uri="{A12FA001-AC4F-418D-AE19-62706E023703}">
                      <ahyp:hlinkClr xmlns:ahyp="http://schemas.microsoft.com/office/drawing/2018/hyperlinkcolor" val="tx"/>
                    </a:ext>
                  </a:extLst>
                </a:hlinkClick>
              </a:rPr>
              <a:t>useDeferredValue</a:t>
            </a:r>
            <a:endParaRPr lang="en-US" sz="1600" u="sng">
              <a:cs typeface="Calibri"/>
            </a:endParaRPr>
          </a:p>
          <a:p>
            <a:pPr lvl="1"/>
            <a:r>
              <a:rPr lang="en-US" sz="1600" u="sng" dirty="0">
                <a:ea typeface="+mn-lt"/>
                <a:cs typeface="+mn-lt"/>
                <a:hlinkClick r:id="rId10">
                  <a:extLst>
                    <a:ext uri="{A12FA001-AC4F-418D-AE19-62706E023703}">
                      <ahyp:hlinkClr xmlns:ahyp="http://schemas.microsoft.com/office/drawing/2018/hyperlinkcolor" val="tx"/>
                    </a:ext>
                  </a:extLst>
                </a:hlinkClick>
              </a:rPr>
              <a:t>useTransition</a:t>
            </a:r>
            <a:endParaRPr lang="en-US" sz="1600" u="sng">
              <a:cs typeface="Calibri"/>
            </a:endParaRPr>
          </a:p>
          <a:p>
            <a:pPr lvl="1"/>
            <a:r>
              <a:rPr lang="en-US" sz="1600" u="sng" dirty="0">
                <a:ea typeface="+mn-lt"/>
                <a:cs typeface="+mn-lt"/>
                <a:hlinkClick r:id="rId11">
                  <a:extLst>
                    <a:ext uri="{A12FA001-AC4F-418D-AE19-62706E023703}">
                      <ahyp:hlinkClr xmlns:ahyp="http://schemas.microsoft.com/office/drawing/2018/hyperlinkcolor" val="tx"/>
                    </a:ext>
                  </a:extLst>
                </a:hlinkClick>
              </a:rPr>
              <a:t>useId</a:t>
            </a:r>
            <a:endParaRPr lang="en-US" sz="1600" u="sng">
              <a:cs typeface="Calibri"/>
            </a:endParaRPr>
          </a:p>
          <a:p>
            <a:r>
              <a:rPr lang="en-US" sz="1600" b="1" u="sng" dirty="0">
                <a:ea typeface="+mn-lt"/>
                <a:cs typeface="+mn-lt"/>
                <a:hlinkClick r:id="rId12">
                  <a:extLst>
                    <a:ext uri="{A12FA001-AC4F-418D-AE19-62706E023703}">
                      <ahyp:hlinkClr xmlns:ahyp="http://schemas.microsoft.com/office/drawing/2018/hyperlinkcolor" val="tx"/>
                    </a:ext>
                  </a:extLst>
                </a:hlinkClick>
              </a:rPr>
              <a:t>Library Hooks</a:t>
            </a:r>
            <a:endParaRPr lang="en-US" sz="1600" b="1" u="sng">
              <a:cs typeface="Calibri"/>
            </a:endParaRPr>
          </a:p>
          <a:p>
            <a:pPr lvl="1"/>
            <a:r>
              <a:rPr lang="en-US" sz="1600" dirty="0">
                <a:ea typeface="+mn-lt"/>
                <a:cs typeface="+mn-lt"/>
                <a:hlinkClick r:id="rId13">
                  <a:extLst>
                    <a:ext uri="{A12FA001-AC4F-418D-AE19-62706E023703}">
                      <ahyp:hlinkClr xmlns:ahyp="http://schemas.microsoft.com/office/drawing/2018/hyperlinkcolor" val="tx"/>
                    </a:ext>
                  </a:extLst>
                </a:hlinkClick>
              </a:rPr>
              <a:t>useSyncExternalStore</a:t>
            </a:r>
            <a:endParaRPr lang="en-US" sz="1600">
              <a:cs typeface="Calibri"/>
            </a:endParaRPr>
          </a:p>
          <a:p>
            <a:pPr lvl="1"/>
            <a:r>
              <a:rPr lang="en-US" sz="1600" dirty="0">
                <a:ea typeface="+mn-lt"/>
                <a:cs typeface="+mn-lt"/>
                <a:hlinkClick r:id="rId14">
                  <a:extLst>
                    <a:ext uri="{A12FA001-AC4F-418D-AE19-62706E023703}">
                      <ahyp:hlinkClr xmlns:ahyp="http://schemas.microsoft.com/office/drawing/2018/hyperlinkcolor" val="tx"/>
                    </a:ext>
                  </a:extLst>
                </a:hlinkClick>
              </a:rPr>
              <a:t>useInsertionEffect</a:t>
            </a:r>
            <a:endParaRPr lang="en-US" sz="1600">
              <a:cs typeface="Calibri"/>
              <a:hlinkClick r:id="rId14">
                <a:extLst>
                  <a:ext uri="{A12FA001-AC4F-418D-AE19-62706E023703}">
                    <ahyp:hlinkClr xmlns:ahyp="http://schemas.microsoft.com/office/drawing/2018/hyperlinkcolor" val="tx"/>
                  </a:ext>
                </a:extLst>
              </a:hlinkClick>
            </a:endParaRPr>
          </a:p>
          <a:p>
            <a:pPr lvl="1">
              <a:lnSpc>
                <a:spcPct val="90000"/>
              </a:lnSpc>
              <a:spcBef>
                <a:spcPts val="500"/>
              </a:spcBef>
            </a:pPr>
            <a:endParaRPr lang="en-US" sz="1600" dirty="0">
              <a:solidFill>
                <a:srgbClr val="000000"/>
              </a:solidFill>
              <a:ea typeface="+mn-lt"/>
              <a:cs typeface="+mn-lt"/>
            </a:endParaRPr>
          </a:p>
          <a:p>
            <a:pPr lvl="2">
              <a:lnSpc>
                <a:spcPct val="90000"/>
              </a:lnSpc>
              <a:spcBef>
                <a:spcPts val="500"/>
              </a:spcBef>
            </a:pPr>
            <a:endParaRPr lang="en-US" sz="1600" dirty="0">
              <a:solidFill>
                <a:srgbClr val="DC143C"/>
              </a:solidFill>
              <a:latin typeface="Calibri"/>
              <a:cs typeface="Calibri" panose="020F0502020204030204"/>
            </a:endParaRPr>
          </a:p>
          <a:p>
            <a:pPr lvl="1"/>
            <a:endParaRPr lang="en-US" sz="1600" dirty="0">
              <a:solidFill>
                <a:srgbClr val="000000"/>
              </a:solidFill>
              <a:latin typeface="Calibri"/>
              <a:cs typeface="Arial"/>
            </a:endParaRPr>
          </a:p>
        </p:txBody>
      </p:sp>
    </p:spTree>
    <p:extLst>
      <p:ext uri="{BB962C8B-B14F-4D97-AF65-F5344CB8AC3E}">
        <p14:creationId xmlns:p14="http://schemas.microsoft.com/office/powerpoint/2010/main" val="1799168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37250" y="174421"/>
            <a:ext cx="11769519" cy="72348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React </a:t>
            </a:r>
            <a:r>
              <a:rPr lang="en-US" sz="1600" b="1" err="1">
                <a:latin typeface="Calibri"/>
                <a:cs typeface="Calibri"/>
              </a:rPr>
              <a:t>useState</a:t>
            </a:r>
            <a:r>
              <a:rPr lang="en-US" sz="1600" b="1" dirty="0"/>
              <a:t> Hook</a:t>
            </a:r>
          </a:p>
          <a:p>
            <a:pPr lvl="1"/>
            <a:r>
              <a:rPr lang="en-US" sz="1600" dirty="0">
                <a:ea typeface="+mn-lt"/>
                <a:cs typeface="+mn-lt"/>
              </a:rPr>
              <a:t>The React </a:t>
            </a:r>
            <a:r>
              <a:rPr lang="en-US" sz="1600" err="1">
                <a:solidFill>
                  <a:srgbClr val="DC143C"/>
                </a:solidFill>
                <a:ea typeface="+mn-lt"/>
                <a:cs typeface="+mn-lt"/>
              </a:rPr>
              <a:t>useState</a:t>
            </a:r>
            <a:r>
              <a:rPr lang="en-US" sz="1600" dirty="0">
                <a:ea typeface="+mn-lt"/>
                <a:cs typeface="+mn-lt"/>
              </a:rPr>
              <a:t> Hook allows us to track state in a function component.</a:t>
            </a:r>
            <a:endParaRPr lang="en-US" sz="1600" dirty="0">
              <a:ea typeface="Calibri"/>
              <a:cs typeface="Calibri"/>
            </a:endParaRPr>
          </a:p>
          <a:p>
            <a:pPr lvl="1"/>
            <a:r>
              <a:rPr lang="en-US" sz="1600" dirty="0">
                <a:ea typeface="+mn-lt"/>
                <a:cs typeface="+mn-lt"/>
              </a:rPr>
              <a:t>State generally refers to data or properties that need to be tracking in an application.</a:t>
            </a:r>
            <a:endParaRPr lang="en-US" sz="1600" dirty="0">
              <a:ea typeface="Calibri" panose="020F0502020204030204"/>
              <a:cs typeface="Calibri" panose="020F0502020204030204"/>
            </a:endParaRPr>
          </a:p>
          <a:p>
            <a:r>
              <a:rPr lang="en-US" sz="1600" b="1" dirty="0"/>
              <a:t>Import </a:t>
            </a:r>
            <a:r>
              <a:rPr lang="en-US" sz="1600" b="1" err="1">
                <a:solidFill>
                  <a:srgbClr val="DC143C"/>
                </a:solidFill>
              </a:rPr>
              <a:t>useState</a:t>
            </a:r>
            <a:endParaRPr lang="en-US" sz="1600" b="1" err="1"/>
          </a:p>
          <a:p>
            <a:pPr lvl="1"/>
            <a:r>
              <a:rPr lang="en-US" sz="1600" dirty="0">
                <a:ea typeface="+mn-lt"/>
                <a:cs typeface="+mn-lt"/>
              </a:rPr>
              <a:t>To use the </a:t>
            </a:r>
            <a:r>
              <a:rPr lang="en-US" sz="1600" dirty="0" err="1">
                <a:solidFill>
                  <a:srgbClr val="DC143C"/>
                </a:solidFill>
                <a:ea typeface="+mn-lt"/>
                <a:cs typeface="+mn-lt"/>
              </a:rPr>
              <a:t>useState</a:t>
            </a:r>
            <a:r>
              <a:rPr lang="en-US" sz="1600" dirty="0">
                <a:ea typeface="+mn-lt"/>
                <a:cs typeface="+mn-lt"/>
              </a:rPr>
              <a:t> Hook, we first need to </a:t>
            </a:r>
            <a:r>
              <a:rPr lang="en-US" sz="1600" dirty="0">
                <a:solidFill>
                  <a:srgbClr val="DC143C"/>
                </a:solidFill>
                <a:ea typeface="+mn-lt"/>
                <a:cs typeface="+mn-lt"/>
              </a:rPr>
              <a:t>import</a:t>
            </a:r>
            <a:r>
              <a:rPr lang="en-US" sz="1600" dirty="0">
                <a:ea typeface="+mn-lt"/>
                <a:cs typeface="+mn-lt"/>
              </a:rPr>
              <a:t> it into our component.</a:t>
            </a:r>
            <a:endParaRPr lang="en-US" sz="1600" dirty="0">
              <a:ea typeface="Calibri"/>
              <a:cs typeface="Calibri"/>
            </a:endParaRPr>
          </a:p>
          <a:p>
            <a:pPr lvl="1"/>
            <a:r>
              <a:rPr lang="en-US" sz="1600" b="1" dirty="0"/>
              <a:t>Example:</a:t>
            </a:r>
            <a:endParaRPr lang="en-US" sz="1600" b="1" dirty="0">
              <a:ea typeface="+mn-lt"/>
              <a:cs typeface="+mn-lt"/>
            </a:endParaRPr>
          </a:p>
          <a:p>
            <a:pPr lvl="1"/>
            <a:r>
              <a:rPr lang="en-US" sz="1600" dirty="0">
                <a:ea typeface="+mn-lt"/>
                <a:cs typeface="+mn-lt"/>
              </a:rPr>
              <a:t>At the top of your component, </a:t>
            </a:r>
            <a:r>
              <a:rPr lang="en-US" sz="1600" dirty="0">
                <a:solidFill>
                  <a:srgbClr val="DC143C"/>
                </a:solidFill>
                <a:ea typeface="+mn-lt"/>
                <a:cs typeface="+mn-lt"/>
              </a:rPr>
              <a:t>import</a:t>
            </a:r>
            <a:r>
              <a:rPr lang="en-US" sz="1600" dirty="0">
                <a:ea typeface="+mn-lt"/>
                <a:cs typeface="+mn-lt"/>
              </a:rPr>
              <a:t> the </a:t>
            </a:r>
            <a:r>
              <a:rPr lang="en-US" sz="1600" dirty="0" err="1">
                <a:solidFill>
                  <a:srgbClr val="DC143C"/>
                </a:solidFill>
                <a:ea typeface="+mn-lt"/>
                <a:cs typeface="+mn-lt"/>
              </a:rPr>
              <a:t>useState</a:t>
            </a:r>
            <a:r>
              <a:rPr lang="en-US" sz="1600" dirty="0">
                <a:ea typeface="+mn-lt"/>
                <a:cs typeface="+mn-lt"/>
              </a:rPr>
              <a:t> Hook.</a:t>
            </a:r>
            <a:endParaRPr lang="en-US" sz="1600" b="1" dirty="0">
              <a:solidFill>
                <a:srgbClr val="DC143C"/>
              </a:solidFill>
              <a:ea typeface="+mn-lt"/>
              <a:cs typeface="+mn-lt"/>
            </a:endParaRPr>
          </a:p>
          <a:p>
            <a:pPr lvl="1"/>
            <a:r>
              <a:rPr lang="en-US" sz="1600" dirty="0">
                <a:solidFill>
                  <a:srgbClr val="0077AA"/>
                </a:solidFill>
                <a:ea typeface="+mn-lt"/>
                <a:cs typeface="+mn-lt"/>
              </a:rPr>
              <a:t>import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err="1">
                <a:ea typeface="+mn-lt"/>
                <a:cs typeface="+mn-lt"/>
              </a:rPr>
              <a:t>useState</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endParaRPr lang="en-US" sz="1600" b="1" dirty="0">
              <a:solidFill>
                <a:srgbClr val="DC143C"/>
              </a:solidFill>
              <a:ea typeface="+mn-lt"/>
              <a:cs typeface="+mn-lt"/>
            </a:endParaRPr>
          </a:p>
          <a:p>
            <a:br>
              <a:rPr lang="en-US" sz="1600" dirty="0"/>
            </a:br>
            <a:r>
              <a:rPr lang="en-US" sz="1600" b="1" dirty="0"/>
              <a:t>Initialize </a:t>
            </a:r>
            <a:r>
              <a:rPr lang="en-US" sz="1600" b="1" err="1">
                <a:solidFill>
                  <a:srgbClr val="DC143C"/>
                </a:solidFill>
              </a:rPr>
              <a:t>useState</a:t>
            </a:r>
            <a:endParaRPr lang="en-US" sz="1600" b="1" err="1">
              <a:solidFill>
                <a:srgbClr val="DC143C"/>
              </a:solidFill>
              <a:ea typeface="Calibri"/>
              <a:cs typeface="Calibri"/>
            </a:endParaRPr>
          </a:p>
          <a:p>
            <a:pPr lvl="1"/>
            <a:r>
              <a:rPr lang="en-US" sz="1600" dirty="0">
                <a:ea typeface="+mn-lt"/>
                <a:cs typeface="+mn-lt"/>
              </a:rPr>
              <a:t>We initialize our state by calling </a:t>
            </a:r>
            <a:r>
              <a:rPr lang="en-US" sz="1600" err="1">
                <a:solidFill>
                  <a:srgbClr val="DC143C"/>
                </a:solidFill>
                <a:ea typeface="+mn-lt"/>
                <a:cs typeface="+mn-lt"/>
              </a:rPr>
              <a:t>useState</a:t>
            </a:r>
            <a:r>
              <a:rPr lang="en-US" sz="1600" dirty="0">
                <a:ea typeface="+mn-lt"/>
                <a:cs typeface="+mn-lt"/>
              </a:rPr>
              <a:t> in our function component.</a:t>
            </a:r>
            <a:endParaRPr lang="en-US" sz="1600" dirty="0">
              <a:ea typeface="Calibri"/>
              <a:cs typeface="Calibri"/>
            </a:endParaRPr>
          </a:p>
          <a:p>
            <a:pPr lvl="1"/>
            <a:r>
              <a:rPr lang="en-US" sz="1600" err="1">
                <a:solidFill>
                  <a:srgbClr val="DC143C"/>
                </a:solidFill>
                <a:ea typeface="+mn-lt"/>
                <a:cs typeface="+mn-lt"/>
              </a:rPr>
              <a:t>useState</a:t>
            </a:r>
            <a:r>
              <a:rPr lang="en-US" sz="1600" dirty="0">
                <a:ea typeface="+mn-lt"/>
                <a:cs typeface="+mn-lt"/>
              </a:rPr>
              <a:t> accepts an initial state and returns two values:</a:t>
            </a:r>
            <a:endParaRPr lang="en-US" sz="1600" dirty="0">
              <a:ea typeface="Calibri"/>
              <a:cs typeface="Calibri"/>
            </a:endParaRPr>
          </a:p>
          <a:p>
            <a:pPr marL="742950" lvl="1" indent="-285750">
              <a:buFont typeface="Arial"/>
              <a:buChar char="•"/>
            </a:pPr>
            <a:r>
              <a:rPr lang="en-US" sz="1600" dirty="0">
                <a:ea typeface="+mn-lt"/>
                <a:cs typeface="+mn-lt"/>
              </a:rPr>
              <a:t>The current state.</a:t>
            </a:r>
            <a:endParaRPr lang="en-US" sz="1600" dirty="0">
              <a:ea typeface="Calibri"/>
              <a:cs typeface="Calibri"/>
            </a:endParaRPr>
          </a:p>
          <a:p>
            <a:pPr marL="742950" lvl="1" indent="-285750">
              <a:buFont typeface="Arial"/>
              <a:buChar char="•"/>
            </a:pPr>
            <a:r>
              <a:rPr lang="en-US" sz="1600" dirty="0">
                <a:ea typeface="+mn-lt"/>
                <a:cs typeface="+mn-lt"/>
              </a:rPr>
              <a:t>A function that updates the state.</a:t>
            </a:r>
            <a:endParaRPr lang="en-US" sz="1600" dirty="0">
              <a:ea typeface="Calibri"/>
              <a:cs typeface="Calibri"/>
            </a:endParaRPr>
          </a:p>
          <a:p>
            <a:pPr lvl="1"/>
            <a:r>
              <a:rPr lang="en-US" sz="1600" b="1" dirty="0"/>
              <a:t>Example:</a:t>
            </a:r>
            <a:endParaRPr lang="en-US" sz="1600" b="1" dirty="0">
              <a:ea typeface="Calibri"/>
              <a:cs typeface="Calibri"/>
            </a:endParaRPr>
          </a:p>
          <a:p>
            <a:pPr lvl="1"/>
            <a:r>
              <a:rPr lang="en-US" sz="1600" dirty="0">
                <a:ea typeface="+mn-lt"/>
                <a:cs typeface="+mn-lt"/>
              </a:rPr>
              <a:t>Initialize state at the top of the function component.</a:t>
            </a:r>
            <a:endParaRPr lang="en-US" sz="1600" dirty="0">
              <a:ea typeface="Calibri"/>
              <a:cs typeface="Calibri"/>
            </a:endParaRPr>
          </a:p>
          <a:p>
            <a:pPr lvl="1"/>
            <a:r>
              <a:rPr lang="en-US" sz="1600" dirty="0">
                <a:solidFill>
                  <a:srgbClr val="0077AA"/>
                </a:solidFill>
                <a:ea typeface="+mn-lt"/>
                <a:cs typeface="+mn-lt"/>
              </a:rPr>
              <a:t>import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err="1">
                <a:ea typeface="+mn-lt"/>
                <a:cs typeface="+mn-lt"/>
              </a:rPr>
              <a:t>useState</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from</a:t>
            </a:r>
            <a:r>
              <a:rPr lang="en-US" sz="1600" dirty="0">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function</a:t>
            </a:r>
            <a:r>
              <a:rPr lang="en-US" sz="1600" dirty="0">
                <a:ea typeface="+mn-lt"/>
                <a:cs typeface="+mn-lt"/>
              </a:rPr>
              <a:t> </a:t>
            </a:r>
            <a:r>
              <a:rPr lang="en-US" sz="1600" err="1">
                <a:solidFill>
                  <a:srgbClr val="DD4A68"/>
                </a:solidFill>
                <a:ea typeface="+mn-lt"/>
                <a:cs typeface="+mn-lt"/>
              </a:rPr>
              <a:t>FavoriteColor</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r>
              <a:rPr lang="en-US" sz="1600" dirty="0">
                <a:ea typeface="+mn-lt"/>
                <a:cs typeface="+mn-lt"/>
              </a:rPr>
              <a:t>
  </a:t>
            </a:r>
            <a:r>
              <a:rPr lang="en-US" sz="1600" dirty="0">
                <a:solidFill>
                  <a:srgbClr val="0077AA"/>
                </a:solidFill>
                <a:ea typeface="+mn-lt"/>
                <a:cs typeface="+mn-lt"/>
              </a:rPr>
              <a:t>const</a:t>
            </a:r>
            <a:r>
              <a:rPr lang="en-US" sz="1600" dirty="0">
                <a:ea typeface="+mn-lt"/>
                <a:cs typeface="+mn-lt"/>
              </a:rPr>
              <a:t> </a:t>
            </a:r>
            <a:r>
              <a:rPr lang="en-US" sz="1600" dirty="0">
                <a:solidFill>
                  <a:srgbClr val="999999"/>
                </a:solidFill>
                <a:ea typeface="+mn-lt"/>
                <a:cs typeface="+mn-lt"/>
              </a:rPr>
              <a:t>[</a:t>
            </a:r>
            <a:r>
              <a:rPr lang="en-US" sz="1600" dirty="0">
                <a:ea typeface="+mn-lt"/>
                <a:cs typeface="+mn-lt"/>
              </a:rPr>
              <a:t>color</a:t>
            </a:r>
            <a:r>
              <a:rPr lang="en-US" sz="1600" dirty="0">
                <a:solidFill>
                  <a:srgbClr val="999999"/>
                </a:solidFill>
                <a:ea typeface="+mn-lt"/>
                <a:cs typeface="+mn-lt"/>
              </a:rPr>
              <a:t>,</a:t>
            </a:r>
            <a:r>
              <a:rPr lang="en-US" sz="1600" dirty="0">
                <a:ea typeface="+mn-lt"/>
                <a:cs typeface="+mn-lt"/>
              </a:rPr>
              <a:t> </a:t>
            </a:r>
            <a:r>
              <a:rPr lang="en-US" sz="1600" err="1">
                <a:ea typeface="+mn-lt"/>
                <a:cs typeface="+mn-lt"/>
              </a:rPr>
              <a:t>setColor</a:t>
            </a:r>
            <a:r>
              <a:rPr lang="en-US" sz="1600" dirty="0">
                <a:solidFill>
                  <a:srgbClr val="999999"/>
                </a:solidFill>
                <a:ea typeface="+mn-lt"/>
                <a:cs typeface="+mn-lt"/>
              </a:rPr>
              <a:t>]</a:t>
            </a:r>
            <a:r>
              <a:rPr lang="en-US" sz="1600" dirty="0">
                <a:ea typeface="+mn-lt"/>
                <a:cs typeface="+mn-lt"/>
              </a:rPr>
              <a:t> </a:t>
            </a:r>
            <a:r>
              <a:rPr lang="en-US" sz="1600" dirty="0">
                <a:solidFill>
                  <a:srgbClr val="9A6E3A"/>
                </a:solidFill>
                <a:ea typeface="+mn-lt"/>
                <a:cs typeface="+mn-lt"/>
              </a:rPr>
              <a:t>=</a:t>
            </a:r>
            <a:r>
              <a:rPr lang="en-US" sz="1600" dirty="0">
                <a:ea typeface="+mn-lt"/>
                <a:cs typeface="+mn-lt"/>
              </a:rPr>
              <a:t> </a:t>
            </a:r>
            <a:r>
              <a:rPr lang="en-US" sz="160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a:t>
            </a:r>
            <a:r>
              <a:rPr lang="en-US" sz="1600" dirty="0">
                <a:solidFill>
                  <a:srgbClr val="999999"/>
                </a:solidFill>
                <a:ea typeface="+mn-lt"/>
                <a:cs typeface="+mn-lt"/>
              </a:rPr>
              <a:t>);</a:t>
            </a:r>
            <a:r>
              <a:rPr lang="en-US" sz="1600" dirty="0">
                <a:ea typeface="+mn-lt"/>
                <a:cs typeface="+mn-lt"/>
              </a:rPr>
              <a:t>
</a:t>
            </a:r>
            <a:r>
              <a:rPr lang="en-US" sz="1600" dirty="0">
                <a:solidFill>
                  <a:srgbClr val="999999"/>
                </a:solidFill>
                <a:ea typeface="+mn-lt"/>
                <a:cs typeface="+mn-lt"/>
              </a:rPr>
              <a:t>}</a:t>
            </a:r>
            <a:endParaRPr lang="en-US" sz="1600" dirty="0">
              <a:solidFill>
                <a:srgbClr val="000000"/>
              </a:solidFill>
              <a:ea typeface="+mn-lt"/>
              <a:cs typeface="+mn-lt"/>
            </a:endParaRPr>
          </a:p>
          <a:p>
            <a:pPr lvl="1"/>
            <a:r>
              <a:rPr lang="en-US" sz="1600" dirty="0">
                <a:solidFill>
                  <a:srgbClr val="000000"/>
                </a:solidFill>
                <a:ea typeface="+mn-lt"/>
                <a:cs typeface="+mn-lt"/>
              </a:rPr>
              <a:t>Notice that again, we are </a:t>
            </a:r>
            <a:r>
              <a:rPr lang="en-US" sz="1600" err="1">
                <a:solidFill>
                  <a:srgbClr val="000000"/>
                </a:solidFill>
                <a:ea typeface="+mn-lt"/>
                <a:cs typeface="+mn-lt"/>
              </a:rPr>
              <a:t>destructuring</a:t>
            </a:r>
            <a:r>
              <a:rPr lang="en-US" sz="1600" dirty="0">
                <a:solidFill>
                  <a:srgbClr val="000000"/>
                </a:solidFill>
                <a:ea typeface="+mn-lt"/>
                <a:cs typeface="+mn-lt"/>
              </a:rPr>
              <a:t> the returned values from </a:t>
            </a:r>
            <a:r>
              <a:rPr lang="en-US" sz="1600" err="1">
                <a:solidFill>
                  <a:srgbClr val="DC143C"/>
                </a:solidFill>
                <a:ea typeface="+mn-lt"/>
                <a:cs typeface="+mn-lt"/>
              </a:rPr>
              <a:t>useState</a:t>
            </a:r>
            <a:r>
              <a:rPr lang="en-US" sz="1600" dirty="0">
                <a:solidFill>
                  <a:srgbClr val="000000"/>
                </a:solidFill>
                <a:ea typeface="+mn-lt"/>
                <a:cs typeface="+mn-lt"/>
              </a:rPr>
              <a:t>.</a:t>
            </a:r>
            <a:endParaRPr lang="en-US" sz="1600" dirty="0">
              <a:ea typeface="Calibri"/>
              <a:cs typeface="Calibri"/>
            </a:endParaRPr>
          </a:p>
          <a:p>
            <a:pPr lvl="1"/>
            <a:r>
              <a:rPr lang="en-US" sz="1600" dirty="0">
                <a:solidFill>
                  <a:srgbClr val="000000"/>
                </a:solidFill>
                <a:ea typeface="+mn-lt"/>
                <a:cs typeface="+mn-lt"/>
              </a:rPr>
              <a:t>The first value, </a:t>
            </a:r>
            <a:r>
              <a:rPr lang="en-US" sz="1600" dirty="0">
                <a:solidFill>
                  <a:srgbClr val="DC143C"/>
                </a:solidFill>
                <a:ea typeface="+mn-lt"/>
                <a:cs typeface="+mn-lt"/>
              </a:rPr>
              <a:t>color</a:t>
            </a:r>
            <a:r>
              <a:rPr lang="en-US" sz="1600" dirty="0">
                <a:solidFill>
                  <a:srgbClr val="000000"/>
                </a:solidFill>
                <a:ea typeface="+mn-lt"/>
                <a:cs typeface="+mn-lt"/>
              </a:rPr>
              <a:t>, is our current state.</a:t>
            </a:r>
            <a:endParaRPr lang="en-US" sz="1600" dirty="0">
              <a:ea typeface="Calibri"/>
              <a:cs typeface="Calibri"/>
            </a:endParaRPr>
          </a:p>
          <a:p>
            <a:pPr lvl="1"/>
            <a:r>
              <a:rPr lang="en-US" sz="1600" dirty="0">
                <a:solidFill>
                  <a:srgbClr val="000000"/>
                </a:solidFill>
                <a:ea typeface="+mn-lt"/>
                <a:cs typeface="+mn-lt"/>
              </a:rPr>
              <a:t>The second value, </a:t>
            </a:r>
            <a:r>
              <a:rPr lang="en-US" sz="1600" err="1">
                <a:solidFill>
                  <a:srgbClr val="DC143C"/>
                </a:solidFill>
                <a:ea typeface="+mn-lt"/>
                <a:cs typeface="+mn-lt"/>
              </a:rPr>
              <a:t>setColor</a:t>
            </a:r>
            <a:r>
              <a:rPr lang="en-US" sz="1600" dirty="0">
                <a:solidFill>
                  <a:srgbClr val="000000"/>
                </a:solidFill>
                <a:ea typeface="+mn-lt"/>
                <a:cs typeface="+mn-lt"/>
              </a:rPr>
              <a:t>, is the function that is used to update our state.</a:t>
            </a:r>
            <a:endParaRPr lang="en-US" sz="1600" dirty="0">
              <a:ea typeface="Calibri" panose="020F0502020204030204"/>
              <a:cs typeface="Calibri" panose="020F0502020204030204"/>
            </a:endParaRPr>
          </a:p>
          <a:p>
            <a:endParaRPr lang="en-US" sz="1100" dirty="0">
              <a:solidFill>
                <a:srgbClr val="999999"/>
              </a:solidFill>
              <a:cs typeface="Calibri"/>
            </a:endParaRPr>
          </a:p>
          <a:p>
            <a:endParaRPr lang="en-US" sz="1600" b="1" u="sng" dirty="0">
              <a:cs typeface="Calibri"/>
            </a:endParaRPr>
          </a:p>
          <a:p>
            <a:pPr lvl="1">
              <a:lnSpc>
                <a:spcPct val="90000"/>
              </a:lnSpc>
              <a:spcBef>
                <a:spcPts val="500"/>
              </a:spcBef>
            </a:pPr>
            <a:endParaRPr lang="en-US" sz="1600" dirty="0">
              <a:solidFill>
                <a:srgbClr val="000000"/>
              </a:solidFill>
              <a:ea typeface="+mn-lt"/>
              <a:cs typeface="+mn-lt"/>
            </a:endParaRPr>
          </a:p>
          <a:p>
            <a:pPr lvl="2">
              <a:lnSpc>
                <a:spcPct val="90000"/>
              </a:lnSpc>
              <a:spcBef>
                <a:spcPts val="500"/>
              </a:spcBef>
            </a:pPr>
            <a:endParaRPr lang="en-US" sz="1600" dirty="0">
              <a:solidFill>
                <a:srgbClr val="DC143C"/>
              </a:solidFill>
              <a:latin typeface="Calibri"/>
              <a:cs typeface="Calibri" panose="020F0502020204030204"/>
            </a:endParaRPr>
          </a:p>
          <a:p>
            <a:pPr lvl="1"/>
            <a:endParaRPr lang="en-US" sz="1600" dirty="0">
              <a:solidFill>
                <a:srgbClr val="000000"/>
              </a:solidFill>
              <a:latin typeface="Calibri"/>
              <a:cs typeface="Arial"/>
            </a:endParaRPr>
          </a:p>
        </p:txBody>
      </p:sp>
    </p:spTree>
    <p:extLst>
      <p:ext uri="{BB962C8B-B14F-4D97-AF65-F5344CB8AC3E}">
        <p14:creationId xmlns:p14="http://schemas.microsoft.com/office/powerpoint/2010/main" val="3308734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37250" y="174421"/>
            <a:ext cx="11769519" cy="79734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Read</a:t>
            </a:r>
            <a:r>
              <a:rPr lang="en-US" sz="1600" dirty="0">
                <a:solidFill>
                  <a:srgbClr val="000000"/>
                </a:solidFill>
              </a:rPr>
              <a:t> </a:t>
            </a:r>
            <a:r>
              <a:rPr lang="en-US" sz="1600" dirty="0"/>
              <a:t>State</a:t>
            </a:r>
            <a:endParaRPr lang="en-US" sz="1600" dirty="0">
              <a:ea typeface="Calibri"/>
              <a:cs typeface="Calibri"/>
            </a:endParaRPr>
          </a:p>
          <a:p>
            <a:pPr lvl="1"/>
            <a:r>
              <a:rPr lang="en-US" sz="1600" dirty="0">
                <a:ea typeface="+mn-lt"/>
                <a:cs typeface="+mn-lt"/>
              </a:rPr>
              <a:t>We can now include our state anywhere in our component.</a:t>
            </a:r>
          </a:p>
          <a:p>
            <a:pPr lvl="1"/>
            <a:r>
              <a:rPr lang="en-US" sz="1600" b="1" dirty="0">
                <a:ea typeface="Calibri" panose="020F0502020204030204"/>
                <a:cs typeface="Calibri" panose="020F0502020204030204"/>
              </a:rPr>
              <a:t>Example:</a:t>
            </a:r>
          </a:p>
          <a:p>
            <a:pPr lvl="1"/>
            <a:r>
              <a:rPr lang="en-US" sz="1600" dirty="0">
                <a:solidFill>
                  <a:srgbClr val="0077AA"/>
                </a:solidFill>
                <a:ea typeface="+mn-lt"/>
                <a:cs typeface="+mn-lt"/>
              </a:rPr>
              <a:t>import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useState</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endParaRPr lang="en-US" sz="1600" dirty="0">
              <a:ea typeface="Calibri"/>
              <a:cs typeface="Calibri"/>
            </a:endParaRPr>
          </a:p>
          <a:p>
            <a:pPr lvl="1"/>
            <a:r>
              <a:rPr lang="en-US" sz="1600" dirty="0">
                <a:solidFill>
                  <a:srgbClr val="0077AA"/>
                </a:solidFill>
                <a:ea typeface="+mn-lt"/>
                <a:cs typeface="+mn-lt"/>
              </a:rPr>
              <a:t>function</a:t>
            </a:r>
            <a:r>
              <a:rPr lang="en-US" sz="1600" dirty="0">
                <a:solidFill>
                  <a:srgbClr val="000000"/>
                </a:solidFill>
                <a:ea typeface="+mn-lt"/>
                <a:cs typeface="+mn-lt"/>
              </a:rPr>
              <a:t> </a:t>
            </a:r>
            <a:r>
              <a:rPr lang="en-US" sz="1600" dirty="0" err="1">
                <a:solidFill>
                  <a:srgbClr val="DD4A68"/>
                </a:solidFill>
                <a:ea typeface="+mn-lt"/>
                <a:cs typeface="+mn-lt"/>
              </a:rPr>
              <a:t>FavoriteColor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"red"</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return</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My favorite color is </a:t>
            </a:r>
            <a:r>
              <a:rPr lang="en-US" sz="1600" dirty="0">
                <a:solidFill>
                  <a:srgbClr val="999999"/>
                </a:solidFill>
                <a:ea typeface="+mn-lt"/>
                <a:cs typeface="+mn-lt"/>
              </a:rPr>
              <a:t>{</a:t>
            </a:r>
            <a:r>
              <a:rPr lang="en-US" sz="1600" dirty="0">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a:t>
            </a:r>
            <a:endParaRPr lang="en-US" sz="1600" dirty="0"/>
          </a:p>
          <a:p>
            <a:pPr lvl="1"/>
            <a:endParaRPr lang="en-US" sz="1600" dirty="0">
              <a:solidFill>
                <a:srgbClr val="999999"/>
              </a:solidFill>
            </a:endParaRPr>
          </a:p>
          <a:p>
            <a:r>
              <a:rPr lang="en-US" sz="1600" dirty="0">
                <a:solidFill>
                  <a:srgbClr val="000000"/>
                </a:solidFill>
              </a:rPr>
              <a:t>Update State</a:t>
            </a:r>
            <a:endParaRPr lang="en-US" sz="1600" dirty="0">
              <a:ea typeface="Calibri"/>
              <a:cs typeface="Calibri"/>
            </a:endParaRPr>
          </a:p>
          <a:p>
            <a:pPr lvl="1"/>
            <a:r>
              <a:rPr lang="en-US" sz="1600" dirty="0">
                <a:solidFill>
                  <a:srgbClr val="000000"/>
                </a:solidFill>
                <a:ea typeface="+mn-lt"/>
                <a:cs typeface="+mn-lt"/>
              </a:rPr>
              <a:t>To update our state, we use our state updater function.</a:t>
            </a:r>
            <a:endParaRPr lang="en-US" sz="1600" dirty="0">
              <a:ea typeface="+mn-lt"/>
              <a:cs typeface="+mn-lt"/>
            </a:endParaRPr>
          </a:p>
          <a:p>
            <a:pPr lvl="1"/>
            <a:r>
              <a:rPr lang="en-US" sz="1600" dirty="0">
                <a:solidFill>
                  <a:srgbClr val="0077AA"/>
                </a:solidFill>
                <a:ea typeface="+mn-lt"/>
                <a:cs typeface="+mn-lt"/>
              </a:rPr>
              <a:t>import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useState</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import</a:t>
            </a:r>
            <a:r>
              <a:rPr lang="en-US" sz="1600" dirty="0">
                <a:solidFill>
                  <a:srgbClr val="000000"/>
                </a:solidFill>
                <a:ea typeface="+mn-lt"/>
                <a:cs typeface="+mn-lt"/>
              </a:rPr>
              <a:t> </a:t>
            </a:r>
            <a:r>
              <a:rPr lang="en-US" sz="1600" dirty="0" err="1">
                <a:solidFill>
                  <a:srgbClr val="000000"/>
                </a:solidFill>
                <a:ea typeface="+mn-lt"/>
                <a:cs typeface="+mn-lt"/>
              </a:rPr>
              <a:t>ReactDOM</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err="1">
                <a:solidFill>
                  <a:srgbClr val="669900"/>
                </a:solidFill>
                <a:ea typeface="+mn-lt"/>
                <a:cs typeface="+mn-lt"/>
              </a:rPr>
              <a:t>dom</a:t>
            </a:r>
            <a:r>
              <a:rPr lang="en-US" sz="1600" dirty="0">
                <a:solidFill>
                  <a:srgbClr val="669900"/>
                </a:solidFill>
                <a:ea typeface="+mn-lt"/>
                <a:cs typeface="+mn-lt"/>
              </a:rPr>
              <a:t>/client"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function</a:t>
            </a:r>
            <a:r>
              <a:rPr lang="en-US" sz="1600" dirty="0">
                <a:solidFill>
                  <a:srgbClr val="000000"/>
                </a:solidFill>
                <a:ea typeface="+mn-lt"/>
                <a:cs typeface="+mn-lt"/>
              </a:rPr>
              <a:t> </a:t>
            </a:r>
            <a:r>
              <a:rPr lang="en-US" sz="1600" dirty="0" err="1">
                <a:solidFill>
                  <a:srgbClr val="DD4A68"/>
                </a:solidFill>
                <a:ea typeface="+mn-lt"/>
                <a:cs typeface="+mn-lt"/>
              </a:rPr>
              <a:t>FavoriteColor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"red"</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return</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&lt;&gt;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My favorite color is </a:t>
            </a:r>
            <a:r>
              <a:rPr lang="en-US" sz="1600" dirty="0">
                <a:solidFill>
                  <a:srgbClr val="999999"/>
                </a:solidFill>
                <a:ea typeface="+mn-lt"/>
                <a:cs typeface="+mn-lt"/>
              </a:rPr>
              <a:t>{</a:t>
            </a:r>
            <a:r>
              <a:rPr lang="en-US" sz="1600" dirty="0">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button
        </a:t>
            </a:r>
            <a:r>
              <a:rPr lang="en-US" sz="1600" dirty="0">
                <a:solidFill>
                  <a:srgbClr val="669900"/>
                </a:solidFill>
                <a:ea typeface="+mn-lt"/>
                <a:cs typeface="+mn-lt"/>
              </a:rPr>
              <a:t>type</a:t>
            </a:r>
            <a:r>
              <a:rPr lang="en-US" sz="1600" dirty="0">
                <a:solidFill>
                  <a:srgbClr val="999999"/>
                </a:solidFill>
                <a:ea typeface="+mn-lt"/>
                <a:cs typeface="+mn-lt"/>
              </a:rPr>
              <a:t>="</a:t>
            </a:r>
            <a:r>
              <a:rPr lang="en-US" sz="1600" dirty="0">
                <a:solidFill>
                  <a:srgbClr val="0077AA"/>
                </a:solidFill>
                <a:ea typeface="+mn-lt"/>
                <a:cs typeface="+mn-lt"/>
              </a:rPr>
              <a:t>button</a:t>
            </a:r>
            <a:r>
              <a:rPr lang="en-US" sz="1600" dirty="0">
                <a:solidFill>
                  <a:srgbClr val="999999"/>
                </a:solidFill>
                <a:ea typeface="+mn-lt"/>
                <a:cs typeface="+mn-lt"/>
              </a:rPr>
              <a:t>"</a:t>
            </a:r>
            <a:r>
              <a:rPr lang="en-US" sz="1600" dirty="0">
                <a:solidFill>
                  <a:srgbClr val="990055"/>
                </a:solidFill>
                <a:ea typeface="+mn-lt"/>
                <a:cs typeface="+mn-lt"/>
              </a:rPr>
              <a:t>
        </a:t>
            </a:r>
            <a:r>
              <a:rPr lang="en-US" sz="1600" dirty="0" err="1">
                <a:solidFill>
                  <a:srgbClr val="669900"/>
                </a:solidFill>
                <a:ea typeface="+mn-lt"/>
                <a:cs typeface="+mn-lt"/>
              </a:rPr>
              <a:t>onClick</a:t>
            </a:r>
            <a:r>
              <a:rPr lang="en-US" sz="1600" dirty="0">
                <a:solidFill>
                  <a:srgbClr val="999999"/>
                </a:solidFill>
                <a:ea typeface="+mn-lt"/>
                <a:cs typeface="+mn-lt"/>
              </a:rPr>
              <a:t>={()</a:t>
            </a:r>
            <a:r>
              <a:rPr lang="en-US" sz="1600" dirty="0">
                <a:solidFill>
                  <a:srgbClr val="990055"/>
                </a:solidFill>
                <a:ea typeface="+mn-lt"/>
                <a:cs typeface="+mn-lt"/>
              </a:rPr>
              <a:t> </a:t>
            </a:r>
            <a:r>
              <a:rPr lang="en-US" sz="1600" dirty="0">
                <a:solidFill>
                  <a:srgbClr val="9A6E3A"/>
                </a:solidFill>
                <a:ea typeface="+mn-lt"/>
                <a:cs typeface="+mn-lt"/>
              </a:rPr>
              <a:t>=&gt;</a:t>
            </a:r>
            <a:r>
              <a:rPr lang="en-US" sz="1600" dirty="0">
                <a:solidFill>
                  <a:srgbClr val="990055"/>
                </a:solidFill>
                <a:ea typeface="+mn-lt"/>
                <a:cs typeface="+mn-lt"/>
              </a:rPr>
              <a:t> </a:t>
            </a:r>
            <a:r>
              <a:rPr lang="en-US" sz="1600" dirty="0" err="1">
                <a:solidFill>
                  <a:srgbClr val="DD4A68"/>
                </a:solidFill>
                <a:ea typeface="+mn-lt"/>
                <a:cs typeface="+mn-lt"/>
              </a:rPr>
              <a:t>setColor</a:t>
            </a:r>
            <a:r>
              <a:rPr lang="en-US" sz="1600" dirty="0">
                <a:solidFill>
                  <a:srgbClr val="999999"/>
                </a:solidFill>
                <a:ea typeface="+mn-lt"/>
                <a:cs typeface="+mn-lt"/>
              </a:rPr>
              <a:t>(</a:t>
            </a:r>
            <a:r>
              <a:rPr lang="en-US" sz="1600" dirty="0">
                <a:solidFill>
                  <a:srgbClr val="669900"/>
                </a:solidFill>
                <a:ea typeface="+mn-lt"/>
                <a:cs typeface="+mn-lt"/>
              </a:rPr>
              <a:t>"blue"</a:t>
            </a:r>
            <a:r>
              <a:rPr lang="en-US" sz="1600" dirty="0">
                <a:solidFill>
                  <a:srgbClr val="999999"/>
                </a:solidFill>
                <a:ea typeface="+mn-lt"/>
                <a:cs typeface="+mn-lt"/>
              </a:rPr>
              <a:t>)}</a:t>
            </a:r>
            <a:r>
              <a:rPr lang="en-US" sz="1600" dirty="0">
                <a:solidFill>
                  <a:srgbClr val="990055"/>
                </a:solidFill>
                <a:ea typeface="+mn-lt"/>
                <a:cs typeface="+mn-lt"/>
              </a:rPr>
              <a:t>
      </a:t>
            </a:r>
            <a:r>
              <a:rPr lang="en-US" sz="1600" dirty="0">
                <a:solidFill>
                  <a:srgbClr val="999999"/>
                </a:solidFill>
                <a:ea typeface="+mn-lt"/>
                <a:cs typeface="+mn-lt"/>
              </a:rPr>
              <a:t>&gt;</a:t>
            </a:r>
            <a:r>
              <a:rPr lang="en-US" sz="1600" dirty="0">
                <a:solidFill>
                  <a:srgbClr val="000000"/>
                </a:solidFill>
                <a:ea typeface="+mn-lt"/>
                <a:cs typeface="+mn-lt"/>
              </a:rPr>
              <a:t>Blue</a:t>
            </a:r>
            <a:r>
              <a:rPr lang="en-US" sz="1600" dirty="0">
                <a:solidFill>
                  <a:srgbClr val="999999"/>
                </a:solidFill>
                <a:ea typeface="+mn-lt"/>
                <a:cs typeface="+mn-lt"/>
              </a:rPr>
              <a:t>&lt;/</a:t>
            </a:r>
            <a:r>
              <a:rPr lang="en-US" sz="1600" dirty="0">
                <a:solidFill>
                  <a:srgbClr val="990055"/>
                </a:solidFill>
                <a:ea typeface="+mn-lt"/>
                <a:cs typeface="+mn-lt"/>
              </a:rPr>
              <a:t>button</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&lt;/&gt;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endParaRPr lang="en-US" sz="1600" dirty="0">
              <a:ea typeface="+mn-lt"/>
              <a:cs typeface="+mn-lt"/>
            </a:endParaRPr>
          </a:p>
          <a:p>
            <a:endParaRPr lang="en-US" sz="1600" dirty="0">
              <a:solidFill>
                <a:srgbClr val="000000"/>
              </a:solidFill>
              <a:ea typeface="Calibri" panose="020F0502020204030204"/>
              <a:cs typeface="Calibri"/>
            </a:endParaRPr>
          </a:p>
          <a:p>
            <a:endParaRPr lang="en-US" sz="1600" dirty="0">
              <a:solidFill>
                <a:srgbClr val="999999"/>
              </a:solidFill>
              <a:ea typeface="+mn-lt"/>
              <a:cs typeface="+mn-lt"/>
            </a:endParaRPr>
          </a:p>
          <a:p>
            <a:endParaRPr lang="en-US" sz="1100" dirty="0">
              <a:solidFill>
                <a:srgbClr val="999999"/>
              </a:solidFill>
              <a:latin typeface="Calibri"/>
              <a:ea typeface="Calibri" panose="020F0502020204030204"/>
              <a:cs typeface="Calibri" panose="020F0502020204030204"/>
            </a:endParaRPr>
          </a:p>
          <a:p>
            <a:endParaRPr lang="en-US" sz="1600" b="1" u="sng" dirty="0">
              <a:solidFill>
                <a:srgbClr val="000000"/>
              </a:solidFill>
              <a:latin typeface="Calibri"/>
              <a:ea typeface="Calibri" panose="020F0502020204030204"/>
              <a:cs typeface="Calibri" panose="020F0502020204030204"/>
            </a:endParaRPr>
          </a:p>
          <a:p>
            <a:pPr lvl="1">
              <a:lnSpc>
                <a:spcPct val="90000"/>
              </a:lnSpc>
              <a:spcBef>
                <a:spcPts val="500"/>
              </a:spcBef>
            </a:pPr>
            <a:endParaRPr lang="en-US" sz="1600" dirty="0">
              <a:solidFill>
                <a:srgbClr val="000000"/>
              </a:solidFill>
              <a:latin typeface="Calibri"/>
              <a:ea typeface="Calibri"/>
              <a:cs typeface="Calibri" panose="020F0502020204030204"/>
            </a:endParaRPr>
          </a:p>
          <a:p>
            <a:pPr lvl="2">
              <a:lnSpc>
                <a:spcPct val="90000"/>
              </a:lnSpc>
              <a:spcBef>
                <a:spcPts val="500"/>
              </a:spcBef>
            </a:pPr>
            <a:endParaRPr lang="en-US" sz="1600" dirty="0">
              <a:solidFill>
                <a:srgbClr val="DC143C"/>
              </a:solidFill>
              <a:latin typeface="Calibri"/>
              <a:ea typeface="Calibri"/>
              <a:cs typeface="Calibri" panose="020F0502020204030204"/>
            </a:endParaRPr>
          </a:p>
          <a:p>
            <a:pPr lvl="1"/>
            <a:endParaRPr lang="en-US" sz="1600" dirty="0">
              <a:solidFill>
                <a:srgbClr val="000000"/>
              </a:solidFill>
              <a:latin typeface="Calibri"/>
              <a:ea typeface="Calibri"/>
              <a:cs typeface="Arial"/>
            </a:endParaRPr>
          </a:p>
        </p:txBody>
      </p:sp>
    </p:spTree>
    <p:extLst>
      <p:ext uri="{BB962C8B-B14F-4D97-AF65-F5344CB8AC3E}">
        <p14:creationId xmlns:p14="http://schemas.microsoft.com/office/powerpoint/2010/main" val="1411895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37250" y="174421"/>
            <a:ext cx="11769519" cy="77272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What</a:t>
            </a:r>
            <a:r>
              <a:rPr lang="en-US" sz="1600" b="1" dirty="0">
                <a:solidFill>
                  <a:srgbClr val="000000"/>
                </a:solidFill>
              </a:rPr>
              <a:t> Can </a:t>
            </a:r>
            <a:r>
              <a:rPr lang="en-US" sz="1600" b="1" dirty="0"/>
              <a:t>State</a:t>
            </a:r>
            <a:r>
              <a:rPr lang="en-US" sz="1600" b="1" dirty="0">
                <a:solidFill>
                  <a:srgbClr val="000000"/>
                </a:solidFill>
              </a:rPr>
              <a:t> Hold:</a:t>
            </a:r>
            <a:endParaRPr lang="en-US" sz="1600" b="1" dirty="0">
              <a:ea typeface="Calibri"/>
              <a:cs typeface="Calibri"/>
            </a:endParaRPr>
          </a:p>
          <a:p>
            <a:pPr lvl="1"/>
            <a:r>
              <a:rPr lang="en-US" sz="1600" dirty="0">
                <a:solidFill>
                  <a:srgbClr val="000000"/>
                </a:solidFill>
                <a:ea typeface="+mn-lt"/>
                <a:cs typeface="+mn-lt"/>
              </a:rPr>
              <a:t>The </a:t>
            </a:r>
            <a:r>
              <a:rPr lang="en-US" sz="1600" err="1">
                <a:solidFill>
                  <a:srgbClr val="DC143C"/>
                </a:solidFill>
                <a:ea typeface="+mn-lt"/>
                <a:cs typeface="+mn-lt"/>
              </a:rPr>
              <a:t>useState</a:t>
            </a:r>
            <a:r>
              <a:rPr lang="en-US" sz="1600" dirty="0">
                <a:solidFill>
                  <a:srgbClr val="000000"/>
                </a:solidFill>
                <a:ea typeface="+mn-lt"/>
                <a:cs typeface="+mn-lt"/>
              </a:rPr>
              <a:t> Hook </a:t>
            </a:r>
            <a:r>
              <a:rPr lang="en-US" sz="1600" dirty="0">
                <a:ea typeface="+mn-lt"/>
                <a:cs typeface="+mn-lt"/>
              </a:rPr>
              <a:t>can </a:t>
            </a:r>
            <a:r>
              <a:rPr lang="en-US" sz="1600" dirty="0">
                <a:solidFill>
                  <a:srgbClr val="000000"/>
                </a:solidFill>
                <a:ea typeface="+mn-lt"/>
                <a:cs typeface="+mn-lt"/>
              </a:rPr>
              <a:t>be used to keep track of strings, numbers, </a:t>
            </a:r>
            <a:r>
              <a:rPr lang="en-US" sz="1600" err="1">
                <a:solidFill>
                  <a:srgbClr val="000000"/>
                </a:solidFill>
                <a:ea typeface="+mn-lt"/>
                <a:cs typeface="+mn-lt"/>
              </a:rPr>
              <a:t>booleans</a:t>
            </a:r>
            <a:r>
              <a:rPr lang="en-US" sz="1600" dirty="0">
                <a:solidFill>
                  <a:srgbClr val="000000"/>
                </a:solidFill>
                <a:ea typeface="+mn-lt"/>
                <a:cs typeface="+mn-lt"/>
              </a:rPr>
              <a:t>, arrays, objects, and any combination of these!</a:t>
            </a:r>
            <a:endParaRPr lang="en-US" sz="1600" dirty="0">
              <a:ea typeface="Calibri"/>
              <a:cs typeface="Calibri"/>
            </a:endParaRPr>
          </a:p>
          <a:p>
            <a:pPr lvl="1"/>
            <a:endParaRPr lang="en-US" sz="1600" dirty="0">
              <a:solidFill>
                <a:srgbClr val="000000"/>
              </a:solidFill>
              <a:ea typeface="+mn-lt"/>
              <a:cs typeface="+mn-lt"/>
            </a:endParaRPr>
          </a:p>
          <a:p>
            <a:pPr lvl="1"/>
            <a:r>
              <a:rPr lang="en-US" sz="1600" b="1" dirty="0">
                <a:solidFill>
                  <a:srgbClr val="000000"/>
                </a:solidFill>
                <a:ea typeface="+mn-lt"/>
                <a:cs typeface="+mn-lt"/>
              </a:rPr>
              <a:t>We could create multiple state Hooks to track individual values.</a:t>
            </a:r>
            <a:endParaRPr lang="en-US" sz="1600" b="1" dirty="0">
              <a:ea typeface="+mn-lt"/>
              <a:cs typeface="+mn-lt"/>
            </a:endParaRPr>
          </a:p>
          <a:p>
            <a:pPr lvl="1"/>
            <a:r>
              <a:rPr lang="en-US" sz="1600" b="1" dirty="0">
                <a:ea typeface="+mn-lt"/>
                <a:cs typeface="+mn-lt"/>
              </a:rPr>
              <a:t>Example: </a:t>
            </a:r>
            <a:endParaRPr lang="en-US" sz="1600" dirty="0">
              <a:solidFill>
                <a:srgbClr val="000000"/>
              </a:solidFill>
              <a:ea typeface="+mn-lt"/>
              <a:cs typeface="+mn-lt"/>
            </a:endParaRPr>
          </a:p>
          <a:p>
            <a:pPr lvl="1"/>
            <a:r>
              <a:rPr lang="en-US" sz="1600" dirty="0">
                <a:solidFill>
                  <a:srgbClr val="0077AA"/>
                </a:solidFill>
                <a:ea typeface="+mn-lt"/>
                <a:cs typeface="+mn-lt"/>
              </a:rPr>
              <a:t>import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useState</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import</a:t>
            </a:r>
            <a:r>
              <a:rPr lang="en-US" sz="1600" dirty="0">
                <a:solidFill>
                  <a:srgbClr val="000000"/>
                </a:solidFill>
                <a:ea typeface="+mn-lt"/>
                <a:cs typeface="+mn-lt"/>
              </a:rPr>
              <a:t> </a:t>
            </a:r>
            <a:r>
              <a:rPr lang="en-US" sz="1600" dirty="0" err="1">
                <a:solidFill>
                  <a:srgbClr val="000000"/>
                </a:solidFill>
                <a:ea typeface="+mn-lt"/>
                <a:cs typeface="+mn-lt"/>
              </a:rPr>
              <a:t>ReactDOM</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err="1">
                <a:solidFill>
                  <a:srgbClr val="669900"/>
                </a:solidFill>
                <a:ea typeface="+mn-lt"/>
                <a:cs typeface="+mn-lt"/>
              </a:rPr>
              <a:t>dom</a:t>
            </a:r>
            <a:r>
              <a:rPr lang="en-US" sz="1600" dirty="0">
                <a:solidFill>
                  <a:srgbClr val="669900"/>
                </a:solidFill>
                <a:ea typeface="+mn-lt"/>
                <a:cs typeface="+mn-lt"/>
              </a:rPr>
              <a:t>/client"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function</a:t>
            </a:r>
            <a:r>
              <a:rPr lang="en-US" sz="1600" dirty="0">
                <a:solidFill>
                  <a:srgbClr val="000000"/>
                </a:solidFill>
                <a:ea typeface="+mn-lt"/>
                <a:cs typeface="+mn-lt"/>
              </a:rPr>
              <a:t> </a:t>
            </a:r>
            <a:r>
              <a:rPr lang="en-US" sz="1600" dirty="0">
                <a:solidFill>
                  <a:srgbClr val="DD4A68"/>
                </a:solidFill>
                <a:ea typeface="+mn-lt"/>
                <a:cs typeface="+mn-lt"/>
              </a:rPr>
              <a: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brand</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setBrand</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"Ford"</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model</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setModel</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"Mustang"</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year</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setYear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"1964"</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669900"/>
                </a:solidFill>
                <a:ea typeface="+mn-lt"/>
                <a:cs typeface="+mn-lt"/>
              </a:rPr>
              <a:t>"red"</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return</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&lt;&gt;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My </a:t>
            </a:r>
            <a:r>
              <a:rPr lang="en-US" sz="1600" dirty="0">
                <a:solidFill>
                  <a:srgbClr val="999999"/>
                </a:solidFill>
                <a:ea typeface="+mn-lt"/>
                <a:cs typeface="+mn-lt"/>
              </a:rPr>
              <a:t>{</a:t>
            </a:r>
            <a:r>
              <a:rPr lang="en-US" sz="1600" dirty="0">
                <a:solidFill>
                  <a:srgbClr val="000000"/>
                </a:solidFill>
                <a:ea typeface="+mn-lt"/>
                <a:cs typeface="+mn-lt"/>
              </a:rPr>
              <a:t>brand</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p</a:t>
            </a:r>
            <a:r>
              <a:rPr lang="en-US" sz="1600" dirty="0">
                <a:solidFill>
                  <a:srgbClr val="999999"/>
                </a:solidFill>
                <a:ea typeface="+mn-lt"/>
                <a:cs typeface="+mn-lt"/>
              </a:rPr>
              <a:t>&gt;</a:t>
            </a:r>
            <a:r>
              <a:rPr lang="en-US" sz="1600" dirty="0">
                <a:solidFill>
                  <a:srgbClr val="000000"/>
                </a:solidFill>
                <a:ea typeface="+mn-lt"/>
                <a:cs typeface="+mn-lt"/>
              </a:rPr>
              <a:t>
        It is a </a:t>
            </a:r>
            <a:r>
              <a:rPr lang="en-US" sz="1600" dirty="0">
                <a:solidFill>
                  <a:srgbClr val="999999"/>
                </a:solidFill>
                <a:ea typeface="+mn-lt"/>
                <a:cs typeface="+mn-lt"/>
              </a:rPr>
              <a:t>{</a:t>
            </a:r>
            <a:r>
              <a:rPr lang="en-US" sz="1600" dirty="0">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model</a:t>
            </a:r>
            <a:r>
              <a:rPr lang="en-US" sz="1600" dirty="0">
                <a:solidFill>
                  <a:srgbClr val="999999"/>
                </a:solidFill>
                <a:ea typeface="+mn-lt"/>
                <a:cs typeface="+mn-lt"/>
              </a:rPr>
              <a:t>}</a:t>
            </a:r>
            <a:r>
              <a:rPr lang="en-US" sz="1600" dirty="0">
                <a:solidFill>
                  <a:srgbClr val="000000"/>
                </a:solidFill>
                <a:ea typeface="+mn-lt"/>
                <a:cs typeface="+mn-lt"/>
              </a:rPr>
              <a:t> from </a:t>
            </a:r>
            <a:r>
              <a:rPr lang="en-US" sz="1600" dirty="0">
                <a:solidFill>
                  <a:srgbClr val="999999"/>
                </a:solidFill>
                <a:ea typeface="+mn-lt"/>
                <a:cs typeface="+mn-lt"/>
              </a:rPr>
              <a:t>{</a:t>
            </a:r>
            <a:r>
              <a:rPr lang="en-US" sz="1600" dirty="0">
                <a:solidFill>
                  <a:srgbClr val="000000"/>
                </a:solidFill>
                <a:ea typeface="+mn-lt"/>
                <a:cs typeface="+mn-lt"/>
              </a:rPr>
              <a:t>year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p</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&lt;/&gt;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endParaRPr lang="en-US" sz="1600">
              <a:ea typeface="Calibri"/>
              <a:cs typeface="Calibri"/>
            </a:endParaRPr>
          </a:p>
          <a:p>
            <a:endParaRPr lang="en-US" sz="1600" dirty="0">
              <a:solidFill>
                <a:srgbClr val="000000"/>
              </a:solidFill>
              <a:ea typeface="+mn-lt"/>
              <a:cs typeface="+mn-lt"/>
            </a:endParaRPr>
          </a:p>
          <a:p>
            <a:endParaRPr lang="en-US" sz="1600" dirty="0">
              <a:solidFill>
                <a:srgbClr val="000000"/>
              </a:solidFill>
              <a:latin typeface="Calibri"/>
              <a:ea typeface="Calibri" panose="020F0502020204030204"/>
              <a:cs typeface="Calibri" panose="020F0502020204030204"/>
            </a:endParaRPr>
          </a:p>
          <a:p>
            <a:endParaRPr lang="en-US" sz="1600" dirty="0">
              <a:solidFill>
                <a:srgbClr val="999999"/>
              </a:solidFill>
              <a:latin typeface="Calibri"/>
              <a:ea typeface="Calibri" panose="020F0502020204030204"/>
              <a:cs typeface="Calibri" panose="020F0502020204030204"/>
            </a:endParaRPr>
          </a:p>
          <a:p>
            <a:endParaRPr lang="en-US" sz="1100" dirty="0">
              <a:solidFill>
                <a:srgbClr val="999999"/>
              </a:solidFill>
              <a:latin typeface="Calibri"/>
              <a:ea typeface="Calibri" panose="020F0502020204030204"/>
              <a:cs typeface="Calibri" panose="020F0502020204030204"/>
            </a:endParaRPr>
          </a:p>
          <a:p>
            <a:endParaRPr lang="en-US" sz="1600" b="1" u="sng" dirty="0">
              <a:solidFill>
                <a:srgbClr val="000000"/>
              </a:solidFill>
              <a:latin typeface="Calibri"/>
              <a:ea typeface="Calibri" panose="020F0502020204030204"/>
              <a:cs typeface="Calibri" panose="020F0502020204030204"/>
            </a:endParaRPr>
          </a:p>
          <a:p>
            <a:pPr lvl="1">
              <a:lnSpc>
                <a:spcPct val="90000"/>
              </a:lnSpc>
              <a:spcBef>
                <a:spcPts val="500"/>
              </a:spcBef>
            </a:pPr>
            <a:endParaRPr lang="en-US" sz="1600" dirty="0">
              <a:solidFill>
                <a:srgbClr val="000000"/>
              </a:solidFill>
              <a:latin typeface="Calibri"/>
              <a:ea typeface="Calibri"/>
              <a:cs typeface="Calibri" panose="020F0502020204030204"/>
            </a:endParaRPr>
          </a:p>
          <a:p>
            <a:pPr lvl="2">
              <a:lnSpc>
                <a:spcPct val="90000"/>
              </a:lnSpc>
              <a:spcBef>
                <a:spcPts val="500"/>
              </a:spcBef>
            </a:pPr>
            <a:endParaRPr lang="en-US" sz="1600" dirty="0">
              <a:solidFill>
                <a:srgbClr val="DC143C"/>
              </a:solidFill>
              <a:latin typeface="Calibri"/>
              <a:ea typeface="Calibri"/>
              <a:cs typeface="Calibri" panose="020F0502020204030204"/>
            </a:endParaRPr>
          </a:p>
          <a:p>
            <a:pPr lvl="1"/>
            <a:endParaRPr lang="en-US" sz="1600" dirty="0">
              <a:solidFill>
                <a:srgbClr val="000000"/>
              </a:solidFill>
              <a:latin typeface="Calibri"/>
              <a:ea typeface="Calibri"/>
              <a:cs typeface="Arial"/>
            </a:endParaRPr>
          </a:p>
        </p:txBody>
      </p:sp>
    </p:spTree>
    <p:extLst>
      <p:ext uri="{BB962C8B-B14F-4D97-AF65-F5344CB8AC3E}">
        <p14:creationId xmlns:p14="http://schemas.microsoft.com/office/powerpoint/2010/main" val="2422191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37250" y="174421"/>
            <a:ext cx="11769519" cy="74810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ea typeface="+mn-lt"/>
                <a:cs typeface="+mn-lt"/>
              </a:rPr>
              <a:t>Create a single Hook that holds an object:.</a:t>
            </a:r>
            <a:endParaRPr lang="en-US" sz="1600" b="1" dirty="0">
              <a:ea typeface="+mn-lt"/>
              <a:cs typeface="+mn-lt"/>
            </a:endParaRPr>
          </a:p>
          <a:p>
            <a:pPr lvl="1"/>
            <a:r>
              <a:rPr lang="en-US" sz="1600" b="1" dirty="0">
                <a:ea typeface="+mn-lt"/>
                <a:cs typeface="+mn-lt"/>
              </a:rPr>
              <a:t>Example: </a:t>
            </a:r>
            <a:endParaRPr lang="en-US" sz="1600">
              <a:solidFill>
                <a:srgbClr val="000000"/>
              </a:solidFill>
              <a:ea typeface="+mn-lt"/>
              <a:cs typeface="+mn-lt"/>
            </a:endParaRPr>
          </a:p>
          <a:p>
            <a:pPr lvl="1"/>
            <a:r>
              <a:rPr lang="en-US" sz="1600" dirty="0">
                <a:solidFill>
                  <a:srgbClr val="0077AA"/>
                </a:solidFill>
                <a:ea typeface="+mn-lt"/>
                <a:cs typeface="+mn-lt"/>
              </a:rPr>
              <a:t>import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useState</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import</a:t>
            </a:r>
            <a:r>
              <a:rPr lang="en-US" sz="1600" dirty="0">
                <a:solidFill>
                  <a:srgbClr val="000000"/>
                </a:solidFill>
                <a:ea typeface="+mn-lt"/>
                <a:cs typeface="+mn-lt"/>
              </a:rPr>
              <a:t> </a:t>
            </a:r>
            <a:r>
              <a:rPr lang="en-US" sz="1600" dirty="0" err="1">
                <a:solidFill>
                  <a:srgbClr val="000000"/>
                </a:solidFill>
                <a:ea typeface="+mn-lt"/>
                <a:cs typeface="+mn-lt"/>
              </a:rPr>
              <a:t>ReactDOM</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err="1">
                <a:solidFill>
                  <a:srgbClr val="669900"/>
                </a:solidFill>
                <a:ea typeface="+mn-lt"/>
                <a:cs typeface="+mn-lt"/>
              </a:rPr>
              <a:t>dom</a:t>
            </a:r>
            <a:r>
              <a:rPr lang="en-US" sz="1600" dirty="0">
                <a:solidFill>
                  <a:srgbClr val="669900"/>
                </a:solidFill>
                <a:ea typeface="+mn-lt"/>
                <a:cs typeface="+mn-lt"/>
              </a:rPr>
              <a:t>/client"</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function</a:t>
            </a:r>
            <a:r>
              <a:rPr lang="en-US" sz="1600" dirty="0">
                <a:solidFill>
                  <a:srgbClr val="000000"/>
                </a:solidFill>
                <a:ea typeface="+mn-lt"/>
                <a:cs typeface="+mn-lt"/>
              </a:rPr>
              <a:t> </a:t>
            </a:r>
            <a:r>
              <a:rPr lang="en-US" sz="1600" dirty="0">
                <a:solidFill>
                  <a:srgbClr val="DD4A68"/>
                </a:solidFill>
                <a:ea typeface="+mn-lt"/>
                <a:cs typeface="+mn-lt"/>
              </a:rPr>
              <a: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0055"/>
                </a:solidFill>
                <a:ea typeface="+mn-lt"/>
                <a:cs typeface="+mn-lt"/>
              </a:rPr>
              <a:t>brand</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"Ford"</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0055"/>
                </a:solidFill>
                <a:ea typeface="+mn-lt"/>
                <a:cs typeface="+mn-lt"/>
              </a:rPr>
              <a:t>model</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"Mustang"</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0055"/>
                </a:solidFill>
                <a:ea typeface="+mn-lt"/>
                <a:cs typeface="+mn-lt"/>
              </a:rPr>
              <a:t>year</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"1964"</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0055"/>
                </a:solidFill>
                <a:ea typeface="+mn-lt"/>
                <a:cs typeface="+mn-lt"/>
              </a:rPr>
              <a:t>color</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"red"</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return</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&lt;&gt;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My </a:t>
            </a:r>
            <a:r>
              <a:rPr lang="en-US" sz="1600" dirty="0">
                <a:solidFill>
                  <a:srgbClr val="999999"/>
                </a:solidFill>
                <a:ea typeface="+mn-lt"/>
                <a:cs typeface="+mn-lt"/>
              </a:rPr>
              <a:t>{</a:t>
            </a:r>
            <a:r>
              <a:rPr lang="en-US" sz="1600" dirty="0" err="1">
                <a:solidFill>
                  <a:srgbClr val="000000"/>
                </a:solidFill>
                <a:ea typeface="+mn-lt"/>
                <a:cs typeface="+mn-lt"/>
              </a:rPr>
              <a:t>car</a:t>
            </a:r>
            <a:r>
              <a:rPr lang="en-US" sz="1600" dirty="0" err="1">
                <a:solidFill>
                  <a:srgbClr val="999999"/>
                </a:solidFill>
                <a:ea typeface="+mn-lt"/>
                <a:cs typeface="+mn-lt"/>
              </a:rPr>
              <a:t>.</a:t>
            </a:r>
            <a:r>
              <a:rPr lang="en-US" sz="1600" dirty="0" err="1">
                <a:solidFill>
                  <a:srgbClr val="000000"/>
                </a:solidFill>
                <a:ea typeface="+mn-lt"/>
                <a:cs typeface="+mn-lt"/>
              </a:rPr>
              <a:t>brand</a:t>
            </a:r>
            <a:r>
              <a:rPr lang="en-US" sz="1600" dirty="0">
                <a:solidFill>
                  <a:srgbClr val="999999"/>
                </a:solidFill>
                <a:ea typeface="+mn-lt"/>
                <a:cs typeface="+mn-lt"/>
              </a:rPr>
              <a:t>}&lt;/</a:t>
            </a:r>
            <a:r>
              <a:rPr lang="en-US" sz="1600" dirty="0">
                <a:solidFill>
                  <a:srgbClr val="990055"/>
                </a:solidFill>
                <a:ea typeface="+mn-lt"/>
                <a:cs typeface="+mn-lt"/>
              </a:rPr>
              <a:t>h1</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p</a:t>
            </a:r>
            <a:r>
              <a:rPr lang="en-US" sz="1600" dirty="0">
                <a:solidFill>
                  <a:srgbClr val="999999"/>
                </a:solidFill>
                <a:ea typeface="+mn-lt"/>
                <a:cs typeface="+mn-lt"/>
              </a:rPr>
              <a:t>&gt;</a:t>
            </a:r>
            <a:r>
              <a:rPr lang="en-US" sz="1600" dirty="0">
                <a:solidFill>
                  <a:srgbClr val="000000"/>
                </a:solidFill>
                <a:ea typeface="+mn-lt"/>
                <a:cs typeface="+mn-lt"/>
              </a:rPr>
              <a:t>
        It is a </a:t>
            </a:r>
            <a:r>
              <a:rPr lang="en-US" sz="1600" dirty="0">
                <a:solidFill>
                  <a:srgbClr val="999999"/>
                </a:solidFill>
                <a:ea typeface="+mn-lt"/>
                <a:cs typeface="+mn-lt"/>
              </a:rPr>
              <a:t>{</a:t>
            </a:r>
            <a:r>
              <a:rPr lang="en-US" sz="1600" dirty="0" err="1">
                <a:solidFill>
                  <a:srgbClr val="000000"/>
                </a:solidFill>
                <a:ea typeface="+mn-lt"/>
                <a:cs typeface="+mn-lt"/>
              </a:rPr>
              <a:t>car</a:t>
            </a:r>
            <a:r>
              <a:rPr lang="en-US" sz="1600" dirty="0" err="1">
                <a:solidFill>
                  <a:srgbClr val="999999"/>
                </a:solidFill>
                <a:ea typeface="+mn-lt"/>
                <a:cs typeface="+mn-lt"/>
              </a:rPr>
              <a:t>.</a:t>
            </a:r>
            <a:r>
              <a:rPr lang="en-US" sz="1600" dirty="0" err="1">
                <a:solidFill>
                  <a:srgbClr val="000000"/>
                </a:solidFill>
                <a:ea typeface="+mn-lt"/>
                <a:cs typeface="+mn-lt"/>
              </a:rPr>
              <a:t>color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err="1">
                <a:solidFill>
                  <a:srgbClr val="000000"/>
                </a:solidFill>
                <a:ea typeface="+mn-lt"/>
                <a:cs typeface="+mn-lt"/>
              </a:rPr>
              <a:t>car</a:t>
            </a:r>
            <a:r>
              <a:rPr lang="en-US" sz="1600" dirty="0" err="1">
                <a:solidFill>
                  <a:srgbClr val="999999"/>
                </a:solidFill>
                <a:ea typeface="+mn-lt"/>
                <a:cs typeface="+mn-lt"/>
              </a:rPr>
              <a:t>.</a:t>
            </a:r>
            <a:r>
              <a:rPr lang="en-US" sz="1600" dirty="0" err="1">
                <a:solidFill>
                  <a:srgbClr val="000000"/>
                </a:solidFill>
                <a:ea typeface="+mn-lt"/>
                <a:cs typeface="+mn-lt"/>
              </a:rPr>
              <a:t>model</a:t>
            </a:r>
            <a:r>
              <a:rPr lang="en-US" sz="1600" dirty="0">
                <a:solidFill>
                  <a:srgbClr val="999999"/>
                </a:solidFill>
                <a:ea typeface="+mn-lt"/>
                <a:cs typeface="+mn-lt"/>
              </a:rPr>
              <a:t>}</a:t>
            </a:r>
            <a:r>
              <a:rPr lang="en-US" sz="1600" dirty="0">
                <a:solidFill>
                  <a:srgbClr val="000000"/>
                </a:solidFill>
                <a:ea typeface="+mn-lt"/>
                <a:cs typeface="+mn-lt"/>
              </a:rPr>
              <a:t> from </a:t>
            </a:r>
            <a:r>
              <a:rPr lang="en-US" sz="1600" dirty="0">
                <a:solidFill>
                  <a:srgbClr val="999999"/>
                </a:solidFill>
                <a:ea typeface="+mn-lt"/>
                <a:cs typeface="+mn-lt"/>
              </a:rPr>
              <a:t>{</a:t>
            </a:r>
            <a:r>
              <a:rPr lang="en-US" sz="1600" dirty="0" err="1">
                <a:solidFill>
                  <a:srgbClr val="000000"/>
                </a:solidFill>
                <a:ea typeface="+mn-lt"/>
                <a:cs typeface="+mn-lt"/>
              </a:rPr>
              <a:t>car</a:t>
            </a:r>
            <a:r>
              <a:rPr lang="en-US" sz="1600" dirty="0" err="1">
                <a:solidFill>
                  <a:srgbClr val="999999"/>
                </a:solidFill>
                <a:ea typeface="+mn-lt"/>
                <a:cs typeface="+mn-lt"/>
              </a:rPr>
              <a:t>.</a:t>
            </a:r>
            <a:r>
              <a:rPr lang="en-US" sz="1600" dirty="0" err="1">
                <a:solidFill>
                  <a:srgbClr val="000000"/>
                </a:solidFill>
                <a:ea typeface="+mn-lt"/>
                <a:cs typeface="+mn-lt"/>
              </a:rPr>
              <a:t>year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&lt;/</a:t>
            </a:r>
            <a:r>
              <a:rPr lang="en-US" sz="1600" dirty="0">
                <a:solidFill>
                  <a:srgbClr val="990055"/>
                </a:solidFill>
                <a:ea typeface="+mn-lt"/>
                <a:cs typeface="+mn-lt"/>
              </a:rPr>
              <a:t>p</a:t>
            </a:r>
            <a:r>
              <a:rPr lang="en-US" sz="1600" dirty="0">
                <a:solidFill>
                  <a:srgbClr val="999999"/>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&lt;/&gt;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endParaRPr lang="en-US" sz="1600" dirty="0">
              <a:ea typeface="+mn-lt"/>
              <a:cs typeface="+mn-lt"/>
            </a:endParaRPr>
          </a:p>
          <a:p>
            <a:endParaRPr lang="en-US" sz="1600" dirty="0">
              <a:solidFill>
                <a:srgbClr val="000000"/>
              </a:solidFill>
              <a:ea typeface="+mn-lt"/>
              <a:cs typeface="+mn-lt"/>
            </a:endParaRPr>
          </a:p>
          <a:p>
            <a:endParaRPr lang="en-US" sz="1600" dirty="0">
              <a:solidFill>
                <a:srgbClr val="000000"/>
              </a:solidFill>
              <a:latin typeface="Calibri"/>
              <a:ea typeface="Calibri" panose="020F0502020204030204"/>
              <a:cs typeface="Calibri" panose="020F0502020204030204"/>
            </a:endParaRPr>
          </a:p>
          <a:p>
            <a:endParaRPr lang="en-US" sz="1600" dirty="0">
              <a:solidFill>
                <a:srgbClr val="999999"/>
              </a:solidFill>
              <a:latin typeface="Calibri"/>
              <a:ea typeface="Calibri" panose="020F0502020204030204"/>
              <a:cs typeface="Calibri" panose="020F0502020204030204"/>
            </a:endParaRPr>
          </a:p>
          <a:p>
            <a:endParaRPr lang="en-US" sz="1100" dirty="0">
              <a:solidFill>
                <a:srgbClr val="999999"/>
              </a:solidFill>
              <a:latin typeface="Calibri"/>
              <a:ea typeface="Calibri" panose="020F0502020204030204"/>
              <a:cs typeface="Calibri" panose="020F0502020204030204"/>
            </a:endParaRPr>
          </a:p>
          <a:p>
            <a:endParaRPr lang="en-US" sz="1600" b="1" u="sng" dirty="0">
              <a:solidFill>
                <a:srgbClr val="000000"/>
              </a:solidFill>
              <a:latin typeface="Calibri"/>
              <a:ea typeface="Calibri" panose="020F0502020204030204"/>
              <a:cs typeface="Calibri" panose="020F0502020204030204"/>
            </a:endParaRPr>
          </a:p>
          <a:p>
            <a:pPr lvl="1">
              <a:lnSpc>
                <a:spcPct val="90000"/>
              </a:lnSpc>
              <a:spcBef>
                <a:spcPts val="500"/>
              </a:spcBef>
            </a:pPr>
            <a:endParaRPr lang="en-US" sz="1600" dirty="0">
              <a:solidFill>
                <a:srgbClr val="000000"/>
              </a:solidFill>
              <a:latin typeface="Calibri"/>
              <a:ea typeface="Calibri"/>
              <a:cs typeface="Calibri" panose="020F0502020204030204"/>
            </a:endParaRPr>
          </a:p>
          <a:p>
            <a:pPr lvl="2">
              <a:lnSpc>
                <a:spcPct val="90000"/>
              </a:lnSpc>
              <a:spcBef>
                <a:spcPts val="500"/>
              </a:spcBef>
            </a:pPr>
            <a:endParaRPr lang="en-US" sz="1600" dirty="0">
              <a:solidFill>
                <a:srgbClr val="DC143C"/>
              </a:solidFill>
              <a:latin typeface="Calibri"/>
              <a:ea typeface="Calibri"/>
              <a:cs typeface="Calibri" panose="020F0502020204030204"/>
            </a:endParaRPr>
          </a:p>
          <a:p>
            <a:pPr lvl="1"/>
            <a:endParaRPr lang="en-US" sz="1600" dirty="0">
              <a:solidFill>
                <a:srgbClr val="000000"/>
              </a:solidFill>
              <a:latin typeface="Calibri"/>
              <a:ea typeface="Calibri"/>
              <a:cs typeface="Arial"/>
            </a:endParaRPr>
          </a:p>
        </p:txBody>
      </p:sp>
    </p:spTree>
    <p:extLst>
      <p:ext uri="{BB962C8B-B14F-4D97-AF65-F5344CB8AC3E}">
        <p14:creationId xmlns:p14="http://schemas.microsoft.com/office/powerpoint/2010/main" val="2383003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37250" y="174421"/>
            <a:ext cx="1176951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rPr>
              <a:t>Updating Objects and Arrays in State:</a:t>
            </a:r>
          </a:p>
          <a:p>
            <a:pPr lvl="1"/>
            <a:endParaRPr lang="en-US" sz="1600" b="1" dirty="0">
              <a:ea typeface="Calibri" panose="020F0502020204030204"/>
              <a:cs typeface="Calibri" panose="020F0502020204030204"/>
            </a:endParaRPr>
          </a:p>
          <a:p>
            <a:pPr lvl="1"/>
            <a:r>
              <a:rPr lang="en-US" sz="1600" dirty="0">
                <a:ea typeface="+mn-lt"/>
                <a:cs typeface="+mn-lt"/>
              </a:rPr>
              <a:t>When state is updated, the entire state gets overwritten.</a:t>
            </a:r>
            <a:endParaRPr lang="en-US" sz="1600" dirty="0">
              <a:ea typeface="Calibri"/>
              <a:cs typeface="Calibri"/>
            </a:endParaRPr>
          </a:p>
          <a:p>
            <a:pPr lvl="1"/>
            <a:r>
              <a:rPr lang="en-US" sz="1600" dirty="0">
                <a:ea typeface="+mn-lt"/>
                <a:cs typeface="+mn-lt"/>
              </a:rPr>
              <a:t>What if we only want to update the color of our car?</a:t>
            </a:r>
            <a:endParaRPr lang="en-US" sz="1600" dirty="0">
              <a:ea typeface="Calibri"/>
              <a:cs typeface="Calibri"/>
            </a:endParaRPr>
          </a:p>
          <a:p>
            <a:pPr lvl="1"/>
            <a:r>
              <a:rPr lang="en-US" sz="1600" dirty="0">
                <a:ea typeface="+mn-lt"/>
                <a:cs typeface="+mn-lt"/>
              </a:rPr>
              <a:t>If we only called </a:t>
            </a:r>
            <a:r>
              <a:rPr lang="en-US" sz="1600" err="1">
                <a:solidFill>
                  <a:srgbClr val="DC143C"/>
                </a:solidFill>
                <a:ea typeface="+mn-lt"/>
                <a:cs typeface="+mn-lt"/>
              </a:rPr>
              <a:t>setCar</a:t>
            </a:r>
            <a:r>
              <a:rPr lang="en-US" sz="1600" dirty="0">
                <a:solidFill>
                  <a:srgbClr val="DC143C"/>
                </a:solidFill>
                <a:ea typeface="+mn-lt"/>
                <a:cs typeface="+mn-lt"/>
              </a:rPr>
              <a:t>({color: "blue"})</a:t>
            </a:r>
            <a:r>
              <a:rPr lang="en-US" sz="1600" dirty="0">
                <a:ea typeface="+mn-lt"/>
                <a:cs typeface="+mn-lt"/>
              </a:rPr>
              <a:t>, this would remove the brand, model, and year from our state.</a:t>
            </a:r>
            <a:endParaRPr lang="en-US" sz="1600" dirty="0">
              <a:ea typeface="Calibri"/>
              <a:cs typeface="Calibri"/>
            </a:endParaRPr>
          </a:p>
          <a:p>
            <a:pPr lvl="1"/>
            <a:r>
              <a:rPr lang="en-US" sz="1600" dirty="0">
                <a:ea typeface="+mn-lt"/>
                <a:cs typeface="+mn-lt"/>
              </a:rPr>
              <a:t>We can use the JavaScript spread operator to help us.</a:t>
            </a:r>
            <a:endParaRPr lang="en-US" sz="1600" dirty="0">
              <a:ea typeface="Calibri"/>
              <a:cs typeface="Calibri"/>
            </a:endParaRPr>
          </a:p>
          <a:p>
            <a:pPr lvl="1"/>
            <a:endParaRPr lang="en-US" sz="1600" dirty="0">
              <a:solidFill>
                <a:srgbClr val="000000"/>
              </a:solidFill>
              <a:latin typeface="Calibri"/>
              <a:ea typeface="Calibri" panose="020F0502020204030204"/>
              <a:cs typeface="Calibri" panose="020F0502020204030204"/>
            </a:endParaRPr>
          </a:p>
          <a:p>
            <a:pPr lvl="1"/>
            <a:r>
              <a:rPr lang="en-US" sz="1600" dirty="0">
                <a:solidFill>
                  <a:srgbClr val="000000"/>
                </a:solidFill>
                <a:ea typeface="+mn-lt"/>
                <a:cs typeface="+mn-lt"/>
              </a:rPr>
              <a:t>Because we need the current value of state, we pass a function into our </a:t>
            </a:r>
            <a:r>
              <a:rPr lang="en-US" sz="1600" dirty="0" err="1">
                <a:solidFill>
                  <a:srgbClr val="DC143C"/>
                </a:solidFill>
                <a:ea typeface="+mn-lt"/>
                <a:cs typeface="+mn-lt"/>
              </a:rPr>
              <a:t>setCar</a:t>
            </a:r>
            <a:r>
              <a:rPr lang="en-US" sz="1600" dirty="0">
                <a:solidFill>
                  <a:srgbClr val="000000"/>
                </a:solidFill>
                <a:ea typeface="+mn-lt"/>
                <a:cs typeface="+mn-lt"/>
              </a:rPr>
              <a:t> function. This function receives the previous value.</a:t>
            </a:r>
            <a:endParaRPr lang="en-US" sz="1600" dirty="0">
              <a:ea typeface="Calibri"/>
              <a:cs typeface="Calibri"/>
            </a:endParaRPr>
          </a:p>
          <a:p>
            <a:pPr lvl="1"/>
            <a:r>
              <a:rPr lang="en-US" sz="1600" dirty="0">
                <a:solidFill>
                  <a:srgbClr val="000000"/>
                </a:solidFill>
                <a:ea typeface="+mn-lt"/>
                <a:cs typeface="+mn-lt"/>
              </a:rPr>
              <a:t>We then return an object, spreading the </a:t>
            </a:r>
            <a:r>
              <a:rPr lang="en-US" sz="1600" err="1">
                <a:solidFill>
                  <a:srgbClr val="DC143C"/>
                </a:solidFill>
                <a:ea typeface="+mn-lt"/>
                <a:cs typeface="+mn-lt"/>
              </a:rPr>
              <a:t>previousState</a:t>
            </a:r>
            <a:r>
              <a:rPr lang="en-US" sz="1600" dirty="0">
                <a:solidFill>
                  <a:srgbClr val="000000"/>
                </a:solidFill>
                <a:ea typeface="+mn-lt"/>
                <a:cs typeface="+mn-lt"/>
              </a:rPr>
              <a:t> and overwriting only the color.</a:t>
            </a:r>
            <a:endParaRPr lang="en-US" sz="1600" dirty="0">
              <a:ea typeface="Calibri"/>
              <a:cs typeface="Calibri"/>
            </a:endParaRPr>
          </a:p>
          <a:p>
            <a:pPr lvl="1"/>
            <a:r>
              <a:rPr lang="en-US" sz="1600" dirty="0">
                <a:solidFill>
                  <a:srgbClr val="000000"/>
                </a:solidFill>
                <a:ea typeface="+mn-lt"/>
                <a:cs typeface="+mn-lt"/>
              </a:rPr>
              <a:t>As shown in example </a:t>
            </a:r>
          </a:p>
          <a:p>
            <a:pPr lvl="1"/>
            <a:endParaRPr lang="en-US" sz="1600" dirty="0">
              <a:solidFill>
                <a:srgbClr val="000000"/>
              </a:solidFill>
              <a:ea typeface="+mn-lt"/>
              <a:cs typeface="+mn-lt"/>
            </a:endParaRPr>
          </a:p>
          <a:p>
            <a:pPr lvl="1"/>
            <a:endParaRPr lang="en-US" sz="1600" dirty="0">
              <a:solidFill>
                <a:srgbClr val="999999"/>
              </a:solidFill>
              <a:ea typeface="+mn-lt"/>
              <a:cs typeface="+mn-lt"/>
            </a:endParaRPr>
          </a:p>
        </p:txBody>
      </p:sp>
    </p:spTree>
    <p:extLst>
      <p:ext uri="{BB962C8B-B14F-4D97-AF65-F5344CB8AC3E}">
        <p14:creationId xmlns:p14="http://schemas.microsoft.com/office/powerpoint/2010/main" val="3315673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06B9BC-9ABC-421A-B670-74CF10BB21D3}"/>
              </a:ext>
            </a:extLst>
          </p:cNvPr>
          <p:cNvSpPr txBox="1"/>
          <p:nvPr/>
        </p:nvSpPr>
        <p:spPr>
          <a:xfrm>
            <a:off x="137250" y="174421"/>
            <a:ext cx="11769519" cy="74415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1600" b="1" dirty="0">
                <a:solidFill>
                  <a:srgbClr val="000000"/>
                </a:solidFill>
                <a:ea typeface="+mn-lt"/>
                <a:cs typeface="+mn-lt"/>
              </a:rPr>
              <a:t>Example: </a:t>
            </a:r>
            <a:endParaRPr lang="en-US" sz="1600" dirty="0">
              <a:solidFill>
                <a:srgbClr val="000000"/>
              </a:solidFill>
              <a:ea typeface="+mn-lt"/>
              <a:cs typeface="+mn-lt"/>
            </a:endParaRPr>
          </a:p>
          <a:p>
            <a:pPr lvl="1"/>
            <a:r>
              <a:rPr lang="en-US" sz="1600" dirty="0">
                <a:solidFill>
                  <a:srgbClr val="000000"/>
                </a:solidFill>
                <a:ea typeface="+mn-lt"/>
                <a:cs typeface="+mn-lt"/>
              </a:rPr>
              <a:t>Use the JavaScript spread operator to update only the color of the car:</a:t>
            </a:r>
          </a:p>
          <a:p>
            <a:pPr lvl="1"/>
            <a:r>
              <a:rPr lang="en-US" sz="1600" dirty="0">
                <a:solidFill>
                  <a:srgbClr val="0077AA"/>
                </a:solidFill>
                <a:ea typeface="+mn-lt"/>
                <a:cs typeface="+mn-lt"/>
              </a:rPr>
              <a:t>import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useState</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import</a:t>
            </a:r>
            <a:r>
              <a:rPr lang="en-US" sz="1600" dirty="0">
                <a:solidFill>
                  <a:srgbClr val="000000"/>
                </a:solidFill>
                <a:ea typeface="+mn-lt"/>
                <a:cs typeface="+mn-lt"/>
              </a:rPr>
              <a:t> </a:t>
            </a:r>
            <a:r>
              <a:rPr lang="en-US" sz="1600" dirty="0" err="1">
                <a:solidFill>
                  <a:srgbClr val="000000"/>
                </a:solidFill>
                <a:ea typeface="+mn-lt"/>
                <a:cs typeface="+mn-lt"/>
              </a:rPr>
              <a:t>ReactDOM</a:t>
            </a:r>
            <a:r>
              <a:rPr lang="en-US" sz="1600" dirty="0">
                <a:solidFill>
                  <a:srgbClr val="000000"/>
                </a:solidFill>
                <a:ea typeface="+mn-lt"/>
                <a:cs typeface="+mn-lt"/>
              </a:rPr>
              <a:t> </a:t>
            </a:r>
            <a:r>
              <a:rPr lang="en-US" sz="1600" dirty="0">
                <a:solidFill>
                  <a:srgbClr val="0077AA"/>
                </a:solidFill>
                <a:ea typeface="+mn-lt"/>
                <a:cs typeface="+mn-lt"/>
              </a:rPr>
              <a:t>from</a:t>
            </a:r>
            <a:r>
              <a:rPr lang="en-US" sz="1600" dirty="0">
                <a:solidFill>
                  <a:srgbClr val="000000"/>
                </a:solidFill>
                <a:ea typeface="+mn-lt"/>
                <a:cs typeface="+mn-lt"/>
              </a:rPr>
              <a:t> </a:t>
            </a:r>
            <a:r>
              <a:rPr lang="en-US" sz="1600" dirty="0">
                <a:solidFill>
                  <a:srgbClr val="669900"/>
                </a:solidFill>
                <a:ea typeface="+mn-lt"/>
                <a:cs typeface="+mn-lt"/>
              </a:rPr>
              <a:t>"react-</a:t>
            </a:r>
            <a:r>
              <a:rPr lang="en-US" sz="1600" dirty="0" err="1">
                <a:solidFill>
                  <a:srgbClr val="669900"/>
                </a:solidFill>
                <a:ea typeface="+mn-lt"/>
                <a:cs typeface="+mn-lt"/>
              </a:rPr>
              <a:t>dom</a:t>
            </a:r>
            <a:r>
              <a:rPr lang="en-US" sz="1600" dirty="0">
                <a:solidFill>
                  <a:srgbClr val="669900"/>
                </a:solidFill>
                <a:ea typeface="+mn-lt"/>
                <a:cs typeface="+mn-lt"/>
              </a:rPr>
              <a:t>/client"</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function</a:t>
            </a:r>
            <a:r>
              <a:rPr lang="en-US" sz="1600" dirty="0">
                <a:solidFill>
                  <a:srgbClr val="000000"/>
                </a:solidFill>
                <a:ea typeface="+mn-lt"/>
                <a:cs typeface="+mn-lt"/>
              </a:rPr>
              <a:t> </a:t>
            </a:r>
            <a:r>
              <a:rPr lang="en-US" sz="1600" dirty="0">
                <a:solidFill>
                  <a:srgbClr val="DD4A68"/>
                </a:solidFill>
                <a:ea typeface="+mn-lt"/>
                <a:cs typeface="+mn-lt"/>
              </a:rPr>
              <a: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err="1">
                <a:solidFill>
                  <a:srgbClr val="000000"/>
                </a:solidFill>
                <a:ea typeface="+mn-lt"/>
                <a:cs typeface="+mn-lt"/>
              </a:rPr>
              <a:t>setCar</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err="1">
                <a:solidFill>
                  <a:srgbClr val="DD4A68"/>
                </a:solidFill>
                <a:ea typeface="+mn-lt"/>
                <a:cs typeface="+mn-lt"/>
              </a:rPr>
              <a:t>useState</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990055"/>
                </a:solidFill>
                <a:ea typeface="+mn-lt"/>
                <a:cs typeface="+mn-lt"/>
              </a:rPr>
              <a:t>brand</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"Ford"</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990055"/>
                </a:solidFill>
                <a:ea typeface="+mn-lt"/>
                <a:cs typeface="+mn-lt"/>
              </a:rPr>
              <a:t>model</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"Mustang"</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990055"/>
                </a:solidFill>
                <a:ea typeface="+mn-lt"/>
                <a:cs typeface="+mn-lt"/>
              </a:rPr>
              <a:t>year</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"1964"</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990055"/>
                </a:solidFill>
                <a:ea typeface="+mn-lt"/>
                <a:cs typeface="+mn-lt"/>
              </a:rPr>
              <a:t>color</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"red"</a:t>
            </a:r>
            <a:br>
              <a:rPr lang="en-US" sz="1600" dirty="0">
                <a:solidFill>
                  <a:srgbClr val="669900"/>
                </a:solidFill>
                <a:ea typeface="+mn-lt"/>
                <a:cs typeface="+mn-lt"/>
              </a:rPr>
            </a:br>
            <a:r>
              <a:rPr lang="en-US" sz="1600" dirty="0">
                <a:solidFill>
                  <a:srgbClr val="669900"/>
                </a:solidFill>
                <a:ea typeface="+mn-lt"/>
                <a:cs typeface="+mn-lt"/>
              </a:rPr>
              <a:t>  </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0077AA"/>
                </a:solidFill>
                <a:ea typeface="+mn-lt"/>
                <a:cs typeface="+mn-lt"/>
              </a:rPr>
              <a:t>const</a:t>
            </a:r>
            <a:r>
              <a:rPr lang="en-US" sz="1600" dirty="0">
                <a:solidFill>
                  <a:srgbClr val="000000"/>
                </a:solidFill>
                <a:ea typeface="+mn-lt"/>
                <a:cs typeface="+mn-lt"/>
              </a:rPr>
              <a:t> </a:t>
            </a:r>
            <a:r>
              <a:rPr lang="en-US" sz="1600" dirty="0" err="1">
                <a:solidFill>
                  <a:srgbClr val="DD4A68"/>
                </a:solidFill>
                <a:ea typeface="+mn-lt"/>
                <a:cs typeface="+mn-lt"/>
              </a:rPr>
              <a:t>updateColor</a:t>
            </a:r>
            <a:r>
              <a:rPr lang="en-US" sz="1600" dirty="0">
                <a:solidFill>
                  <a:srgbClr val="000000"/>
                </a:solidFill>
                <a:ea typeface="+mn-lt"/>
                <a:cs typeface="+mn-lt"/>
              </a:rPr>
              <a:t> </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err="1">
                <a:solidFill>
                  <a:srgbClr val="DD4A68"/>
                </a:solidFill>
                <a:ea typeface="+mn-lt"/>
                <a:cs typeface="+mn-lt"/>
              </a:rPr>
              <a:t>setCar</a:t>
            </a:r>
            <a:r>
              <a:rPr lang="en-US" sz="1600" dirty="0">
                <a:solidFill>
                  <a:srgbClr val="999999"/>
                </a:solidFill>
                <a:ea typeface="+mn-lt"/>
                <a:cs typeface="+mn-lt"/>
              </a:rPr>
              <a:t>(</a:t>
            </a:r>
            <a:r>
              <a:rPr lang="en-US" sz="1600" dirty="0" err="1">
                <a:solidFill>
                  <a:srgbClr val="000000"/>
                </a:solidFill>
                <a:ea typeface="+mn-lt"/>
                <a:cs typeface="+mn-lt"/>
              </a:rPr>
              <a:t>previousState</a:t>
            </a:r>
            <a:r>
              <a:rPr lang="en-US" sz="1600" dirty="0">
                <a:solidFill>
                  <a:srgbClr val="000000"/>
                </a:solidFill>
                <a:ea typeface="+mn-lt"/>
                <a:cs typeface="+mn-lt"/>
              </a:rPr>
              <a:t> </a:t>
            </a:r>
            <a:r>
              <a:rPr lang="en-US" sz="1600" dirty="0">
                <a:solidFill>
                  <a:srgbClr val="9A6E3A"/>
                </a:solidFill>
                <a:ea typeface="+mn-lt"/>
                <a:cs typeface="+mn-lt"/>
              </a:rPr>
              <a:t>=&gt;</a:t>
            </a:r>
            <a:r>
              <a:rPr lang="en-US" sz="1600" dirty="0">
                <a:solidFill>
                  <a:srgbClr val="000000"/>
                </a:solidFill>
                <a:ea typeface="+mn-lt"/>
                <a:cs typeface="+mn-lt"/>
              </a:rPr>
              <a:t> </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0077AA"/>
                </a:solidFill>
                <a:ea typeface="+mn-lt"/>
                <a:cs typeface="+mn-lt"/>
              </a:rPr>
              <a:t>return</a:t>
            </a:r>
            <a:r>
              <a:rPr lang="en-US" sz="1600" dirty="0">
                <a:solidFill>
                  <a:srgbClr val="000000"/>
                </a:solidFill>
                <a:ea typeface="+mn-lt"/>
                <a:cs typeface="+mn-lt"/>
              </a:rPr>
              <a:t> </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A6E3A"/>
                </a:solidFill>
                <a:ea typeface="+mn-lt"/>
                <a:cs typeface="+mn-lt"/>
              </a:rPr>
              <a:t>...</a:t>
            </a:r>
            <a:r>
              <a:rPr lang="en-US" sz="1600" dirty="0" err="1">
                <a:solidFill>
                  <a:srgbClr val="000000"/>
                </a:solidFill>
                <a:ea typeface="+mn-lt"/>
                <a:cs typeface="+mn-lt"/>
              </a:rPr>
              <a:t>previousState</a:t>
            </a:r>
            <a:r>
              <a:rPr lang="en-US" sz="1600" dirty="0">
                <a:solidFill>
                  <a:srgbClr val="999999"/>
                </a:solidFill>
                <a:ea typeface="+mn-lt"/>
                <a:cs typeface="+mn-lt"/>
              </a:rPr>
              <a:t>,</a:t>
            </a:r>
            <a:r>
              <a:rPr lang="en-US" sz="1600" dirty="0">
                <a:solidFill>
                  <a:srgbClr val="000000"/>
                </a:solidFill>
                <a:ea typeface="+mn-lt"/>
                <a:cs typeface="+mn-lt"/>
              </a:rPr>
              <a:t> </a:t>
            </a:r>
            <a:r>
              <a:rPr lang="en-US" sz="1600" dirty="0">
                <a:solidFill>
                  <a:srgbClr val="990055"/>
                </a:solidFill>
                <a:ea typeface="+mn-lt"/>
                <a:cs typeface="+mn-lt"/>
              </a:rPr>
              <a:t>color</a:t>
            </a:r>
            <a:r>
              <a:rPr lang="en-US" sz="1600" dirty="0">
                <a:solidFill>
                  <a:srgbClr val="9A6E3A"/>
                </a:solidFill>
                <a:ea typeface="+mn-lt"/>
                <a:cs typeface="+mn-lt"/>
              </a:rPr>
              <a:t>:</a:t>
            </a:r>
            <a:r>
              <a:rPr lang="en-US" sz="1600" dirty="0">
                <a:solidFill>
                  <a:srgbClr val="000000"/>
                </a:solidFill>
                <a:ea typeface="+mn-lt"/>
                <a:cs typeface="+mn-lt"/>
              </a:rPr>
              <a:t> </a:t>
            </a:r>
            <a:r>
              <a:rPr lang="en-US" sz="1600" dirty="0">
                <a:solidFill>
                  <a:srgbClr val="669900"/>
                </a:solidFill>
                <a:ea typeface="+mn-lt"/>
                <a:cs typeface="+mn-lt"/>
              </a:rPr>
              <a:t>"blue"</a:t>
            </a:r>
            <a:r>
              <a:rPr lang="en-US" sz="1600" dirty="0">
                <a:solidFill>
                  <a:srgbClr val="000000"/>
                </a:solidFill>
                <a:ea typeface="+mn-lt"/>
                <a:cs typeface="+mn-lt"/>
              </a:rPr>
              <a:t> </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br>
              <a:rPr lang="en-US" sz="1600" dirty="0">
                <a:solidFill>
                  <a:srgbClr val="999999"/>
                </a:solidFill>
                <a:ea typeface="+mn-lt"/>
                <a:cs typeface="+mn-lt"/>
              </a:rPr>
            </a:br>
            <a:r>
              <a:rPr lang="en-US" sz="1600" dirty="0">
                <a:solidFill>
                  <a:srgbClr val="999999"/>
                </a:solidFill>
                <a:ea typeface="+mn-lt"/>
                <a:cs typeface="+mn-lt"/>
              </a:rPr>
              <a:t>  }</a:t>
            </a:r>
            <a:br>
              <a:rPr lang="en-US" sz="1600" dirty="0">
                <a:solidFill>
                  <a:srgbClr val="999999"/>
                </a:solidFill>
                <a:ea typeface="+mn-lt"/>
                <a:cs typeface="+mn-lt"/>
              </a:rPr>
            </a:br>
            <a:r>
              <a:rPr lang="en-US" sz="1600" dirty="0">
                <a:solidFill>
                  <a:srgbClr val="999999"/>
                </a:solidFill>
                <a:ea typeface="+mn-lt"/>
                <a:cs typeface="+mn-lt"/>
              </a:rPr>
              <a:t>  </a:t>
            </a:r>
            <a:r>
              <a:rPr lang="en-US" sz="1600" dirty="0">
                <a:solidFill>
                  <a:srgbClr val="0077AA"/>
                </a:solidFill>
                <a:ea typeface="+mn-lt"/>
                <a:cs typeface="+mn-lt"/>
              </a:rPr>
              <a:t>return</a:t>
            </a:r>
            <a:r>
              <a:rPr lang="en-US" sz="1600" dirty="0">
                <a:solidFill>
                  <a:srgbClr val="000000"/>
                </a:solidFill>
                <a:ea typeface="+mn-lt"/>
                <a:cs typeface="+mn-lt"/>
              </a:rPr>
              <a:t> </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&lt;&gt;&lt;</a:t>
            </a:r>
            <a:r>
              <a:rPr lang="en-US" sz="1600" dirty="0">
                <a:solidFill>
                  <a:srgbClr val="990055"/>
                </a:solidFill>
                <a:ea typeface="+mn-lt"/>
                <a:cs typeface="+mn-lt"/>
              </a:rPr>
              <a:t>button</a:t>
            </a:r>
            <a:br>
              <a:rPr lang="en-US" sz="1600" dirty="0">
                <a:solidFill>
                  <a:srgbClr val="990055"/>
                </a:solidFill>
                <a:ea typeface="+mn-lt"/>
                <a:cs typeface="+mn-lt"/>
              </a:rPr>
            </a:br>
            <a:r>
              <a:rPr lang="en-US" sz="1600" dirty="0">
                <a:solidFill>
                  <a:srgbClr val="990055"/>
                </a:solidFill>
                <a:ea typeface="+mn-lt"/>
                <a:cs typeface="+mn-lt"/>
              </a:rPr>
              <a:t>        </a:t>
            </a:r>
            <a:r>
              <a:rPr lang="en-US" sz="1600" dirty="0">
                <a:solidFill>
                  <a:srgbClr val="669900"/>
                </a:solidFill>
                <a:ea typeface="+mn-lt"/>
                <a:cs typeface="+mn-lt"/>
              </a:rPr>
              <a:t>type</a:t>
            </a:r>
            <a:r>
              <a:rPr lang="en-US" sz="1600" dirty="0">
                <a:solidFill>
                  <a:srgbClr val="999999"/>
                </a:solidFill>
                <a:ea typeface="+mn-lt"/>
                <a:cs typeface="+mn-lt"/>
              </a:rPr>
              <a:t>="</a:t>
            </a:r>
            <a:r>
              <a:rPr lang="en-US" sz="1600" dirty="0">
                <a:solidFill>
                  <a:srgbClr val="0077AA"/>
                </a:solidFill>
                <a:ea typeface="+mn-lt"/>
                <a:cs typeface="+mn-lt"/>
              </a:rPr>
              <a:t>button</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a:t>
            </a:r>
            <a:r>
              <a:rPr lang="en-US" sz="1600" dirty="0" err="1">
                <a:solidFill>
                  <a:srgbClr val="669900"/>
                </a:solidFill>
                <a:ea typeface="+mn-lt"/>
                <a:cs typeface="+mn-lt"/>
              </a:rPr>
              <a:t>onClick</a:t>
            </a:r>
            <a:r>
              <a:rPr lang="en-US" sz="1600" dirty="0">
                <a:solidFill>
                  <a:srgbClr val="999999"/>
                </a:solidFill>
                <a:ea typeface="+mn-lt"/>
                <a:cs typeface="+mn-lt"/>
              </a:rPr>
              <a:t>={</a:t>
            </a:r>
            <a:r>
              <a:rPr lang="en-US" sz="1600" dirty="0" err="1">
                <a:solidFill>
                  <a:srgbClr val="990055"/>
                </a:solidFill>
                <a:ea typeface="+mn-lt"/>
                <a:cs typeface="+mn-lt"/>
              </a:rPr>
              <a:t>updateColor</a:t>
            </a:r>
            <a:r>
              <a:rPr lang="en-US" sz="1600" dirty="0">
                <a:solidFill>
                  <a:srgbClr val="999999"/>
                </a:solidFill>
                <a:ea typeface="+mn-lt"/>
                <a:cs typeface="+mn-lt"/>
              </a:rPr>
              <a:t>}</a:t>
            </a:r>
            <a:br>
              <a:rPr lang="en-US" sz="1600" dirty="0">
                <a:solidFill>
                  <a:srgbClr val="999999"/>
                </a:solidFill>
                <a:ea typeface="+mn-lt"/>
                <a:cs typeface="+mn-lt"/>
              </a:rPr>
            </a:br>
            <a:r>
              <a:rPr lang="en-US" sz="1600" dirty="0">
                <a:solidFill>
                  <a:srgbClr val="999999"/>
                </a:solidFill>
                <a:ea typeface="+mn-lt"/>
                <a:cs typeface="+mn-lt"/>
              </a:rPr>
              <a:t>      &gt;</a:t>
            </a:r>
            <a:r>
              <a:rPr lang="en-US" sz="1600" dirty="0">
                <a:solidFill>
                  <a:srgbClr val="000000"/>
                </a:solidFill>
                <a:ea typeface="+mn-lt"/>
                <a:cs typeface="+mn-lt"/>
              </a:rPr>
              <a:t>Blue</a:t>
            </a:r>
            <a:r>
              <a:rPr lang="en-US" sz="1600" dirty="0">
                <a:solidFill>
                  <a:srgbClr val="999999"/>
                </a:solidFill>
                <a:ea typeface="+mn-lt"/>
                <a:cs typeface="+mn-lt"/>
              </a:rPr>
              <a:t>&lt;/</a:t>
            </a:r>
            <a:r>
              <a:rPr lang="en-US" sz="1600" dirty="0">
                <a:solidFill>
                  <a:srgbClr val="990055"/>
                </a:solidFill>
                <a:ea typeface="+mn-lt"/>
                <a:cs typeface="+mn-lt"/>
              </a:rPr>
              <a:t>button</a:t>
            </a:r>
            <a:r>
              <a:rPr lang="en-US" sz="1600" dirty="0">
                <a:solidFill>
                  <a:srgbClr val="999999"/>
                </a:solidFill>
                <a:ea typeface="+mn-lt"/>
                <a:cs typeface="+mn-lt"/>
              </a:rPr>
              <a:t>&gt;</a:t>
            </a:r>
            <a:br>
              <a:rPr lang="en-US" sz="1600" dirty="0">
                <a:solidFill>
                  <a:srgbClr val="999999"/>
                </a:solidFill>
                <a:ea typeface="+mn-lt"/>
                <a:cs typeface="+mn-lt"/>
              </a:rPr>
            </a:br>
            <a:r>
              <a:rPr lang="en-US" sz="1600" dirty="0">
                <a:solidFill>
                  <a:srgbClr val="999999"/>
                </a:solidFill>
                <a:ea typeface="+mn-lt"/>
                <a:cs typeface="+mn-lt"/>
              </a:rPr>
              <a:t>    &lt;/&gt;</a:t>
            </a:r>
            <a:br>
              <a:rPr lang="en-US" sz="1600" dirty="0">
                <a:solidFill>
                  <a:srgbClr val="999999"/>
                </a:solidFill>
                <a:ea typeface="+mn-lt"/>
                <a:cs typeface="+mn-lt"/>
              </a:rPr>
            </a:br>
            <a:r>
              <a:rPr lang="en-US" sz="1600" dirty="0">
                <a:solidFill>
                  <a:srgbClr val="999999"/>
                </a:solidFill>
                <a:ea typeface="+mn-lt"/>
                <a:cs typeface="+mn-lt"/>
              </a:rPr>
              <a:t>  )</a:t>
            </a:r>
            <a:br>
              <a:rPr lang="en-US" sz="1600" dirty="0">
                <a:solidFill>
                  <a:srgbClr val="999999"/>
                </a:solidFill>
                <a:ea typeface="+mn-lt"/>
                <a:cs typeface="+mn-lt"/>
              </a:rPr>
            </a:br>
            <a:r>
              <a:rPr lang="en-US" sz="1600" dirty="0">
                <a:solidFill>
                  <a:srgbClr val="999999"/>
                </a:solidFill>
                <a:ea typeface="+mn-lt"/>
                <a:cs typeface="+mn-lt"/>
              </a:rPr>
              <a:t>}</a:t>
            </a:r>
          </a:p>
          <a:p>
            <a:endParaRPr lang="en-US" sz="1600" dirty="0">
              <a:solidFill>
                <a:srgbClr val="000000"/>
              </a:solidFill>
              <a:ea typeface="+mn-lt"/>
              <a:cs typeface="+mn-lt"/>
            </a:endParaRPr>
          </a:p>
          <a:p>
            <a:endParaRPr lang="en-US" sz="1600" dirty="0">
              <a:solidFill>
                <a:srgbClr val="999999"/>
              </a:solidFill>
              <a:ea typeface="+mn-lt"/>
              <a:cs typeface="+mn-lt"/>
            </a:endParaRPr>
          </a:p>
          <a:p>
            <a:endParaRPr lang="en-US" sz="1100" dirty="0">
              <a:solidFill>
                <a:srgbClr val="999999"/>
              </a:solidFill>
              <a:ea typeface="+mn-lt"/>
              <a:cs typeface="+mn-lt"/>
            </a:endParaRPr>
          </a:p>
          <a:p>
            <a:endParaRPr lang="en-US" sz="1600" dirty="0">
              <a:solidFill>
                <a:srgbClr val="000000"/>
              </a:solidFill>
              <a:ea typeface="+mn-lt"/>
              <a:cs typeface="+mn-lt"/>
            </a:endParaRPr>
          </a:p>
          <a:p>
            <a:pPr lvl="2">
              <a:lnSpc>
                <a:spcPct val="90000"/>
              </a:lnSpc>
              <a:spcBef>
                <a:spcPts val="500"/>
              </a:spcBef>
            </a:pPr>
            <a:endParaRPr lang="en-US" sz="1600" dirty="0">
              <a:solidFill>
                <a:srgbClr val="DC143C"/>
              </a:solidFill>
              <a:latin typeface="Calibri"/>
              <a:ea typeface="Calibri"/>
              <a:cs typeface="Calibri" panose="020F0502020204030204"/>
            </a:endParaRPr>
          </a:p>
          <a:p>
            <a:pPr lvl="1"/>
            <a:endParaRPr lang="en-US" sz="1600" dirty="0">
              <a:solidFill>
                <a:srgbClr val="000000"/>
              </a:solidFill>
              <a:latin typeface="Calibri"/>
              <a:ea typeface="Calibri"/>
              <a:cs typeface="Arial"/>
            </a:endParaRPr>
          </a:p>
        </p:txBody>
      </p:sp>
    </p:spTree>
    <p:extLst>
      <p:ext uri="{BB962C8B-B14F-4D97-AF65-F5344CB8AC3E}">
        <p14:creationId xmlns:p14="http://schemas.microsoft.com/office/powerpoint/2010/main" val="22109947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38</Slides>
  <Notes>0</Notes>
  <HiddenSlides>17</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Introduction to React</vt:lpstr>
      <vt:lpstr> Some More Pts. On React </vt:lpstr>
      <vt:lpstr>Content</vt:lpstr>
      <vt:lpstr> React Getting Started </vt:lpstr>
      <vt:lpstr>Upgrade to React 18</vt:lpstr>
      <vt:lpstr>React Render HTML</vt:lpstr>
      <vt:lpstr> React JSX </vt:lpstr>
      <vt:lpstr>PowerPoint Presentation</vt:lpstr>
      <vt:lpstr>PowerPoint Presentation</vt:lpstr>
      <vt:lpstr>PowerPoint Presentation</vt:lpstr>
      <vt:lpstr>  React Components  </vt:lpstr>
      <vt:lpstr>PowerPoint Presentation</vt:lpstr>
      <vt:lpstr>PowerPoint Presentation</vt:lpstr>
      <vt:lpstr>PowerPoint Presentation</vt:lpstr>
      <vt:lpstr> React Props </vt:lpstr>
      <vt:lpstr> React Events </vt:lpstr>
      <vt:lpstr> React Event Object </vt:lpstr>
      <vt:lpstr>  React Conditional Rendering  </vt:lpstr>
      <vt:lpstr>PowerPoint Presentation</vt:lpstr>
      <vt:lpstr>PowerPoint Presentation</vt:lpstr>
      <vt:lpstr> React lists </vt:lpstr>
      <vt:lpstr>PowerPoint Presentation</vt:lpstr>
      <vt:lpstr>  React Router  </vt:lpstr>
      <vt:lpstr>PowerPoint Presentation</vt:lpstr>
      <vt:lpstr>PowerPoint Presentation</vt:lpstr>
      <vt:lpstr>  React memo  </vt:lpstr>
      <vt:lpstr>  React css styling  </vt:lpstr>
      <vt:lpstr>PowerPoint Presentation</vt:lpstr>
      <vt:lpstr>PowerPoint Presentation</vt:lpstr>
      <vt:lpstr>PowerPoint Presentation</vt:lpstr>
      <vt:lpstr>  React Hooks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1910</cp:revision>
  <dcterms:created xsi:type="dcterms:W3CDTF">2023-08-30T15:09:19Z</dcterms:created>
  <dcterms:modified xsi:type="dcterms:W3CDTF">2023-09-06T09:11:59Z</dcterms:modified>
</cp:coreProperties>
</file>